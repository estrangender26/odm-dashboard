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Planned</c:v>
                </c:pt>
              </c:strCache>
            </c:strRef>
          </c:tx>
          <c:spPr>
            <a:solidFill>
              <a:srgbClr val="9CA3AF"/>
            </a:solidFill>
            <a:ln w="25400" cap="flat">
              <a:solidFill>
                <a:srgbClr val="9CA3A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CA3AF"/>
              </a:solidFill>
              <a:ln w="9525" cap="flat">
                <a:solidFill>
                  <a:srgbClr val="9CA3A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1/25</c:v>
                  </c:pt>
                  <c:pt idx="1">
                    <c:v>2/25</c:v>
                  </c:pt>
                  <c:pt idx="2">
                    <c:v>3/25</c:v>
                  </c:pt>
                  <c:pt idx="3">
                    <c:v>4/25</c:v>
                  </c:pt>
                  <c:pt idx="4">
                    <c:v>5/25</c:v>
                  </c:pt>
                  <c:pt idx="5">
                    <c:v>6/25</c:v>
                  </c:pt>
                  <c:pt idx="6">
                    <c:v>7/25</c:v>
                  </c:pt>
                  <c:pt idx="7">
                    <c:v>8/25</c:v>
                  </c:pt>
                  <c:pt idx="8">
                    <c:v>9/25</c:v>
                  </c:pt>
                  <c:pt idx="9">
                    <c:v>10/25</c:v>
                  </c:pt>
                  <c:pt idx="10">
                    <c:v>11/25</c:v>
                  </c:pt>
                  <c:pt idx="11">
                    <c:v>12/25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</c:v>
                </c:pt>
                <c:pt idx="1">
                  <c:v>22</c:v>
                </c:pt>
                <c:pt idx="2">
                  <c:v>33</c:v>
                </c:pt>
                <c:pt idx="3">
                  <c:v>33</c:v>
                </c:pt>
                <c:pt idx="4">
                  <c:v>40</c:v>
                </c:pt>
                <c:pt idx="5">
                  <c:v>40</c:v>
                </c:pt>
                <c:pt idx="6">
                  <c:v>40</c:v>
                </c:pt>
                <c:pt idx="7">
                  <c:v>40</c:v>
                </c:pt>
                <c:pt idx="8">
                  <c:v>40</c:v>
                </c:pt>
                <c:pt idx="9">
                  <c:v>40</c:v>
                </c:pt>
                <c:pt idx="10">
                  <c:v>40</c:v>
                </c:pt>
                <c:pt idx="11">
                  <c:v>40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22C55E"/>
            </a:solidFill>
            <a:ln w="25400" cap="flat">
              <a:solidFill>
                <a:srgbClr val="22C55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2C55E"/>
              </a:solidFill>
              <a:ln w="9525" cap="flat">
                <a:solidFill>
                  <a:srgbClr val="22C55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1/25</c:v>
                  </c:pt>
                  <c:pt idx="1">
                    <c:v>2/25</c:v>
                  </c:pt>
                  <c:pt idx="2">
                    <c:v>3/25</c:v>
                  </c:pt>
                  <c:pt idx="3">
                    <c:v>4/25</c:v>
                  </c:pt>
                  <c:pt idx="4">
                    <c:v>5/25</c:v>
                  </c:pt>
                  <c:pt idx="5">
                    <c:v>6/25</c:v>
                  </c:pt>
                  <c:pt idx="6">
                    <c:v>7/25</c:v>
                  </c:pt>
                  <c:pt idx="7">
                    <c:v>8/25</c:v>
                  </c:pt>
                  <c:pt idx="8">
                    <c:v>9/25</c:v>
                  </c:pt>
                  <c:pt idx="9">
                    <c:v>10/25</c:v>
                  </c:pt>
                  <c:pt idx="10">
                    <c:v>11/25</c:v>
                  </c:pt>
                  <c:pt idx="11">
                    <c:v>12/25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11</c:v>
                </c:pt>
                <c:pt idx="1">
                  <c:v>22</c:v>
                </c:pt>
                <c:pt idx="2">
                  <c:v>33</c:v>
                </c:pt>
                <c:pt idx="3">
                  <c:v>33</c:v>
                </c:pt>
                <c:pt idx="4">
                  <c:v>44</c:v>
                </c:pt>
                <c:pt idx="5">
                  <c:v>44</c:v>
                </c:pt>
                <c:pt idx="6">
                  <c:v>44</c:v>
                </c:pt>
                <c:pt idx="7">
                  <c:v>44</c:v>
                </c:pt>
                <c:pt idx="8">
                  <c:v>44</c:v>
                </c:pt>
                <c:pt idx="9">
                  <c:v>44</c:v>
                </c:pt>
                <c:pt idx="10">
                  <c:v>44</c:v>
                </c:pt>
                <c:pt idx="11">
                  <c:v>44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title slide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Consolidated S-curve with actual line chart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facility S-curves in 2x2 grid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Deliverables compliance matrix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84248"/>
            <a:ext cx="10058400" cy="9144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81C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Facilities Onboarding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AGLIPAY STP • HTT STP • EASTBAY PH-2 TP • KAYSAKAT TP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5029200"/>
            <a:ext cx="2743200" cy="36576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July 25, 2026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76072" y="6574536"/>
            <a:ext cx="9144000" cy="19202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O&amp;M Manual Governance module • July 25, 2026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430000" y="6574536"/>
            <a:ext cx="731520" cy="19202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4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81C3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76072" y="210312"/>
            <a:ext cx="91440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Governance Overview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76072" y="950976"/>
          <a:ext cx="7725766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522574" y="1042416"/>
            <a:ext cx="3017520" cy="2743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0C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Portfolio Summary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22574" y="1408176"/>
            <a:ext cx="3017520" cy="1371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Planned: 40%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Actual: 44%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Variance: +4%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Status: On Track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76072" y="6574536"/>
            <a:ext cx="9144000" cy="19202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O&amp;M Manual Governance module • July 25, 2026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74536"/>
            <a:ext cx="731520" cy="19202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4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81C3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76072" y="210312"/>
            <a:ext cx="91440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Facility Progress Overview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76072" y="1188720"/>
            <a:ext cx="2743200" cy="2743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0C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AGLIPAY STP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76072" y="1508760"/>
            <a:ext cx="2560320" cy="32004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1D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76072" y="2011680"/>
            <a:ext cx="1965960" cy="1097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Planned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633472" y="2011680"/>
            <a:ext cx="45720" cy="10972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15768" y="2011680"/>
            <a:ext cx="841248" cy="1097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40.0%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76072" y="2194560"/>
            <a:ext cx="1965960" cy="1097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633472" y="2194560"/>
            <a:ext cx="45720" cy="10972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15768" y="2194560"/>
            <a:ext cx="841248" cy="1097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44.0%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76072" y="2331720"/>
            <a:ext cx="2560320" cy="1828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40% planned | 44% actual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404872" y="2331720"/>
            <a:ext cx="1371600" cy="1828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 Track (+4%)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1188720"/>
            <a:ext cx="2743200" cy="2743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0C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 STP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1508760"/>
            <a:ext cx="2560320" cy="32004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1D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2011680"/>
            <a:ext cx="1965960" cy="1097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Planned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366760" y="2011680"/>
            <a:ext cx="45720" cy="10972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49056" y="2011680"/>
            <a:ext cx="841248" cy="1097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44.0%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2194560"/>
            <a:ext cx="1965960" cy="1097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366760" y="2194560"/>
            <a:ext cx="45720" cy="10972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49056" y="2194560"/>
            <a:ext cx="841248" cy="1097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44.0%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309360" y="2331720"/>
            <a:ext cx="2560320" cy="1828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44% planned | 44% actual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138160" y="2331720"/>
            <a:ext cx="1371600" cy="1828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 Track (0%)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76072" y="3657600"/>
            <a:ext cx="2743200" cy="2743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0C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EASTBAY PH-2 TP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76072" y="3977640"/>
            <a:ext cx="2560320" cy="32004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1D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576072" y="4480560"/>
            <a:ext cx="1965960" cy="1097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Planned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2633472" y="4480560"/>
            <a:ext cx="45720" cy="10972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715768" y="4480560"/>
            <a:ext cx="841248" cy="1097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22.0%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76072" y="4663440"/>
            <a:ext cx="1965960" cy="1097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2633472" y="4663440"/>
            <a:ext cx="45720" cy="10972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715768" y="4663440"/>
            <a:ext cx="841248" cy="1097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11.0%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576072" y="4800600"/>
            <a:ext cx="2560320" cy="1828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22% planned | 11% actual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2404872" y="4800600"/>
            <a:ext cx="1371600" cy="1828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Delayed (-11%)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309360" y="3657600"/>
            <a:ext cx="2743200" cy="2743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0C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KAYSAKAT TP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6309360" y="3977640"/>
            <a:ext cx="2560320" cy="32004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1D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6309360" y="4480560"/>
            <a:ext cx="1965960" cy="1097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Planned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8366760" y="4480560"/>
            <a:ext cx="45720" cy="109728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449056" y="4480560"/>
            <a:ext cx="841248" cy="1097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11.0%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6309360" y="4663440"/>
            <a:ext cx="1965960" cy="1097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8366760" y="4663440"/>
            <a:ext cx="45720" cy="10972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>
                <a:alpha val="0"/>
              </a:srgbClr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449056" y="4663440"/>
            <a:ext cx="841248" cy="10972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11.0%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309360" y="4800600"/>
            <a:ext cx="2560320" cy="1828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11% planned | 11% actual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8138160" y="4800600"/>
            <a:ext cx="1371600" cy="18288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 Track (0%)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576072" y="6574536"/>
            <a:ext cx="9144000" cy="19202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O&amp;M Manual Governance module • July 25, 2026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11430000" y="6574536"/>
            <a:ext cx="731520" cy="19202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/ 4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81C3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76072" y="210312"/>
            <a:ext cx="91440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Deliverables Compliance Summary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76072" y="768096"/>
            <a:ext cx="10972800" cy="2743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0C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Facility Deliverables Status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" y="1133856"/>
          <a:ext cx="11036808" cy="1828800"/>
        </p:xfrm>
        <a:graphic>
          <a:graphicData uri="http://schemas.openxmlformats.org/drawingml/2006/table">
            <a:tbl>
              <a:tblPr/>
              <a:tblGrid>
                <a:gridCol w="1576687"/>
                <a:gridCol w="1576687"/>
                <a:gridCol w="1576687"/>
                <a:gridCol w="1576687"/>
                <a:gridCol w="1576687"/>
                <a:gridCol w="1576687"/>
                <a:gridCol w="1576687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Facility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C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Required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C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Submitted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C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Approved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C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Missing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C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Compliance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C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C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AGLIPAY STP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14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11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21.4%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At Risk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HTT STP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14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11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11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78.6%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 Progress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EASTBAY PH-2 TP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14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10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28.6%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At Risk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KAYSAKAT TP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14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13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7.1%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At Risk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76072" y="6574536"/>
            <a:ext cx="9144000" cy="19202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O&amp;M Manual Governance module • July 25, 2026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74536"/>
            <a:ext cx="731520" cy="19202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/ 4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ODM Dashboard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ODM Dashboard Presentation</dc:title>
  <dc:subject>Presentation Center export</dc:subject>
  <dc:creator>ODM Dashboard</dc:creator>
  <cp:lastModifiedBy>ODM Dashboard</cp:lastModifiedBy>
  <cp:revision>1</cp:revision>
  <dcterms:created xsi:type="dcterms:W3CDTF">2026-07-26T15:55:04Z</dcterms:created>
  <dcterms:modified xsi:type="dcterms:W3CDTF">2026-07-26T15:55:04Z</dcterms:modified>
</cp:coreProperties>
</file>