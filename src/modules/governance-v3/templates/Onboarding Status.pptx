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9F2"/>
    <a:srgbClr val="FD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>
        <p:scale>
          <a:sx n="148" d="100"/>
          <a:sy n="148" d="100"/>
        </p:scale>
        <p:origin x="112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User-supplied facility dashboard screenshots dated 28 July 2026 for Eastbay PH-2 TP, Kaysakat TP, HTT STP and Aglipay STP.</a:t>
            </a:r>
          </a:p>
          <a:p>
            <a:r>
              <a:t>- User-supplied portfolio implementation slide showing achieved milestones and document status.</a:t>
            </a:r>
          </a:p>
          <a:p>
            <a:r>
              <a:t>- Milestone definitions: M1 T&amp;C Check Sheets Complete; M2 Wet/Dry Commissioning Passed; M3 Defects/Punchlist Closed; M4 PM Task Lists in SAP-PM; M5 PM/PdM Execution Started; M6 Training Completed; M7 Plan Refined using PPP Learnings; M8 Contracts/SLA Activated; M9 BAU Governance Established.</a:t>
            </a:r>
          </a:p>
          <a:p>
            <a:r>
              <a:t>- Planned-by-today interpretation uses the dashboard S-curves anchored to each PPP start date: Aglipay and HTT planned through M4; Eastbay planned through M2; Kaysakat planned through M3.</a:t>
            </a:r>
          </a:p>
          <a:p>
            <a:r>
              <a:t>- Achieved milestones retained from the supplied portfolio slide: Aglipay M1, M2, M3, M5; HTT M1, M2, M3, M5; Eastbay M1, M2, M3; Kaysakat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User-supplied facility dashboard screenshots dated 28 July 2026.</a:t>
            </a:r>
          </a:p>
          <a:p>
            <a:r>
              <a:t>- Aglipay and HTT PPP start: 13 March 2026.</a:t>
            </a:r>
          </a:p>
          <a:p>
            <a:r>
              <a:t>- Eastbay PH-2 TP and Kaysakat TP PPP start: 1 September 2026.</a:t>
            </a:r>
          </a:p>
          <a:p>
            <a:r>
              <a:t>- Phase windows follow the dashboard definition: Pre-PPP −8 to 0 months; PPP 0 to +12 months; Post-PPP +12 to +20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O&amp;M Manual Governance dashboard screenshots captured 26 July 2026.</a:t>
            </a:r>
          </a:p>
          <a:p>
            <a:r>
              <a:t>User-provided Interoffice Memo: Standard O&amp;M Manual Governance Framework, dated 7 January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72CDF7-68AD-4A57-A61B-C61F615225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7/27/26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210A1-7500-4678-B4D5-0244DE94D1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A907A-C719-481E-B795-157E602C4B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819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lide Title">
            <a:extLst>
              <a:ext uri="{FF2B5EF4-FFF2-40B4-BE49-F238E27FC236}">
                <a16:creationId xmlns:a16="http://schemas.microsoft.com/office/drawing/2014/main" id="{10BAA2D9-4930-4803-BD79-323E54E1B04B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11277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2600" b="1">
                <a:solidFill>
                  <a:srgbClr val="08264C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>
                <a:solidFill>
                  <a:srgbClr val="08264C"/>
                </a:solidFill>
                <a:latin typeface="Aptos Display"/>
                <a:ea typeface="Aptos Display"/>
                <a:cs typeface="Aptos Display"/>
              </a:rPr>
              <a:t>Eastbay is gate-ready; Kaysakat must close two Pre-PPP milestones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20C056F-4C7A-4B55-A07A-0AFD750276E5}"/>
              </a:ext>
            </a:extLst>
          </p:cNvPr>
          <p:cNvSpPr>
            <a:spLocks noGrp="1"/>
          </p:cNvSpPr>
          <p:nvPr/>
        </p:nvSpPr>
        <p:spPr>
          <a:xfrm>
            <a:off x="476250" y="571500"/>
            <a:ext cx="1057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40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60758A"/>
                </a:solidFill>
                <a:latin typeface="Aptos"/>
                <a:ea typeface="Aptos"/>
                <a:cs typeface="Aptos"/>
              </a:rPr>
              <a:t>Milestone progress versus the sequence planned from each facility’s PPP start date | Red marker = TODAY, 28 July 2026</a:t>
            </a:r>
          </a:p>
        </p:txBody>
      </p:sp>
      <p:sp>
        <p:nvSpPr>
          <p:cNvPr id="3" name="PRE-PPP Phase Band">
            <a:extLst>
              <a:ext uri="{FF2B5EF4-FFF2-40B4-BE49-F238E27FC236}">
                <a16:creationId xmlns:a16="http://schemas.microsoft.com/office/drawing/2014/main" id="{D950B81E-7169-4F15-8295-816BCC247057}"/>
              </a:ext>
            </a:extLst>
          </p:cNvPr>
          <p:cNvSpPr>
            <a:spLocks noGrp="1"/>
          </p:cNvSpPr>
          <p:nvPr/>
        </p:nvSpPr>
        <p:spPr>
          <a:xfrm>
            <a:off x="2524125" y="876300"/>
            <a:ext cx="2924175" cy="323850"/>
          </a:xfrm>
          <a:prstGeom prst="roundRect">
            <a:avLst>
              <a:gd name="adj" fmla="val 17647"/>
            </a:avLst>
          </a:prstGeom>
          <a:solidFill>
            <a:srgbClr val="DDEBF4"/>
          </a:solidFill>
          <a:ln w="9525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RE-PPP Phase Text">
            <a:extLst>
              <a:ext uri="{FF2B5EF4-FFF2-40B4-BE49-F238E27FC236}">
                <a16:creationId xmlns:a16="http://schemas.microsoft.com/office/drawing/2014/main" id="{6E446416-F71A-4CEA-8B93-184F2A027706}"/>
              </a:ext>
            </a:extLst>
          </p:cNvPr>
          <p:cNvSpPr>
            <a:spLocks noGrp="1"/>
          </p:cNvSpPr>
          <p:nvPr/>
        </p:nvSpPr>
        <p:spPr>
          <a:xfrm>
            <a:off x="2619375" y="914400"/>
            <a:ext cx="27336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040" lnSpcReduction="10000"/>
          </a:bodyPr>
          <a:lstStyle/>
          <a:p>
            <a:pPr algn="ctr">
              <a:defRPr sz="14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PRE-PPP  •  Commissioning readiness</a:t>
            </a:r>
          </a:p>
        </p:txBody>
      </p:sp>
      <p:sp>
        <p:nvSpPr>
          <p:cNvPr id="5" name="PPP Phase Band">
            <a:extLst>
              <a:ext uri="{FF2B5EF4-FFF2-40B4-BE49-F238E27FC236}">
                <a16:creationId xmlns:a16="http://schemas.microsoft.com/office/drawing/2014/main" id="{D732698C-6693-4FF8-A119-EB51E6AFA98F}"/>
              </a:ext>
            </a:extLst>
          </p:cNvPr>
          <p:cNvSpPr>
            <a:spLocks noGrp="1"/>
          </p:cNvSpPr>
          <p:nvPr/>
        </p:nvSpPr>
        <p:spPr>
          <a:xfrm>
            <a:off x="5562600" y="876300"/>
            <a:ext cx="2924175" cy="323850"/>
          </a:xfrm>
          <a:prstGeom prst="roundRect">
            <a:avLst>
              <a:gd name="adj" fmla="val 17647"/>
            </a:avLst>
          </a:prstGeom>
          <a:solidFill>
            <a:srgbClr val="DDF5F9"/>
          </a:solidFill>
          <a:ln w="9525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PP Phase Text">
            <a:extLst>
              <a:ext uri="{FF2B5EF4-FFF2-40B4-BE49-F238E27FC236}">
                <a16:creationId xmlns:a16="http://schemas.microsoft.com/office/drawing/2014/main" id="{B4369AFC-9A7D-4055-A4A9-6407E02C9AA3}"/>
              </a:ext>
            </a:extLst>
          </p:cNvPr>
          <p:cNvSpPr>
            <a:spLocks noGrp="1"/>
          </p:cNvSpPr>
          <p:nvPr/>
        </p:nvSpPr>
        <p:spPr>
          <a:xfrm>
            <a:off x="5657850" y="914400"/>
            <a:ext cx="27336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PPP  •  Execution and capability</a:t>
            </a:r>
          </a:p>
        </p:txBody>
      </p:sp>
      <p:sp>
        <p:nvSpPr>
          <p:cNvPr id="7" name="POST-PPP Phase Band">
            <a:extLst>
              <a:ext uri="{FF2B5EF4-FFF2-40B4-BE49-F238E27FC236}">
                <a16:creationId xmlns:a16="http://schemas.microsoft.com/office/drawing/2014/main" id="{77391ED5-E19C-45C2-8B37-62893208102B}"/>
              </a:ext>
            </a:extLst>
          </p:cNvPr>
          <p:cNvSpPr>
            <a:spLocks noGrp="1"/>
          </p:cNvSpPr>
          <p:nvPr/>
        </p:nvSpPr>
        <p:spPr>
          <a:xfrm>
            <a:off x="8562975" y="876300"/>
            <a:ext cx="2924175" cy="323850"/>
          </a:xfrm>
          <a:prstGeom prst="roundRect">
            <a:avLst>
              <a:gd name="adj" fmla="val 17647"/>
            </a:avLst>
          </a:prstGeom>
          <a:solidFill>
            <a:srgbClr val="DFF3EC"/>
          </a:solidFill>
          <a:ln w="9525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ST-PPP Phase Text">
            <a:extLst>
              <a:ext uri="{FF2B5EF4-FFF2-40B4-BE49-F238E27FC236}">
                <a16:creationId xmlns:a16="http://schemas.microsoft.com/office/drawing/2014/main" id="{6F1F4EEA-D56E-4126-89AD-F0F8E0778A54}"/>
              </a:ext>
            </a:extLst>
          </p:cNvPr>
          <p:cNvSpPr>
            <a:spLocks noGrp="1"/>
          </p:cNvSpPr>
          <p:nvPr/>
        </p:nvSpPr>
        <p:spPr>
          <a:xfrm>
            <a:off x="8658225" y="914400"/>
            <a:ext cx="27336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399"/>
          </a:bodyPr>
          <a:lstStyle/>
          <a:p>
            <a:pPr algn="ctr">
              <a:defRPr sz="1400" b="1">
                <a:solidFill>
                  <a:srgbClr val="16987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69873"/>
                </a:solidFill>
                <a:latin typeface="Aptos"/>
                <a:ea typeface="Aptos"/>
                <a:cs typeface="Aptos"/>
              </a:rPr>
              <a:t>POST-PPP  •  Sustainment and BAU</a:t>
            </a:r>
          </a:p>
        </p:txBody>
      </p:sp>
      <p:sp>
        <p:nvSpPr>
          <p:cNvPr id="9" name="M1 Header Background">
            <a:extLst>
              <a:ext uri="{FF2B5EF4-FFF2-40B4-BE49-F238E27FC236}">
                <a16:creationId xmlns:a16="http://schemas.microsoft.com/office/drawing/2014/main" id="{46D0159F-998C-4D97-9050-D101625728AC}"/>
              </a:ext>
            </a:extLst>
          </p:cNvPr>
          <p:cNvSpPr>
            <a:spLocks noGrp="1"/>
          </p:cNvSpPr>
          <p:nvPr/>
        </p:nvSpPr>
        <p:spPr>
          <a:xfrm>
            <a:off x="2552700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M1 Code">
            <a:extLst>
              <a:ext uri="{FF2B5EF4-FFF2-40B4-BE49-F238E27FC236}">
                <a16:creationId xmlns:a16="http://schemas.microsoft.com/office/drawing/2014/main" id="{FF5C65C8-34F3-41E5-AEA4-C73A671D4187}"/>
              </a:ext>
            </a:extLst>
          </p:cNvPr>
          <p:cNvSpPr>
            <a:spLocks noGrp="1"/>
          </p:cNvSpPr>
          <p:nvPr/>
        </p:nvSpPr>
        <p:spPr>
          <a:xfrm>
            <a:off x="2600325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11" name="M1 Name">
            <a:extLst>
              <a:ext uri="{FF2B5EF4-FFF2-40B4-BE49-F238E27FC236}">
                <a16:creationId xmlns:a16="http://schemas.microsoft.com/office/drawing/2014/main" id="{EF5502A1-7577-46B0-BED5-D17B73C272AE}"/>
              </a:ext>
            </a:extLst>
          </p:cNvPr>
          <p:cNvSpPr>
            <a:spLocks noGrp="1"/>
          </p:cNvSpPr>
          <p:nvPr/>
        </p:nvSpPr>
        <p:spPr>
          <a:xfrm>
            <a:off x="2590800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69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T&amp;C check sheets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12" name="M2 Header Background">
            <a:extLst>
              <a:ext uri="{FF2B5EF4-FFF2-40B4-BE49-F238E27FC236}">
                <a16:creationId xmlns:a16="http://schemas.microsoft.com/office/drawing/2014/main" id="{FE38C975-2186-4D54-B91E-A08044CEDCC8}"/>
              </a:ext>
            </a:extLst>
          </p:cNvPr>
          <p:cNvSpPr>
            <a:spLocks noGrp="1"/>
          </p:cNvSpPr>
          <p:nvPr/>
        </p:nvSpPr>
        <p:spPr>
          <a:xfrm>
            <a:off x="3552825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M2 Code">
            <a:extLst>
              <a:ext uri="{FF2B5EF4-FFF2-40B4-BE49-F238E27FC236}">
                <a16:creationId xmlns:a16="http://schemas.microsoft.com/office/drawing/2014/main" id="{FE898D8E-CD7B-4F17-A528-C2B301248DB3}"/>
              </a:ext>
            </a:extLst>
          </p:cNvPr>
          <p:cNvSpPr>
            <a:spLocks noGrp="1"/>
          </p:cNvSpPr>
          <p:nvPr/>
        </p:nvSpPr>
        <p:spPr>
          <a:xfrm>
            <a:off x="3600450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4" name="M2 Name">
            <a:extLst>
              <a:ext uri="{FF2B5EF4-FFF2-40B4-BE49-F238E27FC236}">
                <a16:creationId xmlns:a16="http://schemas.microsoft.com/office/drawing/2014/main" id="{B5BF23B5-018F-4524-BD86-91EB331EC9FE}"/>
              </a:ext>
            </a:extLst>
          </p:cNvPr>
          <p:cNvSpPr>
            <a:spLocks noGrp="1"/>
          </p:cNvSpPr>
          <p:nvPr/>
        </p:nvSpPr>
        <p:spPr>
          <a:xfrm>
            <a:off x="3590925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69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Wet/dry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commissioning passed</a:t>
            </a:r>
          </a:p>
        </p:txBody>
      </p:sp>
      <p:sp>
        <p:nvSpPr>
          <p:cNvPr id="15" name="M3 Header Background">
            <a:extLst>
              <a:ext uri="{FF2B5EF4-FFF2-40B4-BE49-F238E27FC236}">
                <a16:creationId xmlns:a16="http://schemas.microsoft.com/office/drawing/2014/main" id="{AC52E71C-6A87-433A-B7A3-DA9676154CC8}"/>
              </a:ext>
            </a:extLst>
          </p:cNvPr>
          <p:cNvSpPr>
            <a:spLocks noGrp="1"/>
          </p:cNvSpPr>
          <p:nvPr/>
        </p:nvSpPr>
        <p:spPr>
          <a:xfrm>
            <a:off x="4552950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3 Code">
            <a:extLst>
              <a:ext uri="{FF2B5EF4-FFF2-40B4-BE49-F238E27FC236}">
                <a16:creationId xmlns:a16="http://schemas.microsoft.com/office/drawing/2014/main" id="{81757042-4C98-4047-B817-6384B3D7C441}"/>
              </a:ext>
            </a:extLst>
          </p:cNvPr>
          <p:cNvSpPr>
            <a:spLocks noGrp="1"/>
          </p:cNvSpPr>
          <p:nvPr/>
        </p:nvSpPr>
        <p:spPr>
          <a:xfrm>
            <a:off x="4600575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7" name="M3 Name">
            <a:extLst>
              <a:ext uri="{FF2B5EF4-FFF2-40B4-BE49-F238E27FC236}">
                <a16:creationId xmlns:a16="http://schemas.microsoft.com/office/drawing/2014/main" id="{274BE9EE-0F7D-482E-8B82-D83C1207E775}"/>
              </a:ext>
            </a:extLst>
          </p:cNvPr>
          <p:cNvSpPr>
            <a:spLocks noGrp="1"/>
          </p:cNvSpPr>
          <p:nvPr/>
        </p:nvSpPr>
        <p:spPr>
          <a:xfrm>
            <a:off x="4591050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69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Defects and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punchlist closed</a:t>
            </a:r>
          </a:p>
        </p:txBody>
      </p:sp>
      <p:sp>
        <p:nvSpPr>
          <p:cNvPr id="18" name="M4 Header Background">
            <a:extLst>
              <a:ext uri="{FF2B5EF4-FFF2-40B4-BE49-F238E27FC236}">
                <a16:creationId xmlns:a16="http://schemas.microsoft.com/office/drawing/2014/main" id="{51CC40F6-0911-4E13-AC51-CE70316AE865}"/>
              </a:ext>
            </a:extLst>
          </p:cNvPr>
          <p:cNvSpPr>
            <a:spLocks noGrp="1"/>
          </p:cNvSpPr>
          <p:nvPr/>
        </p:nvSpPr>
        <p:spPr>
          <a:xfrm>
            <a:off x="5553075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4 Code">
            <a:extLst>
              <a:ext uri="{FF2B5EF4-FFF2-40B4-BE49-F238E27FC236}">
                <a16:creationId xmlns:a16="http://schemas.microsoft.com/office/drawing/2014/main" id="{3DC4BB90-8E4E-43CA-8963-4562FC42B5F0}"/>
              </a:ext>
            </a:extLst>
          </p:cNvPr>
          <p:cNvSpPr>
            <a:spLocks noGrp="1"/>
          </p:cNvSpPr>
          <p:nvPr/>
        </p:nvSpPr>
        <p:spPr>
          <a:xfrm>
            <a:off x="5600700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20" name="M4 Name">
            <a:extLst>
              <a:ext uri="{FF2B5EF4-FFF2-40B4-BE49-F238E27FC236}">
                <a16:creationId xmlns:a16="http://schemas.microsoft.com/office/drawing/2014/main" id="{D0757832-36B5-47B9-A6CC-52FBA8756F17}"/>
              </a:ext>
            </a:extLst>
          </p:cNvPr>
          <p:cNvSpPr>
            <a:spLocks noGrp="1"/>
          </p:cNvSpPr>
          <p:nvPr/>
        </p:nvSpPr>
        <p:spPr>
          <a:xfrm>
            <a:off x="5591175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PM task lists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in SAP-PM</a:t>
            </a:r>
          </a:p>
        </p:txBody>
      </p:sp>
      <p:sp>
        <p:nvSpPr>
          <p:cNvPr id="21" name="M5 Header Background">
            <a:extLst>
              <a:ext uri="{FF2B5EF4-FFF2-40B4-BE49-F238E27FC236}">
                <a16:creationId xmlns:a16="http://schemas.microsoft.com/office/drawing/2014/main" id="{C8CB6152-E120-429F-B265-A0A532907D00}"/>
              </a:ext>
            </a:extLst>
          </p:cNvPr>
          <p:cNvSpPr>
            <a:spLocks noGrp="1"/>
          </p:cNvSpPr>
          <p:nvPr/>
        </p:nvSpPr>
        <p:spPr>
          <a:xfrm>
            <a:off x="6553200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M5 Code">
            <a:extLst>
              <a:ext uri="{FF2B5EF4-FFF2-40B4-BE49-F238E27FC236}">
                <a16:creationId xmlns:a16="http://schemas.microsoft.com/office/drawing/2014/main" id="{77523F92-E66E-439A-B2A5-B9416012495D}"/>
              </a:ext>
            </a:extLst>
          </p:cNvPr>
          <p:cNvSpPr>
            <a:spLocks noGrp="1"/>
          </p:cNvSpPr>
          <p:nvPr/>
        </p:nvSpPr>
        <p:spPr>
          <a:xfrm>
            <a:off x="6600825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23" name="M5 Name">
            <a:extLst>
              <a:ext uri="{FF2B5EF4-FFF2-40B4-BE49-F238E27FC236}">
                <a16:creationId xmlns:a16="http://schemas.microsoft.com/office/drawing/2014/main" id="{6354CB21-BC09-4FA1-91B7-BDAE1F95359D}"/>
              </a:ext>
            </a:extLst>
          </p:cNvPr>
          <p:cNvSpPr>
            <a:spLocks noGrp="1"/>
          </p:cNvSpPr>
          <p:nvPr/>
        </p:nvSpPr>
        <p:spPr>
          <a:xfrm>
            <a:off x="6591300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69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PM/PdM execution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started</a:t>
            </a:r>
          </a:p>
        </p:txBody>
      </p:sp>
      <p:sp>
        <p:nvSpPr>
          <p:cNvPr id="24" name="M6 Header Background">
            <a:extLst>
              <a:ext uri="{FF2B5EF4-FFF2-40B4-BE49-F238E27FC236}">
                <a16:creationId xmlns:a16="http://schemas.microsoft.com/office/drawing/2014/main" id="{DB89D53C-40B9-4C84-82DB-228E1FED6BD1}"/>
              </a:ext>
            </a:extLst>
          </p:cNvPr>
          <p:cNvSpPr>
            <a:spLocks noGrp="1"/>
          </p:cNvSpPr>
          <p:nvPr/>
        </p:nvSpPr>
        <p:spPr>
          <a:xfrm>
            <a:off x="7553325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M6 Code">
            <a:extLst>
              <a:ext uri="{FF2B5EF4-FFF2-40B4-BE49-F238E27FC236}">
                <a16:creationId xmlns:a16="http://schemas.microsoft.com/office/drawing/2014/main" id="{23847854-B03B-4F71-A7FF-628CACF8E0D7}"/>
              </a:ext>
            </a:extLst>
          </p:cNvPr>
          <p:cNvSpPr>
            <a:spLocks noGrp="1"/>
          </p:cNvSpPr>
          <p:nvPr/>
        </p:nvSpPr>
        <p:spPr>
          <a:xfrm>
            <a:off x="7600950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26" name="M6 Name">
            <a:extLst>
              <a:ext uri="{FF2B5EF4-FFF2-40B4-BE49-F238E27FC236}">
                <a16:creationId xmlns:a16="http://schemas.microsoft.com/office/drawing/2014/main" id="{B9B5D3B0-3408-4FB1-9A34-B0BC44E1E7CF}"/>
              </a:ext>
            </a:extLst>
          </p:cNvPr>
          <p:cNvSpPr>
            <a:spLocks noGrp="1"/>
          </p:cNvSpPr>
          <p:nvPr/>
        </p:nvSpPr>
        <p:spPr>
          <a:xfrm>
            <a:off x="7591425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Training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7" name="M7 Header Background">
            <a:extLst>
              <a:ext uri="{FF2B5EF4-FFF2-40B4-BE49-F238E27FC236}">
                <a16:creationId xmlns:a16="http://schemas.microsoft.com/office/drawing/2014/main" id="{C394A36F-B629-4F49-925A-B5D82E777D02}"/>
              </a:ext>
            </a:extLst>
          </p:cNvPr>
          <p:cNvSpPr>
            <a:spLocks noGrp="1"/>
          </p:cNvSpPr>
          <p:nvPr/>
        </p:nvSpPr>
        <p:spPr>
          <a:xfrm>
            <a:off x="8553450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M7 Code">
            <a:extLst>
              <a:ext uri="{FF2B5EF4-FFF2-40B4-BE49-F238E27FC236}">
                <a16:creationId xmlns:a16="http://schemas.microsoft.com/office/drawing/2014/main" id="{2BEEB5D6-36EF-4B77-8332-DF5C91E6BFED}"/>
              </a:ext>
            </a:extLst>
          </p:cNvPr>
          <p:cNvSpPr>
            <a:spLocks noGrp="1"/>
          </p:cNvSpPr>
          <p:nvPr/>
        </p:nvSpPr>
        <p:spPr>
          <a:xfrm>
            <a:off x="8601075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169873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69873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9" name="M7 Name">
            <a:extLst>
              <a:ext uri="{FF2B5EF4-FFF2-40B4-BE49-F238E27FC236}">
                <a16:creationId xmlns:a16="http://schemas.microsoft.com/office/drawing/2014/main" id="{B6FE52A0-6586-454F-982E-C5291A38BD6D}"/>
              </a:ext>
            </a:extLst>
          </p:cNvPr>
          <p:cNvSpPr>
            <a:spLocks noGrp="1"/>
          </p:cNvSpPr>
          <p:nvPr/>
        </p:nvSpPr>
        <p:spPr>
          <a:xfrm>
            <a:off x="8591550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69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Plan refined using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PPP learnings</a:t>
            </a:r>
          </a:p>
        </p:txBody>
      </p:sp>
      <p:sp>
        <p:nvSpPr>
          <p:cNvPr id="30" name="M8 Header Background">
            <a:extLst>
              <a:ext uri="{FF2B5EF4-FFF2-40B4-BE49-F238E27FC236}">
                <a16:creationId xmlns:a16="http://schemas.microsoft.com/office/drawing/2014/main" id="{78B12FB2-09FA-4366-AAF9-A9E35F7186D4}"/>
              </a:ext>
            </a:extLst>
          </p:cNvPr>
          <p:cNvSpPr>
            <a:spLocks noGrp="1"/>
          </p:cNvSpPr>
          <p:nvPr/>
        </p:nvSpPr>
        <p:spPr>
          <a:xfrm>
            <a:off x="9553575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M8 Code">
            <a:extLst>
              <a:ext uri="{FF2B5EF4-FFF2-40B4-BE49-F238E27FC236}">
                <a16:creationId xmlns:a16="http://schemas.microsoft.com/office/drawing/2014/main" id="{F0D735FA-F553-4DF9-A9D5-F3B9EFF74B0B}"/>
              </a:ext>
            </a:extLst>
          </p:cNvPr>
          <p:cNvSpPr>
            <a:spLocks noGrp="1"/>
          </p:cNvSpPr>
          <p:nvPr/>
        </p:nvSpPr>
        <p:spPr>
          <a:xfrm>
            <a:off x="9601200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169873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69873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2" name="M8 Name">
            <a:extLst>
              <a:ext uri="{FF2B5EF4-FFF2-40B4-BE49-F238E27FC236}">
                <a16:creationId xmlns:a16="http://schemas.microsoft.com/office/drawing/2014/main" id="{F140A34E-D3DA-4235-826A-29EA5CB88407}"/>
              </a:ext>
            </a:extLst>
          </p:cNvPr>
          <p:cNvSpPr>
            <a:spLocks noGrp="1"/>
          </p:cNvSpPr>
          <p:nvPr/>
        </p:nvSpPr>
        <p:spPr>
          <a:xfrm>
            <a:off x="9591675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853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Contracts and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SLAs activated</a:t>
            </a:r>
          </a:p>
        </p:txBody>
      </p:sp>
      <p:sp>
        <p:nvSpPr>
          <p:cNvPr id="33" name="M9 Header Background">
            <a:extLst>
              <a:ext uri="{FF2B5EF4-FFF2-40B4-BE49-F238E27FC236}">
                <a16:creationId xmlns:a16="http://schemas.microsoft.com/office/drawing/2014/main" id="{F9EEC433-C3F3-439E-8932-4D2329F29A08}"/>
              </a:ext>
            </a:extLst>
          </p:cNvPr>
          <p:cNvSpPr>
            <a:spLocks noGrp="1"/>
          </p:cNvSpPr>
          <p:nvPr/>
        </p:nvSpPr>
        <p:spPr>
          <a:xfrm>
            <a:off x="10553700" y="1276350"/>
            <a:ext cx="942975" cy="781050"/>
          </a:xfrm>
          <a:prstGeom prst="rect">
            <a:avLst/>
          </a:prstGeom>
          <a:solidFill>
            <a:srgbClr val="F4F7F9"/>
          </a:solidFill>
          <a:ln w="6668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M9 Code">
            <a:extLst>
              <a:ext uri="{FF2B5EF4-FFF2-40B4-BE49-F238E27FC236}">
                <a16:creationId xmlns:a16="http://schemas.microsoft.com/office/drawing/2014/main" id="{4502A12F-EA90-415D-90BE-DC5683780982}"/>
              </a:ext>
            </a:extLst>
          </p:cNvPr>
          <p:cNvSpPr>
            <a:spLocks noGrp="1"/>
          </p:cNvSpPr>
          <p:nvPr/>
        </p:nvSpPr>
        <p:spPr>
          <a:xfrm>
            <a:off x="10601325" y="1333500"/>
            <a:ext cx="847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 lnSpcReduction="10000"/>
          </a:bodyPr>
          <a:lstStyle/>
          <a:p>
            <a:pPr algn="ctr">
              <a:defRPr sz="1300" b="1">
                <a:solidFill>
                  <a:srgbClr val="169873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69873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35" name="M9 Name">
            <a:extLst>
              <a:ext uri="{FF2B5EF4-FFF2-40B4-BE49-F238E27FC236}">
                <a16:creationId xmlns:a16="http://schemas.microsoft.com/office/drawing/2014/main" id="{6EA6A289-1246-4F47-9BD2-4856CB7CBFAA}"/>
              </a:ext>
            </a:extLst>
          </p:cNvPr>
          <p:cNvSpPr>
            <a:spLocks noGrp="1"/>
          </p:cNvSpPr>
          <p:nvPr/>
        </p:nvSpPr>
        <p:spPr>
          <a:xfrm>
            <a:off x="10591800" y="1533525"/>
            <a:ext cx="8667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69" lnSpcReduction="10000"/>
          </a:bodyPr>
          <a:lstStyle/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BAU governance</a:t>
            </a:r>
          </a:p>
          <a:p>
            <a:pPr algn="ctr"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established</a:t>
            </a:r>
          </a:p>
        </p:txBody>
      </p:sp>
      <p:sp>
        <p:nvSpPr>
          <p:cNvPr id="36" name="AGLIPAY STP Label Area">
            <a:extLst>
              <a:ext uri="{FF2B5EF4-FFF2-40B4-BE49-F238E27FC236}">
                <a16:creationId xmlns:a16="http://schemas.microsoft.com/office/drawing/2014/main" id="{FB3B4821-885A-4EB4-9408-FEC0345418C0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2266950" cy="781050"/>
          </a:xfrm>
          <a:prstGeom prst="roundRect">
            <a:avLst>
              <a:gd name="adj" fmla="val 7317"/>
            </a:avLst>
          </a:prstGeom>
          <a:solidFill>
            <a:srgbClr val="DDF5F9"/>
          </a:solidFill>
          <a:ln w="9525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GLIPAY STP Name">
            <a:extLst>
              <a:ext uri="{FF2B5EF4-FFF2-40B4-BE49-F238E27FC236}">
                <a16:creationId xmlns:a16="http://schemas.microsoft.com/office/drawing/2014/main" id="{9F53F3BF-4FBD-461A-93F0-12AF25482B63}"/>
              </a:ext>
            </a:extLst>
          </p:cNvPr>
          <p:cNvSpPr>
            <a:spLocks noGrp="1"/>
          </p:cNvSpPr>
          <p:nvPr/>
        </p:nvSpPr>
        <p:spPr>
          <a:xfrm>
            <a:off x="590550" y="2162175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>
              <a:defRPr sz="14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AGLIPAY STP</a:t>
            </a:r>
          </a:p>
        </p:txBody>
      </p:sp>
      <p:sp>
        <p:nvSpPr>
          <p:cNvPr id="38" name="AGLIPAY STP Phase">
            <a:extLst>
              <a:ext uri="{FF2B5EF4-FFF2-40B4-BE49-F238E27FC236}">
                <a16:creationId xmlns:a16="http://schemas.microsoft.com/office/drawing/2014/main" id="{17FACDB1-F27E-4BE9-AD1D-C266F5E53E11}"/>
              </a:ext>
            </a:extLst>
          </p:cNvPr>
          <p:cNvSpPr>
            <a:spLocks noGrp="1"/>
          </p:cNvSpPr>
          <p:nvPr/>
        </p:nvSpPr>
        <p:spPr>
          <a:xfrm>
            <a:off x="590550" y="2352675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PPP ACTIVE</a:t>
            </a:r>
          </a:p>
        </p:txBody>
      </p:sp>
      <p:sp>
        <p:nvSpPr>
          <p:cNvPr id="39" name="AGLIPAY STP Phase Detail">
            <a:extLst>
              <a:ext uri="{FF2B5EF4-FFF2-40B4-BE49-F238E27FC236}">
                <a16:creationId xmlns:a16="http://schemas.microsoft.com/office/drawing/2014/main" id="{BF21B60E-1773-40CD-AF92-D47D65D37FAD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PPP START  13 MAR 2026</a:t>
            </a:r>
          </a:p>
        </p:txBody>
      </p:sp>
      <p:sp>
        <p:nvSpPr>
          <p:cNvPr id="40" name="AGLIPAY STP Mini Phase 1">
            <a:extLst>
              <a:ext uri="{FF2B5EF4-FFF2-40B4-BE49-F238E27FC236}">
                <a16:creationId xmlns:a16="http://schemas.microsoft.com/office/drawing/2014/main" id="{8BCD6ABD-4D5E-46A0-8226-7B501E1D82AF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517071" cy="66675"/>
          </a:xfrm>
          <a:prstGeom prst="rect">
            <a:avLst/>
          </a:prstGeom>
          <a:solidFill>
            <a:srgbClr val="DDEBF4"/>
          </a:solidFill>
          <a:ln w="6668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GLIPAY STP Mini Phase 2">
            <a:extLst>
              <a:ext uri="{FF2B5EF4-FFF2-40B4-BE49-F238E27FC236}">
                <a16:creationId xmlns:a16="http://schemas.microsoft.com/office/drawing/2014/main" id="{679AA513-D9E5-4F33-9D3D-EFB069128766}"/>
              </a:ext>
            </a:extLst>
          </p:cNvPr>
          <p:cNvSpPr>
            <a:spLocks noGrp="1"/>
          </p:cNvSpPr>
          <p:nvPr/>
        </p:nvSpPr>
        <p:spPr>
          <a:xfrm>
            <a:off x="1202871" y="2657475"/>
            <a:ext cx="775607" cy="66675"/>
          </a:xfrm>
          <a:prstGeom prst="rect">
            <a:avLst/>
          </a:prstGeom>
          <a:solidFill>
            <a:srgbClr val="DDF5F9"/>
          </a:solidFill>
          <a:ln w="6668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GLIPAY STP Mini Phase 3">
            <a:extLst>
              <a:ext uri="{FF2B5EF4-FFF2-40B4-BE49-F238E27FC236}">
                <a16:creationId xmlns:a16="http://schemas.microsoft.com/office/drawing/2014/main" id="{63161C82-343B-4FB5-A534-594207D5990B}"/>
              </a:ext>
            </a:extLst>
          </p:cNvPr>
          <p:cNvSpPr>
            <a:spLocks noGrp="1"/>
          </p:cNvSpPr>
          <p:nvPr/>
        </p:nvSpPr>
        <p:spPr>
          <a:xfrm>
            <a:off x="1978479" y="2657475"/>
            <a:ext cx="517071" cy="66675"/>
          </a:xfrm>
          <a:prstGeom prst="rect">
            <a:avLst/>
          </a:prstGeom>
          <a:solidFill>
            <a:srgbClr val="DFF3EC"/>
          </a:solidFill>
          <a:ln w="6668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AGLIPAY STP Today Marker Line">
            <a:extLst>
              <a:ext uri="{FF2B5EF4-FFF2-40B4-BE49-F238E27FC236}">
                <a16:creationId xmlns:a16="http://schemas.microsoft.com/office/drawing/2014/main" id="{1C5229E8-D6A8-4B33-B70C-F35F2F5DD9A1}"/>
              </a:ext>
            </a:extLst>
          </p:cNvPr>
          <p:cNvSpPr>
            <a:spLocks noGrp="1"/>
          </p:cNvSpPr>
          <p:nvPr/>
        </p:nvSpPr>
        <p:spPr>
          <a:xfrm>
            <a:off x="1481614" y="2609850"/>
            <a:ext cx="19050" cy="171450"/>
          </a:xfrm>
          <a:prstGeom prst="rect">
            <a:avLst/>
          </a:prstGeom>
          <a:solidFill>
            <a:srgbClr val="E63950"/>
          </a:solidFill>
          <a:ln w="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AGLIPAY STP Today Marker Dot">
            <a:extLst>
              <a:ext uri="{FF2B5EF4-FFF2-40B4-BE49-F238E27FC236}">
                <a16:creationId xmlns:a16="http://schemas.microsoft.com/office/drawing/2014/main" id="{EAF813EF-B15D-47CC-B8C3-5FBA8F0B386E}"/>
              </a:ext>
            </a:extLst>
          </p:cNvPr>
          <p:cNvSpPr>
            <a:spLocks noGrp="1"/>
          </p:cNvSpPr>
          <p:nvPr/>
        </p:nvSpPr>
        <p:spPr>
          <a:xfrm>
            <a:off x="1453039" y="2686050"/>
            <a:ext cx="76200" cy="76200"/>
          </a:xfrm>
          <a:prstGeom prst="ellipse">
            <a:avLst/>
          </a:prstGeom>
          <a:solidFill>
            <a:srgbClr val="E6395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GLIPAY STP Milestone Rail">
            <a:extLst>
              <a:ext uri="{FF2B5EF4-FFF2-40B4-BE49-F238E27FC236}">
                <a16:creationId xmlns:a16="http://schemas.microsoft.com/office/drawing/2014/main" id="{86040ECF-20CD-4C0A-8E29-C5178F9EE412}"/>
              </a:ext>
            </a:extLst>
          </p:cNvPr>
          <p:cNvSpPr>
            <a:spLocks noGrp="1"/>
          </p:cNvSpPr>
          <p:nvPr/>
        </p:nvSpPr>
        <p:spPr>
          <a:xfrm>
            <a:off x="2771775" y="2466975"/>
            <a:ext cx="8505825" cy="38100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Milestone achieved Dot">
            <a:extLst>
              <a:ext uri="{FF2B5EF4-FFF2-40B4-BE49-F238E27FC236}">
                <a16:creationId xmlns:a16="http://schemas.microsoft.com/office/drawing/2014/main" id="{B2E3E036-7085-4A2E-84EF-7A29F445A9B1}"/>
              </a:ext>
            </a:extLst>
          </p:cNvPr>
          <p:cNvSpPr>
            <a:spLocks noGrp="1"/>
          </p:cNvSpPr>
          <p:nvPr/>
        </p:nvSpPr>
        <p:spPr>
          <a:xfrm>
            <a:off x="2890838" y="23526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ilestone achieved Symbol">
            <a:extLst>
              <a:ext uri="{FF2B5EF4-FFF2-40B4-BE49-F238E27FC236}">
                <a16:creationId xmlns:a16="http://schemas.microsoft.com/office/drawing/2014/main" id="{5B719476-FD66-438B-969F-680DA729BBDA}"/>
              </a:ext>
            </a:extLst>
          </p:cNvPr>
          <p:cNvSpPr>
            <a:spLocks noGrp="1"/>
          </p:cNvSpPr>
          <p:nvPr/>
        </p:nvSpPr>
        <p:spPr>
          <a:xfrm>
            <a:off x="2919413" y="2362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8" name="Milestone achieved Dot">
            <a:extLst>
              <a:ext uri="{FF2B5EF4-FFF2-40B4-BE49-F238E27FC236}">
                <a16:creationId xmlns:a16="http://schemas.microsoft.com/office/drawing/2014/main" id="{E3CA172D-2B59-44E8-BD7F-225087822ECA}"/>
              </a:ext>
            </a:extLst>
          </p:cNvPr>
          <p:cNvSpPr>
            <a:spLocks noGrp="1"/>
          </p:cNvSpPr>
          <p:nvPr/>
        </p:nvSpPr>
        <p:spPr>
          <a:xfrm>
            <a:off x="3890963" y="23526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Milestone achieved Symbol">
            <a:extLst>
              <a:ext uri="{FF2B5EF4-FFF2-40B4-BE49-F238E27FC236}">
                <a16:creationId xmlns:a16="http://schemas.microsoft.com/office/drawing/2014/main" id="{1B3AB99E-EA51-4D1B-9E3A-2047CEBDFFA9}"/>
              </a:ext>
            </a:extLst>
          </p:cNvPr>
          <p:cNvSpPr>
            <a:spLocks noGrp="1"/>
          </p:cNvSpPr>
          <p:nvPr/>
        </p:nvSpPr>
        <p:spPr>
          <a:xfrm>
            <a:off x="3919538" y="2362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0" name="Milestone achieved Dot">
            <a:extLst>
              <a:ext uri="{FF2B5EF4-FFF2-40B4-BE49-F238E27FC236}">
                <a16:creationId xmlns:a16="http://schemas.microsoft.com/office/drawing/2014/main" id="{BBE45B22-8B2D-4F20-BF53-E25C7EB55990}"/>
              </a:ext>
            </a:extLst>
          </p:cNvPr>
          <p:cNvSpPr>
            <a:spLocks noGrp="1"/>
          </p:cNvSpPr>
          <p:nvPr/>
        </p:nvSpPr>
        <p:spPr>
          <a:xfrm>
            <a:off x="4891088" y="23526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Milestone achieved Symbol">
            <a:extLst>
              <a:ext uri="{FF2B5EF4-FFF2-40B4-BE49-F238E27FC236}">
                <a16:creationId xmlns:a16="http://schemas.microsoft.com/office/drawing/2014/main" id="{9B498404-F2EC-4CDD-B5B3-D6F27EAAA47F}"/>
              </a:ext>
            </a:extLst>
          </p:cNvPr>
          <p:cNvSpPr>
            <a:spLocks noGrp="1"/>
          </p:cNvSpPr>
          <p:nvPr/>
        </p:nvSpPr>
        <p:spPr>
          <a:xfrm>
            <a:off x="4919663" y="2362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2" name="Milestone gap Dot">
            <a:extLst>
              <a:ext uri="{FF2B5EF4-FFF2-40B4-BE49-F238E27FC236}">
                <a16:creationId xmlns:a16="http://schemas.microsoft.com/office/drawing/2014/main" id="{E9C924F5-F1E7-4089-87B1-2CC88E5B5409}"/>
              </a:ext>
            </a:extLst>
          </p:cNvPr>
          <p:cNvSpPr>
            <a:spLocks noGrp="1"/>
          </p:cNvSpPr>
          <p:nvPr/>
        </p:nvSpPr>
        <p:spPr>
          <a:xfrm>
            <a:off x="5891213" y="2352675"/>
            <a:ext cx="266700" cy="266700"/>
          </a:xfrm>
          <a:prstGeom prst="ellipse">
            <a:avLst/>
          </a:prstGeom>
          <a:solidFill>
            <a:srgbClr val="FDECEF"/>
          </a:solidFill>
          <a:ln w="1905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Milestone gap Symbol">
            <a:extLst>
              <a:ext uri="{FF2B5EF4-FFF2-40B4-BE49-F238E27FC236}">
                <a16:creationId xmlns:a16="http://schemas.microsoft.com/office/drawing/2014/main" id="{73EFBDF7-E652-4A8A-A9FC-1E1CD6B42483}"/>
              </a:ext>
            </a:extLst>
          </p:cNvPr>
          <p:cNvSpPr>
            <a:spLocks noGrp="1"/>
          </p:cNvSpPr>
          <p:nvPr/>
        </p:nvSpPr>
        <p:spPr>
          <a:xfrm>
            <a:off x="5919788" y="2362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54" name="Milestone ahead Dot">
            <a:extLst>
              <a:ext uri="{FF2B5EF4-FFF2-40B4-BE49-F238E27FC236}">
                <a16:creationId xmlns:a16="http://schemas.microsoft.com/office/drawing/2014/main" id="{0D4BDC3F-D7B3-458B-975C-33437C04CFC6}"/>
              </a:ext>
            </a:extLst>
          </p:cNvPr>
          <p:cNvSpPr>
            <a:spLocks noGrp="1"/>
          </p:cNvSpPr>
          <p:nvPr/>
        </p:nvSpPr>
        <p:spPr>
          <a:xfrm>
            <a:off x="6891338" y="2352675"/>
            <a:ext cx="266700" cy="266700"/>
          </a:xfrm>
          <a:prstGeom prst="ellipse">
            <a:avLst/>
          </a:prstGeom>
          <a:solidFill>
            <a:srgbClr val="007DA7"/>
          </a:solidFill>
          <a:ln w="19050">
            <a:solidFill>
              <a:srgbClr val="007D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Milestone ahead Symbol">
            <a:extLst>
              <a:ext uri="{FF2B5EF4-FFF2-40B4-BE49-F238E27FC236}">
                <a16:creationId xmlns:a16="http://schemas.microsoft.com/office/drawing/2014/main" id="{48093B2B-0BC4-4754-99A9-68C044134C37}"/>
              </a:ext>
            </a:extLst>
          </p:cNvPr>
          <p:cNvSpPr>
            <a:spLocks noGrp="1"/>
          </p:cNvSpPr>
          <p:nvPr/>
        </p:nvSpPr>
        <p:spPr>
          <a:xfrm>
            <a:off x="6919913" y="23622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6" name="Milestone upcoming Dot">
            <a:extLst>
              <a:ext uri="{FF2B5EF4-FFF2-40B4-BE49-F238E27FC236}">
                <a16:creationId xmlns:a16="http://schemas.microsoft.com/office/drawing/2014/main" id="{A7280608-4638-43DA-AD57-56F8E17C8032}"/>
              </a:ext>
            </a:extLst>
          </p:cNvPr>
          <p:cNvSpPr>
            <a:spLocks noGrp="1"/>
          </p:cNvSpPr>
          <p:nvPr/>
        </p:nvSpPr>
        <p:spPr>
          <a:xfrm>
            <a:off x="7891463" y="23526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Milestone upcoming Dot">
            <a:extLst>
              <a:ext uri="{FF2B5EF4-FFF2-40B4-BE49-F238E27FC236}">
                <a16:creationId xmlns:a16="http://schemas.microsoft.com/office/drawing/2014/main" id="{A04DC6C3-BE35-4321-A818-95AB50B0D397}"/>
              </a:ext>
            </a:extLst>
          </p:cNvPr>
          <p:cNvSpPr>
            <a:spLocks noGrp="1"/>
          </p:cNvSpPr>
          <p:nvPr/>
        </p:nvSpPr>
        <p:spPr>
          <a:xfrm>
            <a:off x="8891588" y="23526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Milestone upcoming Dot">
            <a:extLst>
              <a:ext uri="{FF2B5EF4-FFF2-40B4-BE49-F238E27FC236}">
                <a16:creationId xmlns:a16="http://schemas.microsoft.com/office/drawing/2014/main" id="{1902E335-4E02-4553-B8EE-B1BEF73C0004}"/>
              </a:ext>
            </a:extLst>
          </p:cNvPr>
          <p:cNvSpPr>
            <a:spLocks noGrp="1"/>
          </p:cNvSpPr>
          <p:nvPr/>
        </p:nvSpPr>
        <p:spPr>
          <a:xfrm>
            <a:off x="9891713" y="23526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Milestone upcoming Dot">
            <a:extLst>
              <a:ext uri="{FF2B5EF4-FFF2-40B4-BE49-F238E27FC236}">
                <a16:creationId xmlns:a16="http://schemas.microsoft.com/office/drawing/2014/main" id="{E519172B-2A2D-495B-9694-E7F68D7D0EEE}"/>
              </a:ext>
            </a:extLst>
          </p:cNvPr>
          <p:cNvSpPr>
            <a:spLocks noGrp="1"/>
          </p:cNvSpPr>
          <p:nvPr/>
        </p:nvSpPr>
        <p:spPr>
          <a:xfrm>
            <a:off x="10891838" y="23526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AGLIPAY STP Comparison">
            <a:extLst>
              <a:ext uri="{FF2B5EF4-FFF2-40B4-BE49-F238E27FC236}">
                <a16:creationId xmlns:a16="http://schemas.microsoft.com/office/drawing/2014/main" id="{8531BF67-1912-42B9-9FDA-8D6E919199F7}"/>
              </a:ext>
            </a:extLst>
          </p:cNvPr>
          <p:cNvSpPr>
            <a:spLocks noGrp="1"/>
          </p:cNvSpPr>
          <p:nvPr/>
        </p:nvSpPr>
        <p:spPr>
          <a:xfrm>
            <a:off x="2581275" y="2705100"/>
            <a:ext cx="8886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F"/>
                </a:solidFill>
                <a:latin typeface="Aptos"/>
                <a:ea typeface="Aptos"/>
                <a:cs typeface="Aptos"/>
              </a:rPr>
              <a:t>Execution started early; SAP-PM task lists remain the sequence gap.</a:t>
            </a:r>
          </a:p>
        </p:txBody>
      </p:sp>
      <p:sp>
        <p:nvSpPr>
          <p:cNvPr id="61" name="HTT STP Label Area">
            <a:extLst>
              <a:ext uri="{FF2B5EF4-FFF2-40B4-BE49-F238E27FC236}">
                <a16:creationId xmlns:a16="http://schemas.microsoft.com/office/drawing/2014/main" id="{3B9A9E69-096A-4C3C-88AF-FE6E3AC4C462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2266950" cy="781050"/>
          </a:xfrm>
          <a:prstGeom prst="roundRect">
            <a:avLst>
              <a:gd name="adj" fmla="val 7317"/>
            </a:avLst>
          </a:prstGeom>
          <a:solidFill>
            <a:srgbClr val="DDF5F9"/>
          </a:solidFill>
          <a:ln w="9525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HTT STP Name">
            <a:extLst>
              <a:ext uri="{FF2B5EF4-FFF2-40B4-BE49-F238E27FC236}">
                <a16:creationId xmlns:a16="http://schemas.microsoft.com/office/drawing/2014/main" id="{1E2492E0-6ECB-43B4-8E34-94D610A19F8C}"/>
              </a:ext>
            </a:extLst>
          </p:cNvPr>
          <p:cNvSpPr>
            <a:spLocks noGrp="1"/>
          </p:cNvSpPr>
          <p:nvPr/>
        </p:nvSpPr>
        <p:spPr>
          <a:xfrm>
            <a:off x="590550" y="2962275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>
              <a:defRPr sz="14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HTT STP</a:t>
            </a:r>
          </a:p>
        </p:txBody>
      </p:sp>
      <p:sp>
        <p:nvSpPr>
          <p:cNvPr id="63" name="HTT STP Phase">
            <a:extLst>
              <a:ext uri="{FF2B5EF4-FFF2-40B4-BE49-F238E27FC236}">
                <a16:creationId xmlns:a16="http://schemas.microsoft.com/office/drawing/2014/main" id="{92BA26B2-FFA3-4C91-B110-DBC1CA87B0E4}"/>
              </a:ext>
            </a:extLst>
          </p:cNvPr>
          <p:cNvSpPr>
            <a:spLocks noGrp="1"/>
          </p:cNvSpPr>
          <p:nvPr/>
        </p:nvSpPr>
        <p:spPr>
          <a:xfrm>
            <a:off x="590550" y="3152775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PPP ACTIVE</a:t>
            </a:r>
          </a:p>
        </p:txBody>
      </p:sp>
      <p:sp>
        <p:nvSpPr>
          <p:cNvPr id="64" name="HTT STP Phase Detail">
            <a:extLst>
              <a:ext uri="{FF2B5EF4-FFF2-40B4-BE49-F238E27FC236}">
                <a16:creationId xmlns:a16="http://schemas.microsoft.com/office/drawing/2014/main" id="{028A9401-49D3-42F1-BEF7-304AD44C9A9F}"/>
              </a:ext>
            </a:extLst>
          </p:cNvPr>
          <p:cNvSpPr>
            <a:spLocks noGrp="1"/>
          </p:cNvSpPr>
          <p:nvPr/>
        </p:nvSpPr>
        <p:spPr>
          <a:xfrm>
            <a:off x="590550" y="3314700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PPP START  13 MAR 2026</a:t>
            </a:r>
          </a:p>
        </p:txBody>
      </p:sp>
      <p:sp>
        <p:nvSpPr>
          <p:cNvPr id="65" name="HTT STP Mini Phase 1">
            <a:extLst>
              <a:ext uri="{FF2B5EF4-FFF2-40B4-BE49-F238E27FC236}">
                <a16:creationId xmlns:a16="http://schemas.microsoft.com/office/drawing/2014/main" id="{AA955F0A-2AA6-4882-ACD2-1A8D0DEDF58A}"/>
              </a:ext>
            </a:extLst>
          </p:cNvPr>
          <p:cNvSpPr>
            <a:spLocks noGrp="1"/>
          </p:cNvSpPr>
          <p:nvPr/>
        </p:nvSpPr>
        <p:spPr>
          <a:xfrm>
            <a:off x="685800" y="3457575"/>
            <a:ext cx="517071" cy="66675"/>
          </a:xfrm>
          <a:prstGeom prst="rect">
            <a:avLst/>
          </a:prstGeom>
          <a:solidFill>
            <a:srgbClr val="DDEBF4"/>
          </a:solidFill>
          <a:ln w="6668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HTT STP Mini Phase 2">
            <a:extLst>
              <a:ext uri="{FF2B5EF4-FFF2-40B4-BE49-F238E27FC236}">
                <a16:creationId xmlns:a16="http://schemas.microsoft.com/office/drawing/2014/main" id="{E37347F8-0449-4B3E-A756-4734A759CF4F}"/>
              </a:ext>
            </a:extLst>
          </p:cNvPr>
          <p:cNvSpPr>
            <a:spLocks noGrp="1"/>
          </p:cNvSpPr>
          <p:nvPr/>
        </p:nvSpPr>
        <p:spPr>
          <a:xfrm>
            <a:off x="1202871" y="3457575"/>
            <a:ext cx="775607" cy="66675"/>
          </a:xfrm>
          <a:prstGeom prst="rect">
            <a:avLst/>
          </a:prstGeom>
          <a:solidFill>
            <a:srgbClr val="DDF5F9"/>
          </a:solidFill>
          <a:ln w="6668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HTT STP Mini Phase 3">
            <a:extLst>
              <a:ext uri="{FF2B5EF4-FFF2-40B4-BE49-F238E27FC236}">
                <a16:creationId xmlns:a16="http://schemas.microsoft.com/office/drawing/2014/main" id="{BE18CA4E-FCF7-432E-8146-0ED5D2246C6E}"/>
              </a:ext>
            </a:extLst>
          </p:cNvPr>
          <p:cNvSpPr>
            <a:spLocks noGrp="1"/>
          </p:cNvSpPr>
          <p:nvPr/>
        </p:nvSpPr>
        <p:spPr>
          <a:xfrm>
            <a:off x="1978479" y="3457575"/>
            <a:ext cx="517071" cy="66675"/>
          </a:xfrm>
          <a:prstGeom prst="rect">
            <a:avLst/>
          </a:prstGeom>
          <a:solidFill>
            <a:srgbClr val="DFF3EC"/>
          </a:solidFill>
          <a:ln w="6668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HTT STP Today Marker Line">
            <a:extLst>
              <a:ext uri="{FF2B5EF4-FFF2-40B4-BE49-F238E27FC236}">
                <a16:creationId xmlns:a16="http://schemas.microsoft.com/office/drawing/2014/main" id="{48BE750A-6C7E-45C3-92A7-9AE333F283C5}"/>
              </a:ext>
            </a:extLst>
          </p:cNvPr>
          <p:cNvSpPr>
            <a:spLocks noGrp="1"/>
          </p:cNvSpPr>
          <p:nvPr/>
        </p:nvSpPr>
        <p:spPr>
          <a:xfrm>
            <a:off x="1481614" y="3409950"/>
            <a:ext cx="19050" cy="171450"/>
          </a:xfrm>
          <a:prstGeom prst="rect">
            <a:avLst/>
          </a:prstGeom>
          <a:solidFill>
            <a:srgbClr val="E63950"/>
          </a:solidFill>
          <a:ln w="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HTT STP Today Marker Dot">
            <a:extLst>
              <a:ext uri="{FF2B5EF4-FFF2-40B4-BE49-F238E27FC236}">
                <a16:creationId xmlns:a16="http://schemas.microsoft.com/office/drawing/2014/main" id="{FC851F5E-8B3A-4E42-90D8-659122E4942B}"/>
              </a:ext>
            </a:extLst>
          </p:cNvPr>
          <p:cNvSpPr>
            <a:spLocks noGrp="1"/>
          </p:cNvSpPr>
          <p:nvPr/>
        </p:nvSpPr>
        <p:spPr>
          <a:xfrm>
            <a:off x="1453039" y="3486150"/>
            <a:ext cx="76200" cy="76200"/>
          </a:xfrm>
          <a:prstGeom prst="ellipse">
            <a:avLst/>
          </a:prstGeom>
          <a:solidFill>
            <a:srgbClr val="E6395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HTT STP Milestone Rail">
            <a:extLst>
              <a:ext uri="{FF2B5EF4-FFF2-40B4-BE49-F238E27FC236}">
                <a16:creationId xmlns:a16="http://schemas.microsoft.com/office/drawing/2014/main" id="{AD73F295-DEA6-4352-937C-230A4CFBD0F0}"/>
              </a:ext>
            </a:extLst>
          </p:cNvPr>
          <p:cNvSpPr>
            <a:spLocks noGrp="1"/>
          </p:cNvSpPr>
          <p:nvPr/>
        </p:nvSpPr>
        <p:spPr>
          <a:xfrm>
            <a:off x="2771775" y="3267075"/>
            <a:ext cx="8505825" cy="38100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Milestone achieved Dot">
            <a:extLst>
              <a:ext uri="{FF2B5EF4-FFF2-40B4-BE49-F238E27FC236}">
                <a16:creationId xmlns:a16="http://schemas.microsoft.com/office/drawing/2014/main" id="{B0D3A633-B883-4542-927D-5D9A419A00CA}"/>
              </a:ext>
            </a:extLst>
          </p:cNvPr>
          <p:cNvSpPr>
            <a:spLocks noGrp="1"/>
          </p:cNvSpPr>
          <p:nvPr/>
        </p:nvSpPr>
        <p:spPr>
          <a:xfrm>
            <a:off x="2890838" y="31527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Milestone achieved Symbol">
            <a:extLst>
              <a:ext uri="{FF2B5EF4-FFF2-40B4-BE49-F238E27FC236}">
                <a16:creationId xmlns:a16="http://schemas.microsoft.com/office/drawing/2014/main" id="{09CCBD45-2422-4FA5-8A70-A259FCD0A21F}"/>
              </a:ext>
            </a:extLst>
          </p:cNvPr>
          <p:cNvSpPr>
            <a:spLocks noGrp="1"/>
          </p:cNvSpPr>
          <p:nvPr/>
        </p:nvSpPr>
        <p:spPr>
          <a:xfrm>
            <a:off x="2919413" y="31623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3" name="Milestone achieved Dot">
            <a:extLst>
              <a:ext uri="{FF2B5EF4-FFF2-40B4-BE49-F238E27FC236}">
                <a16:creationId xmlns:a16="http://schemas.microsoft.com/office/drawing/2014/main" id="{C4BDE78E-946B-4317-9BF5-2FBA0739D861}"/>
              </a:ext>
            </a:extLst>
          </p:cNvPr>
          <p:cNvSpPr>
            <a:spLocks noGrp="1"/>
          </p:cNvSpPr>
          <p:nvPr/>
        </p:nvSpPr>
        <p:spPr>
          <a:xfrm>
            <a:off x="3890963" y="31527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Milestone achieved Symbol">
            <a:extLst>
              <a:ext uri="{FF2B5EF4-FFF2-40B4-BE49-F238E27FC236}">
                <a16:creationId xmlns:a16="http://schemas.microsoft.com/office/drawing/2014/main" id="{800E49FE-308D-433D-8554-2E3437117FB5}"/>
              </a:ext>
            </a:extLst>
          </p:cNvPr>
          <p:cNvSpPr>
            <a:spLocks noGrp="1"/>
          </p:cNvSpPr>
          <p:nvPr/>
        </p:nvSpPr>
        <p:spPr>
          <a:xfrm>
            <a:off x="3919538" y="31623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5" name="Milestone achieved Dot">
            <a:extLst>
              <a:ext uri="{FF2B5EF4-FFF2-40B4-BE49-F238E27FC236}">
                <a16:creationId xmlns:a16="http://schemas.microsoft.com/office/drawing/2014/main" id="{D299B190-F65A-43DE-914E-B11D46C350F0}"/>
              </a:ext>
            </a:extLst>
          </p:cNvPr>
          <p:cNvSpPr>
            <a:spLocks noGrp="1"/>
          </p:cNvSpPr>
          <p:nvPr/>
        </p:nvSpPr>
        <p:spPr>
          <a:xfrm>
            <a:off x="4891088" y="31527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Milestone achieved Symbol">
            <a:extLst>
              <a:ext uri="{FF2B5EF4-FFF2-40B4-BE49-F238E27FC236}">
                <a16:creationId xmlns:a16="http://schemas.microsoft.com/office/drawing/2014/main" id="{9FBEA38C-0ACE-42BF-935C-3A3BE30A4F7F}"/>
              </a:ext>
            </a:extLst>
          </p:cNvPr>
          <p:cNvSpPr>
            <a:spLocks noGrp="1"/>
          </p:cNvSpPr>
          <p:nvPr/>
        </p:nvSpPr>
        <p:spPr>
          <a:xfrm>
            <a:off x="4919663" y="31623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7" name="Milestone gap Dot">
            <a:extLst>
              <a:ext uri="{FF2B5EF4-FFF2-40B4-BE49-F238E27FC236}">
                <a16:creationId xmlns:a16="http://schemas.microsoft.com/office/drawing/2014/main" id="{D48468DA-AF4F-49C9-B935-A539309EE580}"/>
              </a:ext>
            </a:extLst>
          </p:cNvPr>
          <p:cNvSpPr>
            <a:spLocks noGrp="1"/>
          </p:cNvSpPr>
          <p:nvPr/>
        </p:nvSpPr>
        <p:spPr>
          <a:xfrm>
            <a:off x="5891213" y="3152775"/>
            <a:ext cx="266700" cy="266700"/>
          </a:xfrm>
          <a:prstGeom prst="ellipse">
            <a:avLst/>
          </a:prstGeom>
          <a:solidFill>
            <a:srgbClr val="FDECEF"/>
          </a:solidFill>
          <a:ln w="1905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Milestone gap Symbol">
            <a:extLst>
              <a:ext uri="{FF2B5EF4-FFF2-40B4-BE49-F238E27FC236}">
                <a16:creationId xmlns:a16="http://schemas.microsoft.com/office/drawing/2014/main" id="{9AAB11B3-FCDF-457E-948E-9B525E552DED}"/>
              </a:ext>
            </a:extLst>
          </p:cNvPr>
          <p:cNvSpPr>
            <a:spLocks noGrp="1"/>
          </p:cNvSpPr>
          <p:nvPr/>
        </p:nvSpPr>
        <p:spPr>
          <a:xfrm>
            <a:off x="5919788" y="31623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79" name="Milestone ahead Dot">
            <a:extLst>
              <a:ext uri="{FF2B5EF4-FFF2-40B4-BE49-F238E27FC236}">
                <a16:creationId xmlns:a16="http://schemas.microsoft.com/office/drawing/2014/main" id="{4ED1B2C6-4692-4BE8-9948-4C492E662937}"/>
              </a:ext>
            </a:extLst>
          </p:cNvPr>
          <p:cNvSpPr>
            <a:spLocks noGrp="1"/>
          </p:cNvSpPr>
          <p:nvPr/>
        </p:nvSpPr>
        <p:spPr>
          <a:xfrm>
            <a:off x="6891338" y="3152775"/>
            <a:ext cx="266700" cy="266700"/>
          </a:xfrm>
          <a:prstGeom prst="ellipse">
            <a:avLst/>
          </a:prstGeom>
          <a:solidFill>
            <a:srgbClr val="007DA7"/>
          </a:solidFill>
          <a:ln w="19050">
            <a:solidFill>
              <a:srgbClr val="007D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Milestone ahead Symbol">
            <a:extLst>
              <a:ext uri="{FF2B5EF4-FFF2-40B4-BE49-F238E27FC236}">
                <a16:creationId xmlns:a16="http://schemas.microsoft.com/office/drawing/2014/main" id="{C63DC036-7209-473A-9D0A-3F329417BB7F}"/>
              </a:ext>
            </a:extLst>
          </p:cNvPr>
          <p:cNvSpPr>
            <a:spLocks noGrp="1"/>
          </p:cNvSpPr>
          <p:nvPr/>
        </p:nvSpPr>
        <p:spPr>
          <a:xfrm>
            <a:off x="6919913" y="31623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1" name="Milestone upcoming Dot">
            <a:extLst>
              <a:ext uri="{FF2B5EF4-FFF2-40B4-BE49-F238E27FC236}">
                <a16:creationId xmlns:a16="http://schemas.microsoft.com/office/drawing/2014/main" id="{B2672F07-C0B7-44A2-BD77-A15B5178F729}"/>
              </a:ext>
            </a:extLst>
          </p:cNvPr>
          <p:cNvSpPr>
            <a:spLocks noGrp="1"/>
          </p:cNvSpPr>
          <p:nvPr/>
        </p:nvSpPr>
        <p:spPr>
          <a:xfrm>
            <a:off x="7891463" y="31527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Milestone upcoming Dot">
            <a:extLst>
              <a:ext uri="{FF2B5EF4-FFF2-40B4-BE49-F238E27FC236}">
                <a16:creationId xmlns:a16="http://schemas.microsoft.com/office/drawing/2014/main" id="{62E73AD5-1F49-4A41-995C-3F2FEE517986}"/>
              </a:ext>
            </a:extLst>
          </p:cNvPr>
          <p:cNvSpPr>
            <a:spLocks noGrp="1"/>
          </p:cNvSpPr>
          <p:nvPr/>
        </p:nvSpPr>
        <p:spPr>
          <a:xfrm>
            <a:off x="8891588" y="31527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Milestone upcoming Dot">
            <a:extLst>
              <a:ext uri="{FF2B5EF4-FFF2-40B4-BE49-F238E27FC236}">
                <a16:creationId xmlns:a16="http://schemas.microsoft.com/office/drawing/2014/main" id="{A1CCDA4F-9EEB-4761-8582-D08BB8BCD615}"/>
              </a:ext>
            </a:extLst>
          </p:cNvPr>
          <p:cNvSpPr>
            <a:spLocks noGrp="1"/>
          </p:cNvSpPr>
          <p:nvPr/>
        </p:nvSpPr>
        <p:spPr>
          <a:xfrm>
            <a:off x="9891713" y="31527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Milestone upcoming Dot">
            <a:extLst>
              <a:ext uri="{FF2B5EF4-FFF2-40B4-BE49-F238E27FC236}">
                <a16:creationId xmlns:a16="http://schemas.microsoft.com/office/drawing/2014/main" id="{BD8C3376-1FDF-4682-9D32-F9FC026D5D39}"/>
              </a:ext>
            </a:extLst>
          </p:cNvPr>
          <p:cNvSpPr>
            <a:spLocks noGrp="1"/>
          </p:cNvSpPr>
          <p:nvPr/>
        </p:nvSpPr>
        <p:spPr>
          <a:xfrm>
            <a:off x="10891838" y="31527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HTT STP Comparison">
            <a:extLst>
              <a:ext uri="{FF2B5EF4-FFF2-40B4-BE49-F238E27FC236}">
                <a16:creationId xmlns:a16="http://schemas.microsoft.com/office/drawing/2014/main" id="{95D1769D-BEBF-41B1-A271-3020ECA26374}"/>
              </a:ext>
            </a:extLst>
          </p:cNvPr>
          <p:cNvSpPr>
            <a:spLocks noGrp="1"/>
          </p:cNvSpPr>
          <p:nvPr/>
        </p:nvSpPr>
        <p:spPr>
          <a:xfrm>
            <a:off x="2581275" y="3505200"/>
            <a:ext cx="8886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F"/>
                </a:solidFill>
                <a:latin typeface="Aptos"/>
                <a:ea typeface="Aptos"/>
                <a:cs typeface="Aptos"/>
              </a:rPr>
              <a:t>Execution started early; close SAP-PM task lists and training documentation.</a:t>
            </a:r>
          </a:p>
        </p:txBody>
      </p:sp>
      <p:sp>
        <p:nvSpPr>
          <p:cNvPr id="86" name="EASTBAY PH-2 TP Label Area">
            <a:extLst>
              <a:ext uri="{FF2B5EF4-FFF2-40B4-BE49-F238E27FC236}">
                <a16:creationId xmlns:a16="http://schemas.microsoft.com/office/drawing/2014/main" id="{06B11082-873A-4384-B5FA-49AF02BB43BE}"/>
              </a:ext>
            </a:extLst>
          </p:cNvPr>
          <p:cNvSpPr>
            <a:spLocks noGrp="1"/>
          </p:cNvSpPr>
          <p:nvPr/>
        </p:nvSpPr>
        <p:spPr>
          <a:xfrm>
            <a:off x="457200" y="3695700"/>
            <a:ext cx="2266950" cy="781050"/>
          </a:xfrm>
          <a:prstGeom prst="roundRect">
            <a:avLst>
              <a:gd name="adj" fmla="val 7317"/>
            </a:avLst>
          </a:prstGeom>
          <a:solidFill>
            <a:srgbClr val="DDEBF4"/>
          </a:solidFill>
          <a:ln w="9525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EASTBAY PH-2 TP Name">
            <a:extLst>
              <a:ext uri="{FF2B5EF4-FFF2-40B4-BE49-F238E27FC236}">
                <a16:creationId xmlns:a16="http://schemas.microsoft.com/office/drawing/2014/main" id="{5F817190-7539-44B6-B27F-EA525C76FE7C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>
              <a:defRPr sz="14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EASTBAY PH-2 TP</a:t>
            </a:r>
          </a:p>
        </p:txBody>
      </p:sp>
      <p:sp>
        <p:nvSpPr>
          <p:cNvPr id="88" name="EASTBAY PH-2 TP Phase">
            <a:extLst>
              <a:ext uri="{FF2B5EF4-FFF2-40B4-BE49-F238E27FC236}">
                <a16:creationId xmlns:a16="http://schemas.microsoft.com/office/drawing/2014/main" id="{013B27A8-653C-4F75-8E39-CA2BFF491472}"/>
              </a:ext>
            </a:extLst>
          </p:cNvPr>
          <p:cNvSpPr>
            <a:spLocks noGrp="1"/>
          </p:cNvSpPr>
          <p:nvPr/>
        </p:nvSpPr>
        <p:spPr>
          <a:xfrm>
            <a:off x="590550" y="3952875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PRE-PPP • GATE READY</a:t>
            </a:r>
          </a:p>
        </p:txBody>
      </p:sp>
      <p:sp>
        <p:nvSpPr>
          <p:cNvPr id="89" name="EASTBAY PH-2 TP Phase Detail">
            <a:extLst>
              <a:ext uri="{FF2B5EF4-FFF2-40B4-BE49-F238E27FC236}">
                <a16:creationId xmlns:a16="http://schemas.microsoft.com/office/drawing/2014/main" id="{84A1F7F5-2184-44A5-98B8-190FF66DB2A1}"/>
              </a:ext>
            </a:extLst>
          </p:cNvPr>
          <p:cNvSpPr>
            <a:spLocks noGrp="1"/>
          </p:cNvSpPr>
          <p:nvPr/>
        </p:nvSpPr>
        <p:spPr>
          <a:xfrm>
            <a:off x="590550" y="4114800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PPP START  01 SEP 2026</a:t>
            </a:r>
          </a:p>
        </p:txBody>
      </p:sp>
      <p:sp>
        <p:nvSpPr>
          <p:cNvPr id="90" name="EASTBAY PH-2 TP Mini Phase 1">
            <a:extLst>
              <a:ext uri="{FF2B5EF4-FFF2-40B4-BE49-F238E27FC236}">
                <a16:creationId xmlns:a16="http://schemas.microsoft.com/office/drawing/2014/main" id="{28BB5FF9-1A4D-41DA-B37C-F71D46E88002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517071" cy="66675"/>
          </a:xfrm>
          <a:prstGeom prst="rect">
            <a:avLst/>
          </a:prstGeom>
          <a:solidFill>
            <a:srgbClr val="DDEBF4"/>
          </a:solidFill>
          <a:ln w="6668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EASTBAY PH-2 TP Mini Phase 2">
            <a:extLst>
              <a:ext uri="{FF2B5EF4-FFF2-40B4-BE49-F238E27FC236}">
                <a16:creationId xmlns:a16="http://schemas.microsoft.com/office/drawing/2014/main" id="{16D991BB-3C75-4896-9764-24A184BD9A22}"/>
              </a:ext>
            </a:extLst>
          </p:cNvPr>
          <p:cNvSpPr>
            <a:spLocks noGrp="1"/>
          </p:cNvSpPr>
          <p:nvPr/>
        </p:nvSpPr>
        <p:spPr>
          <a:xfrm>
            <a:off x="1202871" y="4257675"/>
            <a:ext cx="775607" cy="66675"/>
          </a:xfrm>
          <a:prstGeom prst="rect">
            <a:avLst/>
          </a:prstGeom>
          <a:solidFill>
            <a:srgbClr val="DDF5F9"/>
          </a:solidFill>
          <a:ln w="6668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EASTBAY PH-2 TP Mini Phase 3">
            <a:extLst>
              <a:ext uri="{FF2B5EF4-FFF2-40B4-BE49-F238E27FC236}">
                <a16:creationId xmlns:a16="http://schemas.microsoft.com/office/drawing/2014/main" id="{A8F30949-1D40-44C5-AD59-A9BB7C527335}"/>
              </a:ext>
            </a:extLst>
          </p:cNvPr>
          <p:cNvSpPr>
            <a:spLocks noGrp="1"/>
          </p:cNvSpPr>
          <p:nvPr/>
        </p:nvSpPr>
        <p:spPr>
          <a:xfrm>
            <a:off x="1978479" y="4257675"/>
            <a:ext cx="517071" cy="66675"/>
          </a:xfrm>
          <a:prstGeom prst="rect">
            <a:avLst/>
          </a:prstGeom>
          <a:solidFill>
            <a:srgbClr val="DFF3EC"/>
          </a:solidFill>
          <a:ln w="6668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EASTBAY PH-2 TP Today Marker Line">
            <a:extLst>
              <a:ext uri="{FF2B5EF4-FFF2-40B4-BE49-F238E27FC236}">
                <a16:creationId xmlns:a16="http://schemas.microsoft.com/office/drawing/2014/main" id="{29F0AFA5-B822-4EEC-9371-09A1F16ABE2A}"/>
              </a:ext>
            </a:extLst>
          </p:cNvPr>
          <p:cNvSpPr>
            <a:spLocks noGrp="1"/>
          </p:cNvSpPr>
          <p:nvPr/>
        </p:nvSpPr>
        <p:spPr>
          <a:xfrm>
            <a:off x="1117854" y="4210050"/>
            <a:ext cx="19050" cy="171450"/>
          </a:xfrm>
          <a:prstGeom prst="rect">
            <a:avLst/>
          </a:prstGeom>
          <a:solidFill>
            <a:srgbClr val="E63950"/>
          </a:solidFill>
          <a:ln w="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EASTBAY PH-2 TP Today Marker Dot">
            <a:extLst>
              <a:ext uri="{FF2B5EF4-FFF2-40B4-BE49-F238E27FC236}">
                <a16:creationId xmlns:a16="http://schemas.microsoft.com/office/drawing/2014/main" id="{632A8EE6-BDD1-4481-A944-827C8B11E317}"/>
              </a:ext>
            </a:extLst>
          </p:cNvPr>
          <p:cNvSpPr>
            <a:spLocks noGrp="1"/>
          </p:cNvSpPr>
          <p:nvPr/>
        </p:nvSpPr>
        <p:spPr>
          <a:xfrm>
            <a:off x="1089279" y="4286250"/>
            <a:ext cx="76200" cy="76200"/>
          </a:xfrm>
          <a:prstGeom prst="ellipse">
            <a:avLst/>
          </a:prstGeom>
          <a:solidFill>
            <a:srgbClr val="E6395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EASTBAY PH-2 TP Milestone Rail">
            <a:extLst>
              <a:ext uri="{FF2B5EF4-FFF2-40B4-BE49-F238E27FC236}">
                <a16:creationId xmlns:a16="http://schemas.microsoft.com/office/drawing/2014/main" id="{206F0941-113A-40AD-B393-10612B9237A0}"/>
              </a:ext>
            </a:extLst>
          </p:cNvPr>
          <p:cNvSpPr>
            <a:spLocks noGrp="1"/>
          </p:cNvSpPr>
          <p:nvPr/>
        </p:nvSpPr>
        <p:spPr>
          <a:xfrm>
            <a:off x="2771775" y="4067175"/>
            <a:ext cx="8505825" cy="38100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Milestone achieved Dot">
            <a:extLst>
              <a:ext uri="{FF2B5EF4-FFF2-40B4-BE49-F238E27FC236}">
                <a16:creationId xmlns:a16="http://schemas.microsoft.com/office/drawing/2014/main" id="{27F7ADE1-3878-4B0A-932C-613B77CD3685}"/>
              </a:ext>
            </a:extLst>
          </p:cNvPr>
          <p:cNvSpPr>
            <a:spLocks noGrp="1"/>
          </p:cNvSpPr>
          <p:nvPr/>
        </p:nvSpPr>
        <p:spPr>
          <a:xfrm>
            <a:off x="2890838" y="39528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Milestone achieved Symbol">
            <a:extLst>
              <a:ext uri="{FF2B5EF4-FFF2-40B4-BE49-F238E27FC236}">
                <a16:creationId xmlns:a16="http://schemas.microsoft.com/office/drawing/2014/main" id="{03FD7E4C-B665-4C0C-8255-41F36F41370A}"/>
              </a:ext>
            </a:extLst>
          </p:cNvPr>
          <p:cNvSpPr>
            <a:spLocks noGrp="1"/>
          </p:cNvSpPr>
          <p:nvPr/>
        </p:nvSpPr>
        <p:spPr>
          <a:xfrm>
            <a:off x="2919413" y="3962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8" name="Milestone achieved Dot">
            <a:extLst>
              <a:ext uri="{FF2B5EF4-FFF2-40B4-BE49-F238E27FC236}">
                <a16:creationId xmlns:a16="http://schemas.microsoft.com/office/drawing/2014/main" id="{89F179D1-CCC9-402E-B798-FD29D0A18CCB}"/>
              </a:ext>
            </a:extLst>
          </p:cNvPr>
          <p:cNvSpPr>
            <a:spLocks noGrp="1"/>
          </p:cNvSpPr>
          <p:nvPr/>
        </p:nvSpPr>
        <p:spPr>
          <a:xfrm>
            <a:off x="3890963" y="39528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Milestone achieved Symbol">
            <a:extLst>
              <a:ext uri="{FF2B5EF4-FFF2-40B4-BE49-F238E27FC236}">
                <a16:creationId xmlns:a16="http://schemas.microsoft.com/office/drawing/2014/main" id="{FA23A4E3-774A-4A9B-868B-3B3202DE76A4}"/>
              </a:ext>
            </a:extLst>
          </p:cNvPr>
          <p:cNvSpPr>
            <a:spLocks noGrp="1"/>
          </p:cNvSpPr>
          <p:nvPr/>
        </p:nvSpPr>
        <p:spPr>
          <a:xfrm>
            <a:off x="3919538" y="3962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0" name="Milestone ahead Dot">
            <a:extLst>
              <a:ext uri="{FF2B5EF4-FFF2-40B4-BE49-F238E27FC236}">
                <a16:creationId xmlns:a16="http://schemas.microsoft.com/office/drawing/2014/main" id="{F49F63E3-46EE-46A7-B630-51B983D93D79}"/>
              </a:ext>
            </a:extLst>
          </p:cNvPr>
          <p:cNvSpPr>
            <a:spLocks noGrp="1"/>
          </p:cNvSpPr>
          <p:nvPr/>
        </p:nvSpPr>
        <p:spPr>
          <a:xfrm>
            <a:off x="4891088" y="3952875"/>
            <a:ext cx="266700" cy="266700"/>
          </a:xfrm>
          <a:prstGeom prst="ellipse">
            <a:avLst/>
          </a:prstGeom>
          <a:solidFill>
            <a:srgbClr val="007DA7"/>
          </a:solidFill>
          <a:ln w="19050">
            <a:solidFill>
              <a:srgbClr val="007D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Milestone ahead Symbol">
            <a:extLst>
              <a:ext uri="{FF2B5EF4-FFF2-40B4-BE49-F238E27FC236}">
                <a16:creationId xmlns:a16="http://schemas.microsoft.com/office/drawing/2014/main" id="{27BBDEBB-72E6-4C1B-81C8-C9706631E2B9}"/>
              </a:ext>
            </a:extLst>
          </p:cNvPr>
          <p:cNvSpPr>
            <a:spLocks noGrp="1"/>
          </p:cNvSpPr>
          <p:nvPr/>
        </p:nvSpPr>
        <p:spPr>
          <a:xfrm>
            <a:off x="4919663" y="3962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2" name="Milestone upcoming Dot">
            <a:extLst>
              <a:ext uri="{FF2B5EF4-FFF2-40B4-BE49-F238E27FC236}">
                <a16:creationId xmlns:a16="http://schemas.microsoft.com/office/drawing/2014/main" id="{D9D0914C-0AA7-48CD-886F-C3860C89119A}"/>
              </a:ext>
            </a:extLst>
          </p:cNvPr>
          <p:cNvSpPr>
            <a:spLocks noGrp="1"/>
          </p:cNvSpPr>
          <p:nvPr/>
        </p:nvSpPr>
        <p:spPr>
          <a:xfrm>
            <a:off x="5891213" y="3952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Milestone upcoming Dot">
            <a:extLst>
              <a:ext uri="{FF2B5EF4-FFF2-40B4-BE49-F238E27FC236}">
                <a16:creationId xmlns:a16="http://schemas.microsoft.com/office/drawing/2014/main" id="{DA397178-F114-4EA7-A0EA-71A51404BBCD}"/>
              </a:ext>
            </a:extLst>
          </p:cNvPr>
          <p:cNvSpPr>
            <a:spLocks noGrp="1"/>
          </p:cNvSpPr>
          <p:nvPr/>
        </p:nvSpPr>
        <p:spPr>
          <a:xfrm>
            <a:off x="6891338" y="3952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Milestone upcoming Dot">
            <a:extLst>
              <a:ext uri="{FF2B5EF4-FFF2-40B4-BE49-F238E27FC236}">
                <a16:creationId xmlns:a16="http://schemas.microsoft.com/office/drawing/2014/main" id="{D7FF4B66-B8FC-48D7-86F0-1DE822D0C7FB}"/>
              </a:ext>
            </a:extLst>
          </p:cNvPr>
          <p:cNvSpPr>
            <a:spLocks noGrp="1"/>
          </p:cNvSpPr>
          <p:nvPr/>
        </p:nvSpPr>
        <p:spPr>
          <a:xfrm>
            <a:off x="7891463" y="3952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Milestone upcoming Dot">
            <a:extLst>
              <a:ext uri="{FF2B5EF4-FFF2-40B4-BE49-F238E27FC236}">
                <a16:creationId xmlns:a16="http://schemas.microsoft.com/office/drawing/2014/main" id="{D716E9ED-A3ED-4F80-856C-7FDD09C54ADC}"/>
              </a:ext>
            </a:extLst>
          </p:cNvPr>
          <p:cNvSpPr>
            <a:spLocks noGrp="1"/>
          </p:cNvSpPr>
          <p:nvPr/>
        </p:nvSpPr>
        <p:spPr>
          <a:xfrm>
            <a:off x="8891588" y="3952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Milestone upcoming Dot">
            <a:extLst>
              <a:ext uri="{FF2B5EF4-FFF2-40B4-BE49-F238E27FC236}">
                <a16:creationId xmlns:a16="http://schemas.microsoft.com/office/drawing/2014/main" id="{61461232-E5D6-4758-A307-568039DE7C26}"/>
              </a:ext>
            </a:extLst>
          </p:cNvPr>
          <p:cNvSpPr>
            <a:spLocks noGrp="1"/>
          </p:cNvSpPr>
          <p:nvPr/>
        </p:nvSpPr>
        <p:spPr>
          <a:xfrm>
            <a:off x="9891713" y="3952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Milestone upcoming Dot">
            <a:extLst>
              <a:ext uri="{FF2B5EF4-FFF2-40B4-BE49-F238E27FC236}">
                <a16:creationId xmlns:a16="http://schemas.microsoft.com/office/drawing/2014/main" id="{C7D0C2C9-0491-46C9-9554-88C5159B6E13}"/>
              </a:ext>
            </a:extLst>
          </p:cNvPr>
          <p:cNvSpPr>
            <a:spLocks noGrp="1"/>
          </p:cNvSpPr>
          <p:nvPr/>
        </p:nvSpPr>
        <p:spPr>
          <a:xfrm>
            <a:off x="10891838" y="3952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EASTBAY PH-2 TP Comparison">
            <a:extLst>
              <a:ext uri="{FF2B5EF4-FFF2-40B4-BE49-F238E27FC236}">
                <a16:creationId xmlns:a16="http://schemas.microsoft.com/office/drawing/2014/main" id="{7CA5D358-0E84-4AD7-82F4-A24352520F65}"/>
              </a:ext>
            </a:extLst>
          </p:cNvPr>
          <p:cNvSpPr>
            <a:spLocks noGrp="1"/>
          </p:cNvSpPr>
          <p:nvPr/>
        </p:nvSpPr>
        <p:spPr>
          <a:xfrm>
            <a:off x="2581275" y="4305300"/>
            <a:ext cx="8886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F"/>
                </a:solidFill>
                <a:latin typeface="Aptos"/>
                <a:ea typeface="Aptos"/>
                <a:cs typeface="Aptos"/>
              </a:rPr>
              <a:t>All Pre-PPP milestones are complete; prepare the SAP-PM transition.</a:t>
            </a:r>
          </a:p>
        </p:txBody>
      </p:sp>
      <p:sp>
        <p:nvSpPr>
          <p:cNvPr id="109" name="KAYSAKAT TP Label Area">
            <a:extLst>
              <a:ext uri="{FF2B5EF4-FFF2-40B4-BE49-F238E27FC236}">
                <a16:creationId xmlns:a16="http://schemas.microsoft.com/office/drawing/2014/main" id="{E8BDA28C-79B8-477A-BAFF-A1FB485F1493}"/>
              </a:ext>
            </a:extLst>
          </p:cNvPr>
          <p:cNvSpPr>
            <a:spLocks noGrp="1"/>
          </p:cNvSpPr>
          <p:nvPr/>
        </p:nvSpPr>
        <p:spPr>
          <a:xfrm>
            <a:off x="457200" y="4495800"/>
            <a:ext cx="2266950" cy="781050"/>
          </a:xfrm>
          <a:prstGeom prst="roundRect">
            <a:avLst>
              <a:gd name="adj" fmla="val 7317"/>
            </a:avLst>
          </a:prstGeom>
          <a:solidFill>
            <a:srgbClr val="FDECEF"/>
          </a:solidFill>
          <a:ln w="9525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KAYSAKAT TP Name">
            <a:extLst>
              <a:ext uri="{FF2B5EF4-FFF2-40B4-BE49-F238E27FC236}">
                <a16:creationId xmlns:a16="http://schemas.microsoft.com/office/drawing/2014/main" id="{626975A6-8656-4117-9EC7-6935D0F66825}"/>
              </a:ext>
            </a:extLst>
          </p:cNvPr>
          <p:cNvSpPr>
            <a:spLocks noGrp="1"/>
          </p:cNvSpPr>
          <p:nvPr/>
        </p:nvSpPr>
        <p:spPr>
          <a:xfrm>
            <a:off x="590550" y="4562475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>
              <a:defRPr sz="14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KAYSAKAT TP</a:t>
            </a:r>
          </a:p>
        </p:txBody>
      </p:sp>
      <p:sp>
        <p:nvSpPr>
          <p:cNvPr id="111" name="KAYSAKAT TP Phase">
            <a:extLst>
              <a:ext uri="{FF2B5EF4-FFF2-40B4-BE49-F238E27FC236}">
                <a16:creationId xmlns:a16="http://schemas.microsoft.com/office/drawing/2014/main" id="{6BDAE9B5-10B1-444D-ACA7-A7F3C54CE2C6}"/>
              </a:ext>
            </a:extLst>
          </p:cNvPr>
          <p:cNvSpPr>
            <a:spLocks noGrp="1"/>
          </p:cNvSpPr>
          <p:nvPr/>
        </p:nvSpPr>
        <p:spPr>
          <a:xfrm>
            <a:off x="590550" y="4752975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PRE-PPP • RECOVERY</a:t>
            </a:r>
          </a:p>
        </p:txBody>
      </p:sp>
      <p:sp>
        <p:nvSpPr>
          <p:cNvPr id="112" name="KAYSAKAT TP Phase Detail">
            <a:extLst>
              <a:ext uri="{FF2B5EF4-FFF2-40B4-BE49-F238E27FC236}">
                <a16:creationId xmlns:a16="http://schemas.microsoft.com/office/drawing/2014/main" id="{41AFC5CE-FB10-4B78-B728-EFB96FA4CC98}"/>
              </a:ext>
            </a:extLst>
          </p:cNvPr>
          <p:cNvSpPr>
            <a:spLocks noGrp="1"/>
          </p:cNvSpPr>
          <p:nvPr/>
        </p:nvSpPr>
        <p:spPr>
          <a:xfrm>
            <a:off x="590550" y="4914900"/>
            <a:ext cx="20002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42" lnSpcReduction="10000"/>
          </a:bodyPr>
          <a:lstStyle/>
          <a:p>
            <a:pPr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PPP START  01 SEP 2026</a:t>
            </a:r>
          </a:p>
        </p:txBody>
      </p:sp>
      <p:sp>
        <p:nvSpPr>
          <p:cNvPr id="113" name="KAYSAKAT TP Mini Phase 1">
            <a:extLst>
              <a:ext uri="{FF2B5EF4-FFF2-40B4-BE49-F238E27FC236}">
                <a16:creationId xmlns:a16="http://schemas.microsoft.com/office/drawing/2014/main" id="{DBBBD3AE-5929-40CD-8FAC-1733AAC00ACF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517071" cy="66675"/>
          </a:xfrm>
          <a:prstGeom prst="rect">
            <a:avLst/>
          </a:prstGeom>
          <a:solidFill>
            <a:srgbClr val="DDEBF4"/>
          </a:solidFill>
          <a:ln w="6668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KAYSAKAT TP Mini Phase 2">
            <a:extLst>
              <a:ext uri="{FF2B5EF4-FFF2-40B4-BE49-F238E27FC236}">
                <a16:creationId xmlns:a16="http://schemas.microsoft.com/office/drawing/2014/main" id="{04FD4CCE-421F-4380-B02C-E2E911D399A6}"/>
              </a:ext>
            </a:extLst>
          </p:cNvPr>
          <p:cNvSpPr>
            <a:spLocks noGrp="1"/>
          </p:cNvSpPr>
          <p:nvPr/>
        </p:nvSpPr>
        <p:spPr>
          <a:xfrm>
            <a:off x="1202871" y="5057775"/>
            <a:ext cx="775607" cy="66675"/>
          </a:xfrm>
          <a:prstGeom prst="rect">
            <a:avLst/>
          </a:prstGeom>
          <a:solidFill>
            <a:srgbClr val="DDF5F9"/>
          </a:solidFill>
          <a:ln w="6668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KAYSAKAT TP Mini Phase 3">
            <a:extLst>
              <a:ext uri="{FF2B5EF4-FFF2-40B4-BE49-F238E27FC236}">
                <a16:creationId xmlns:a16="http://schemas.microsoft.com/office/drawing/2014/main" id="{1035B7DB-1E01-451E-9B4A-A4A7961EFBCC}"/>
              </a:ext>
            </a:extLst>
          </p:cNvPr>
          <p:cNvSpPr>
            <a:spLocks noGrp="1"/>
          </p:cNvSpPr>
          <p:nvPr/>
        </p:nvSpPr>
        <p:spPr>
          <a:xfrm>
            <a:off x="1978479" y="5057775"/>
            <a:ext cx="517071" cy="66675"/>
          </a:xfrm>
          <a:prstGeom prst="rect">
            <a:avLst/>
          </a:prstGeom>
          <a:solidFill>
            <a:srgbClr val="DFF3EC"/>
          </a:solidFill>
          <a:ln w="6668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KAYSAKAT TP Today Marker Line">
            <a:extLst>
              <a:ext uri="{FF2B5EF4-FFF2-40B4-BE49-F238E27FC236}">
                <a16:creationId xmlns:a16="http://schemas.microsoft.com/office/drawing/2014/main" id="{175417F3-8A7D-46C7-A82C-D21791375278}"/>
              </a:ext>
            </a:extLst>
          </p:cNvPr>
          <p:cNvSpPr>
            <a:spLocks noGrp="1"/>
          </p:cNvSpPr>
          <p:nvPr/>
        </p:nvSpPr>
        <p:spPr>
          <a:xfrm>
            <a:off x="1117854" y="5010150"/>
            <a:ext cx="19050" cy="171450"/>
          </a:xfrm>
          <a:prstGeom prst="rect">
            <a:avLst/>
          </a:prstGeom>
          <a:solidFill>
            <a:srgbClr val="E63950"/>
          </a:solidFill>
          <a:ln w="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KAYSAKAT TP Today Marker Dot">
            <a:extLst>
              <a:ext uri="{FF2B5EF4-FFF2-40B4-BE49-F238E27FC236}">
                <a16:creationId xmlns:a16="http://schemas.microsoft.com/office/drawing/2014/main" id="{320E9CC5-58A3-4CE6-BEDB-B1EE26227490}"/>
              </a:ext>
            </a:extLst>
          </p:cNvPr>
          <p:cNvSpPr>
            <a:spLocks noGrp="1"/>
          </p:cNvSpPr>
          <p:nvPr/>
        </p:nvSpPr>
        <p:spPr>
          <a:xfrm>
            <a:off x="1089279" y="5086350"/>
            <a:ext cx="76200" cy="76200"/>
          </a:xfrm>
          <a:prstGeom prst="ellipse">
            <a:avLst/>
          </a:prstGeom>
          <a:solidFill>
            <a:srgbClr val="E63950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KAYSAKAT TP Milestone Rail">
            <a:extLst>
              <a:ext uri="{FF2B5EF4-FFF2-40B4-BE49-F238E27FC236}">
                <a16:creationId xmlns:a16="http://schemas.microsoft.com/office/drawing/2014/main" id="{BA89B7D7-E738-4473-A796-8B902237C3A2}"/>
              </a:ext>
            </a:extLst>
          </p:cNvPr>
          <p:cNvSpPr>
            <a:spLocks noGrp="1"/>
          </p:cNvSpPr>
          <p:nvPr/>
        </p:nvSpPr>
        <p:spPr>
          <a:xfrm>
            <a:off x="2771775" y="4867275"/>
            <a:ext cx="8505825" cy="38100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Milestone achieved Dot">
            <a:extLst>
              <a:ext uri="{FF2B5EF4-FFF2-40B4-BE49-F238E27FC236}">
                <a16:creationId xmlns:a16="http://schemas.microsoft.com/office/drawing/2014/main" id="{6824B2EF-AC48-4DF8-AF6D-8C31B21202D9}"/>
              </a:ext>
            </a:extLst>
          </p:cNvPr>
          <p:cNvSpPr>
            <a:spLocks noGrp="1"/>
          </p:cNvSpPr>
          <p:nvPr/>
        </p:nvSpPr>
        <p:spPr>
          <a:xfrm>
            <a:off x="2890838" y="47529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Milestone achieved Symbol">
            <a:extLst>
              <a:ext uri="{FF2B5EF4-FFF2-40B4-BE49-F238E27FC236}">
                <a16:creationId xmlns:a16="http://schemas.microsoft.com/office/drawing/2014/main" id="{F6DCA1E0-0DB0-42EA-A1FD-AE5431884241}"/>
              </a:ext>
            </a:extLst>
          </p:cNvPr>
          <p:cNvSpPr>
            <a:spLocks noGrp="1"/>
          </p:cNvSpPr>
          <p:nvPr/>
        </p:nvSpPr>
        <p:spPr>
          <a:xfrm>
            <a:off x="2919413" y="4762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1" name="Milestone gap Dot">
            <a:extLst>
              <a:ext uri="{FF2B5EF4-FFF2-40B4-BE49-F238E27FC236}">
                <a16:creationId xmlns:a16="http://schemas.microsoft.com/office/drawing/2014/main" id="{58943BC1-9679-4D22-A675-F5CC1A2F494D}"/>
              </a:ext>
            </a:extLst>
          </p:cNvPr>
          <p:cNvSpPr>
            <a:spLocks noGrp="1"/>
          </p:cNvSpPr>
          <p:nvPr/>
        </p:nvSpPr>
        <p:spPr>
          <a:xfrm>
            <a:off x="3890963" y="4752975"/>
            <a:ext cx="266700" cy="266700"/>
          </a:xfrm>
          <a:prstGeom prst="ellipse">
            <a:avLst/>
          </a:prstGeom>
          <a:solidFill>
            <a:srgbClr val="FDECEF"/>
          </a:solidFill>
          <a:ln w="1905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Milestone gap Symbol">
            <a:extLst>
              <a:ext uri="{FF2B5EF4-FFF2-40B4-BE49-F238E27FC236}">
                <a16:creationId xmlns:a16="http://schemas.microsoft.com/office/drawing/2014/main" id="{C7DADBE7-A9A3-48BB-8978-8D09DF54E242}"/>
              </a:ext>
            </a:extLst>
          </p:cNvPr>
          <p:cNvSpPr>
            <a:spLocks noGrp="1"/>
          </p:cNvSpPr>
          <p:nvPr/>
        </p:nvSpPr>
        <p:spPr>
          <a:xfrm>
            <a:off x="3919538" y="4762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23" name="Milestone gap Dot">
            <a:extLst>
              <a:ext uri="{FF2B5EF4-FFF2-40B4-BE49-F238E27FC236}">
                <a16:creationId xmlns:a16="http://schemas.microsoft.com/office/drawing/2014/main" id="{1AE8BD41-2DCE-4EC0-9568-1485E4D9F5EF}"/>
              </a:ext>
            </a:extLst>
          </p:cNvPr>
          <p:cNvSpPr>
            <a:spLocks noGrp="1"/>
          </p:cNvSpPr>
          <p:nvPr/>
        </p:nvSpPr>
        <p:spPr>
          <a:xfrm>
            <a:off x="4891088" y="4752975"/>
            <a:ext cx="266700" cy="266700"/>
          </a:xfrm>
          <a:prstGeom prst="ellipse">
            <a:avLst/>
          </a:prstGeom>
          <a:solidFill>
            <a:srgbClr val="FDECEF"/>
          </a:solidFill>
          <a:ln w="1905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Milestone gap Symbol">
            <a:extLst>
              <a:ext uri="{FF2B5EF4-FFF2-40B4-BE49-F238E27FC236}">
                <a16:creationId xmlns:a16="http://schemas.microsoft.com/office/drawing/2014/main" id="{EF04B5FF-D9E0-43C0-9DDF-A6BD1EECD874}"/>
              </a:ext>
            </a:extLst>
          </p:cNvPr>
          <p:cNvSpPr>
            <a:spLocks noGrp="1"/>
          </p:cNvSpPr>
          <p:nvPr/>
        </p:nvSpPr>
        <p:spPr>
          <a:xfrm>
            <a:off x="4919663" y="4762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25" name="Milestone upcoming Dot">
            <a:extLst>
              <a:ext uri="{FF2B5EF4-FFF2-40B4-BE49-F238E27FC236}">
                <a16:creationId xmlns:a16="http://schemas.microsoft.com/office/drawing/2014/main" id="{57E9BF9B-551E-4352-92FA-AD17EE275FED}"/>
              </a:ext>
            </a:extLst>
          </p:cNvPr>
          <p:cNvSpPr>
            <a:spLocks noGrp="1"/>
          </p:cNvSpPr>
          <p:nvPr/>
        </p:nvSpPr>
        <p:spPr>
          <a:xfrm>
            <a:off x="5891213" y="47529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Milestone upcoming Dot">
            <a:extLst>
              <a:ext uri="{FF2B5EF4-FFF2-40B4-BE49-F238E27FC236}">
                <a16:creationId xmlns:a16="http://schemas.microsoft.com/office/drawing/2014/main" id="{61964F17-6BA8-40FA-9A18-1B3BA7C721D8}"/>
              </a:ext>
            </a:extLst>
          </p:cNvPr>
          <p:cNvSpPr>
            <a:spLocks noGrp="1"/>
          </p:cNvSpPr>
          <p:nvPr/>
        </p:nvSpPr>
        <p:spPr>
          <a:xfrm>
            <a:off x="6891338" y="47529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Milestone upcoming Dot">
            <a:extLst>
              <a:ext uri="{FF2B5EF4-FFF2-40B4-BE49-F238E27FC236}">
                <a16:creationId xmlns:a16="http://schemas.microsoft.com/office/drawing/2014/main" id="{AC5356C0-903C-40AE-9B3C-766B36AE6326}"/>
              </a:ext>
            </a:extLst>
          </p:cNvPr>
          <p:cNvSpPr>
            <a:spLocks noGrp="1"/>
          </p:cNvSpPr>
          <p:nvPr/>
        </p:nvSpPr>
        <p:spPr>
          <a:xfrm>
            <a:off x="7891463" y="47529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Milestone upcoming Dot">
            <a:extLst>
              <a:ext uri="{FF2B5EF4-FFF2-40B4-BE49-F238E27FC236}">
                <a16:creationId xmlns:a16="http://schemas.microsoft.com/office/drawing/2014/main" id="{F653E713-BAB6-46EA-8C60-16C9DDEC08E5}"/>
              </a:ext>
            </a:extLst>
          </p:cNvPr>
          <p:cNvSpPr>
            <a:spLocks noGrp="1"/>
          </p:cNvSpPr>
          <p:nvPr/>
        </p:nvSpPr>
        <p:spPr>
          <a:xfrm>
            <a:off x="8891588" y="47529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Milestone upcoming Dot">
            <a:extLst>
              <a:ext uri="{FF2B5EF4-FFF2-40B4-BE49-F238E27FC236}">
                <a16:creationId xmlns:a16="http://schemas.microsoft.com/office/drawing/2014/main" id="{5B59504B-A6E3-431F-A287-6FB9184B0541}"/>
              </a:ext>
            </a:extLst>
          </p:cNvPr>
          <p:cNvSpPr>
            <a:spLocks noGrp="1"/>
          </p:cNvSpPr>
          <p:nvPr/>
        </p:nvSpPr>
        <p:spPr>
          <a:xfrm>
            <a:off x="9891713" y="47529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Milestone upcoming Dot">
            <a:extLst>
              <a:ext uri="{FF2B5EF4-FFF2-40B4-BE49-F238E27FC236}">
                <a16:creationId xmlns:a16="http://schemas.microsoft.com/office/drawing/2014/main" id="{5F218306-A1D8-4E67-A56E-EAA6191100E9}"/>
              </a:ext>
            </a:extLst>
          </p:cNvPr>
          <p:cNvSpPr>
            <a:spLocks noGrp="1"/>
          </p:cNvSpPr>
          <p:nvPr/>
        </p:nvSpPr>
        <p:spPr>
          <a:xfrm>
            <a:off x="10891838" y="47529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KAYSAKAT TP Comparison">
            <a:extLst>
              <a:ext uri="{FF2B5EF4-FFF2-40B4-BE49-F238E27FC236}">
                <a16:creationId xmlns:a16="http://schemas.microsoft.com/office/drawing/2014/main" id="{C66C22B7-0BF4-4BB9-80F2-1294565EE56A}"/>
              </a:ext>
            </a:extLst>
          </p:cNvPr>
          <p:cNvSpPr>
            <a:spLocks noGrp="1"/>
          </p:cNvSpPr>
          <p:nvPr/>
        </p:nvSpPr>
        <p:spPr>
          <a:xfrm>
            <a:off x="2581275" y="5105400"/>
            <a:ext cx="8886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Wet/dry commissioning and defect closure must finish before PPP.</a:t>
            </a:r>
          </a:p>
        </p:txBody>
      </p:sp>
      <p:sp>
        <p:nvSpPr>
          <p:cNvPr id="132" name="Legend Background">
            <a:extLst>
              <a:ext uri="{FF2B5EF4-FFF2-40B4-BE49-F238E27FC236}">
                <a16:creationId xmlns:a16="http://schemas.microsoft.com/office/drawing/2014/main" id="{31C930D9-248B-4FC9-95C2-9ACC14A07162}"/>
              </a:ext>
            </a:extLst>
          </p:cNvPr>
          <p:cNvSpPr>
            <a:spLocks noGrp="1"/>
          </p:cNvSpPr>
          <p:nvPr/>
        </p:nvSpPr>
        <p:spPr>
          <a:xfrm>
            <a:off x="457200" y="5381625"/>
            <a:ext cx="11068050" cy="457200"/>
          </a:xfrm>
          <a:prstGeom prst="roundRect">
            <a:avLst>
              <a:gd name="adj" fmla="val 12500"/>
            </a:avLst>
          </a:prstGeom>
          <a:solidFill>
            <a:srgbClr val="F4F7F9"/>
          </a:solidFill>
          <a:ln w="762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Milestone achieved Dot">
            <a:extLst>
              <a:ext uri="{FF2B5EF4-FFF2-40B4-BE49-F238E27FC236}">
                <a16:creationId xmlns:a16="http://schemas.microsoft.com/office/drawing/2014/main" id="{CE7BE209-303D-4EB4-B640-5543C7DF5FF0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266700" cy="266700"/>
          </a:xfrm>
          <a:prstGeom prst="ellipse">
            <a:avLst/>
          </a:prstGeom>
          <a:solidFill>
            <a:srgbClr val="169873"/>
          </a:solidFill>
          <a:ln w="1905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Milestone achieved Symbol">
            <a:extLst>
              <a:ext uri="{FF2B5EF4-FFF2-40B4-BE49-F238E27FC236}">
                <a16:creationId xmlns:a16="http://schemas.microsoft.com/office/drawing/2014/main" id="{7E5BA95E-52A1-44B0-8A72-54F60039818A}"/>
              </a:ext>
            </a:extLst>
          </p:cNvPr>
          <p:cNvSpPr>
            <a:spLocks noGrp="1"/>
          </p:cNvSpPr>
          <p:nvPr/>
        </p:nvSpPr>
        <p:spPr>
          <a:xfrm>
            <a:off x="676275" y="5486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5" name="Legend achieved">
            <a:extLst>
              <a:ext uri="{FF2B5EF4-FFF2-40B4-BE49-F238E27FC236}">
                <a16:creationId xmlns:a16="http://schemas.microsoft.com/office/drawing/2014/main" id="{A250D5D3-A9B4-404F-9A86-60E3321B14DB}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2143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Achieved as planned</a:t>
            </a:r>
          </a:p>
        </p:txBody>
      </p:sp>
      <p:sp>
        <p:nvSpPr>
          <p:cNvPr id="136" name="Milestone gap Dot">
            <a:extLst>
              <a:ext uri="{FF2B5EF4-FFF2-40B4-BE49-F238E27FC236}">
                <a16:creationId xmlns:a16="http://schemas.microsoft.com/office/drawing/2014/main" id="{933B4168-7726-45A7-BAAA-DC7BF2BBF93C}"/>
              </a:ext>
            </a:extLst>
          </p:cNvPr>
          <p:cNvSpPr>
            <a:spLocks noGrp="1"/>
          </p:cNvSpPr>
          <p:nvPr/>
        </p:nvSpPr>
        <p:spPr>
          <a:xfrm>
            <a:off x="3200400" y="5476875"/>
            <a:ext cx="266700" cy="266700"/>
          </a:xfrm>
          <a:prstGeom prst="ellipse">
            <a:avLst/>
          </a:prstGeom>
          <a:solidFill>
            <a:srgbClr val="FDECEF"/>
          </a:solidFill>
          <a:ln w="1905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Milestone gap Symbol">
            <a:extLst>
              <a:ext uri="{FF2B5EF4-FFF2-40B4-BE49-F238E27FC236}">
                <a16:creationId xmlns:a16="http://schemas.microsoft.com/office/drawing/2014/main" id="{245A50E9-8D9B-4E3F-88FD-B09717C9BCF6}"/>
              </a:ext>
            </a:extLst>
          </p:cNvPr>
          <p:cNvSpPr>
            <a:spLocks noGrp="1"/>
          </p:cNvSpPr>
          <p:nvPr/>
        </p:nvSpPr>
        <p:spPr>
          <a:xfrm>
            <a:off x="3228975" y="5486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38" name="Legend gap">
            <a:extLst>
              <a:ext uri="{FF2B5EF4-FFF2-40B4-BE49-F238E27FC236}">
                <a16:creationId xmlns:a16="http://schemas.microsoft.com/office/drawing/2014/main" id="{218E0DA0-7F2C-4491-8C4D-AC6176268D8B}"/>
              </a:ext>
            </a:extLst>
          </p:cNvPr>
          <p:cNvSpPr>
            <a:spLocks noGrp="1"/>
          </p:cNvSpPr>
          <p:nvPr/>
        </p:nvSpPr>
        <p:spPr>
          <a:xfrm>
            <a:off x="3543300" y="5486400"/>
            <a:ext cx="2143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Planned by now—still open</a:t>
            </a:r>
          </a:p>
        </p:txBody>
      </p:sp>
      <p:sp>
        <p:nvSpPr>
          <p:cNvPr id="139" name="Milestone ahead Dot">
            <a:extLst>
              <a:ext uri="{FF2B5EF4-FFF2-40B4-BE49-F238E27FC236}">
                <a16:creationId xmlns:a16="http://schemas.microsoft.com/office/drawing/2014/main" id="{01F004A4-A636-4B4B-B240-1CBD82533B86}"/>
              </a:ext>
            </a:extLst>
          </p:cNvPr>
          <p:cNvSpPr>
            <a:spLocks noGrp="1"/>
          </p:cNvSpPr>
          <p:nvPr/>
        </p:nvSpPr>
        <p:spPr>
          <a:xfrm>
            <a:off x="6153150" y="5476875"/>
            <a:ext cx="266700" cy="266700"/>
          </a:xfrm>
          <a:prstGeom prst="ellipse">
            <a:avLst/>
          </a:prstGeom>
          <a:solidFill>
            <a:srgbClr val="007DA7"/>
          </a:solidFill>
          <a:ln w="19050">
            <a:solidFill>
              <a:srgbClr val="007D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Milestone ahead Symbol">
            <a:extLst>
              <a:ext uri="{FF2B5EF4-FFF2-40B4-BE49-F238E27FC236}">
                <a16:creationId xmlns:a16="http://schemas.microsoft.com/office/drawing/2014/main" id="{603BAD2C-A002-47D7-A0E8-CB54BA0E5FF3}"/>
              </a:ext>
            </a:extLst>
          </p:cNvPr>
          <p:cNvSpPr>
            <a:spLocks noGrp="1"/>
          </p:cNvSpPr>
          <p:nvPr/>
        </p:nvSpPr>
        <p:spPr>
          <a:xfrm>
            <a:off x="6181725" y="54864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1" name="Legend ahead">
            <a:extLst>
              <a:ext uri="{FF2B5EF4-FFF2-40B4-BE49-F238E27FC236}">
                <a16:creationId xmlns:a16="http://schemas.microsoft.com/office/drawing/2014/main" id="{FBEC4703-3B70-49A8-9EAA-6C91EB65126E}"/>
              </a:ext>
            </a:extLst>
          </p:cNvPr>
          <p:cNvSpPr>
            <a:spLocks noGrp="1"/>
          </p:cNvSpPr>
          <p:nvPr/>
        </p:nvSpPr>
        <p:spPr>
          <a:xfrm>
            <a:off x="6496050" y="5486400"/>
            <a:ext cx="2143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Achieved ahead of plan</a:t>
            </a:r>
          </a:p>
        </p:txBody>
      </p:sp>
      <p:sp>
        <p:nvSpPr>
          <p:cNvPr id="142" name="Milestone upcoming Dot">
            <a:extLst>
              <a:ext uri="{FF2B5EF4-FFF2-40B4-BE49-F238E27FC236}">
                <a16:creationId xmlns:a16="http://schemas.microsoft.com/office/drawing/2014/main" id="{B0DC5844-C461-4D54-9CFA-C64324E478EF}"/>
              </a:ext>
            </a:extLst>
          </p:cNvPr>
          <p:cNvSpPr>
            <a:spLocks noGrp="1"/>
          </p:cNvSpPr>
          <p:nvPr/>
        </p:nvSpPr>
        <p:spPr>
          <a:xfrm>
            <a:off x="8886825" y="5476875"/>
            <a:ext cx="266700" cy="266700"/>
          </a:xfrm>
          <a:prstGeom prst="ellipse">
            <a:avLst/>
          </a:prstGeom>
          <a:solidFill>
            <a:srgbClr val="EEF2F5"/>
          </a:solidFill>
          <a:ln w="19050">
            <a:solidFill>
              <a:srgbClr val="A7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Legend upcoming">
            <a:extLst>
              <a:ext uri="{FF2B5EF4-FFF2-40B4-BE49-F238E27FC236}">
                <a16:creationId xmlns:a16="http://schemas.microsoft.com/office/drawing/2014/main" id="{90C87F95-0061-4C66-A65F-ED18DDD797EA}"/>
              </a:ext>
            </a:extLst>
          </p:cNvPr>
          <p:cNvSpPr>
            <a:spLocks noGrp="1"/>
          </p:cNvSpPr>
          <p:nvPr/>
        </p:nvSpPr>
        <p:spPr>
          <a:xfrm>
            <a:off x="9229725" y="5486400"/>
            <a:ext cx="2143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Upcoming milestone</a:t>
            </a:r>
          </a:p>
        </p:txBody>
      </p:sp>
      <p:sp>
        <p:nvSpPr>
          <p:cNvPr id="144" name="Executive Action Strip">
            <a:extLst>
              <a:ext uri="{FF2B5EF4-FFF2-40B4-BE49-F238E27FC236}">
                <a16:creationId xmlns:a16="http://schemas.microsoft.com/office/drawing/2014/main" id="{D1116EC0-36AF-4833-95C2-A85575E3087D}"/>
              </a:ext>
            </a:extLst>
          </p:cNvPr>
          <p:cNvSpPr>
            <a:spLocks noGrp="1"/>
          </p:cNvSpPr>
          <p:nvPr/>
        </p:nvSpPr>
        <p:spPr>
          <a:xfrm>
            <a:off x="457200" y="5953125"/>
            <a:ext cx="11068050" cy="504825"/>
          </a:xfrm>
          <a:prstGeom prst="roundRect">
            <a:avLst>
              <a:gd name="adj" fmla="val 11321"/>
            </a:avLst>
          </a:prstGeom>
          <a:solidFill>
            <a:srgbClr val="FDECEF"/>
          </a:solidFill>
          <a:ln w="9525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Action Label">
            <a:extLst>
              <a:ext uri="{FF2B5EF4-FFF2-40B4-BE49-F238E27FC236}">
                <a16:creationId xmlns:a16="http://schemas.microsoft.com/office/drawing/2014/main" id="{F1ADFA6C-904C-4D35-A67D-59FD5F97257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3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NEXT GATE</a:t>
            </a:r>
          </a:p>
        </p:txBody>
      </p:sp>
      <p:sp>
        <p:nvSpPr>
          <p:cNvPr id="146" name="Action Text">
            <a:extLst>
              <a:ext uri="{FF2B5EF4-FFF2-40B4-BE49-F238E27FC236}">
                <a16:creationId xmlns:a16="http://schemas.microsoft.com/office/drawing/2014/main" id="{C8035542-F749-41DD-8E66-312CECDD781F}"/>
              </a:ext>
            </a:extLst>
          </p:cNvPr>
          <p:cNvSpPr>
            <a:spLocks noGrp="1"/>
          </p:cNvSpPr>
          <p:nvPr/>
        </p:nvSpPr>
        <p:spPr>
          <a:xfrm>
            <a:off x="1771650" y="6029325"/>
            <a:ext cx="956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120"/>
          </a:bodyPr>
          <a:lstStyle/>
          <a:p>
            <a:pPr>
              <a:defRPr sz="13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Kaysakat: complete Wet/Dry Commissioning and close the Defects/Punchlist before PPP. Aglipay and HTT: close the SAP-PM task-list gap.</a:t>
            </a:r>
          </a:p>
        </p:txBody>
      </p:sp>
    </p:spTree>
    <p:extLst>
      <p:ext uri="{BB962C8B-B14F-4D97-AF65-F5344CB8AC3E}">
        <p14:creationId xmlns:p14="http://schemas.microsoft.com/office/powerpoint/2010/main" val="1566533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hase Slide Title">
            <a:extLst>
              <a:ext uri="{FF2B5EF4-FFF2-40B4-BE49-F238E27FC236}">
                <a16:creationId xmlns:a16="http://schemas.microsoft.com/office/drawing/2014/main" id="{A0CBFF32-8E5B-43A4-8570-CDEB67700B6A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11277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2600" b="1">
                <a:solidFill>
                  <a:srgbClr val="08264C"/>
                </a:solidFill>
                <a:latin typeface="Aptos Display"/>
                <a:ea typeface="Aptos Display"/>
                <a:cs typeface="Aptos Display"/>
              </a:defRPr>
            </a:pPr>
            <a:r>
              <a:rPr sz="2600" b="1">
                <a:solidFill>
                  <a:srgbClr val="08264C"/>
                </a:solidFill>
                <a:latin typeface="Aptos Display"/>
                <a:ea typeface="Aptos Display"/>
                <a:cs typeface="Aptos Display"/>
              </a:rPr>
              <a:t>Today’s position is explicit against every facility’s PPP start date</a:t>
            </a:r>
          </a:p>
        </p:txBody>
      </p:sp>
      <p:sp>
        <p:nvSpPr>
          <p:cNvPr id="2" name="Phase Slide Subtitle">
            <a:extLst>
              <a:ext uri="{FF2B5EF4-FFF2-40B4-BE49-F238E27FC236}">
                <a16:creationId xmlns:a16="http://schemas.microsoft.com/office/drawing/2014/main" id="{7D3290C4-9143-489A-966A-A79E089F6CF6}"/>
              </a:ext>
            </a:extLst>
          </p:cNvPr>
          <p:cNvSpPr>
            <a:spLocks noGrp="1"/>
          </p:cNvSpPr>
          <p:nvPr/>
        </p:nvSpPr>
        <p:spPr>
          <a:xfrm>
            <a:off x="476250" y="571500"/>
            <a:ext cx="714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40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60758A"/>
                </a:solidFill>
                <a:latin typeface="Aptos"/>
                <a:ea typeface="Aptos"/>
                <a:cs typeface="Aptos"/>
              </a:rPr>
              <a:t>Calendar-based phase timeline | 28 July 2026</a:t>
            </a:r>
          </a:p>
        </p:txBody>
      </p:sp>
      <p:sp>
        <p:nvSpPr>
          <p:cNvPr id="3" name="PRE-PPP Timeline Legend">
            <a:extLst>
              <a:ext uri="{FF2B5EF4-FFF2-40B4-BE49-F238E27FC236}">
                <a16:creationId xmlns:a16="http://schemas.microsoft.com/office/drawing/2014/main" id="{4440D1A6-631D-41F0-A01C-408CDDF271DC}"/>
              </a:ext>
            </a:extLst>
          </p:cNvPr>
          <p:cNvSpPr>
            <a:spLocks noGrp="1"/>
          </p:cNvSpPr>
          <p:nvPr/>
        </p:nvSpPr>
        <p:spPr>
          <a:xfrm>
            <a:off x="457200" y="91440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DDEBF4"/>
          </a:solidFill>
          <a:ln w="9525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RE-PPP Timeline Legend Text">
            <a:extLst>
              <a:ext uri="{FF2B5EF4-FFF2-40B4-BE49-F238E27FC236}">
                <a16:creationId xmlns:a16="http://schemas.microsoft.com/office/drawing/2014/main" id="{C4C7276C-B912-4908-9514-11523135DB7F}"/>
              </a:ext>
            </a:extLst>
          </p:cNvPr>
          <p:cNvSpPr>
            <a:spLocks noGrp="1"/>
          </p:cNvSpPr>
          <p:nvPr/>
        </p:nvSpPr>
        <p:spPr>
          <a:xfrm>
            <a:off x="590550" y="9810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6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PRE-PPP</a:t>
            </a:r>
          </a:p>
        </p:txBody>
      </p:sp>
      <p:sp>
        <p:nvSpPr>
          <p:cNvPr id="5" name="PRE-PPP Timeline Description">
            <a:extLst>
              <a:ext uri="{FF2B5EF4-FFF2-40B4-BE49-F238E27FC236}">
                <a16:creationId xmlns:a16="http://schemas.microsoft.com/office/drawing/2014/main" id="{5C600972-9ACC-4E06-9441-1186197F5837}"/>
              </a:ext>
            </a:extLst>
          </p:cNvPr>
          <p:cNvSpPr>
            <a:spLocks noGrp="1"/>
          </p:cNvSpPr>
          <p:nvPr/>
        </p:nvSpPr>
        <p:spPr>
          <a:xfrm>
            <a:off x="1885950" y="10001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Commissioning readiness</a:t>
            </a:r>
          </a:p>
        </p:txBody>
      </p:sp>
      <p:sp>
        <p:nvSpPr>
          <p:cNvPr id="6" name="PPP Timeline Legend">
            <a:extLst>
              <a:ext uri="{FF2B5EF4-FFF2-40B4-BE49-F238E27FC236}">
                <a16:creationId xmlns:a16="http://schemas.microsoft.com/office/drawing/2014/main" id="{942DB624-26EA-47B8-AC2E-1B288E5815D3}"/>
              </a:ext>
            </a:extLst>
          </p:cNvPr>
          <p:cNvSpPr>
            <a:spLocks noGrp="1"/>
          </p:cNvSpPr>
          <p:nvPr/>
        </p:nvSpPr>
        <p:spPr>
          <a:xfrm>
            <a:off x="4171950" y="91440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DDF5F9"/>
          </a:solidFill>
          <a:ln w="9525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PP Timeline Legend Text">
            <a:extLst>
              <a:ext uri="{FF2B5EF4-FFF2-40B4-BE49-F238E27FC236}">
                <a16:creationId xmlns:a16="http://schemas.microsoft.com/office/drawing/2014/main" id="{88E34737-701F-4DCC-9CA2-D13B14F4E6F6}"/>
              </a:ext>
            </a:extLst>
          </p:cNvPr>
          <p:cNvSpPr>
            <a:spLocks noGrp="1"/>
          </p:cNvSpPr>
          <p:nvPr/>
        </p:nvSpPr>
        <p:spPr>
          <a:xfrm>
            <a:off x="4305300" y="9810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6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PPP</a:t>
            </a:r>
          </a:p>
        </p:txBody>
      </p:sp>
      <p:sp>
        <p:nvSpPr>
          <p:cNvPr id="8" name="PPP Timeline Description">
            <a:extLst>
              <a:ext uri="{FF2B5EF4-FFF2-40B4-BE49-F238E27FC236}">
                <a16:creationId xmlns:a16="http://schemas.microsoft.com/office/drawing/2014/main" id="{A975331A-206F-42AF-9247-15FC915501CA}"/>
              </a:ext>
            </a:extLst>
          </p:cNvPr>
          <p:cNvSpPr>
            <a:spLocks noGrp="1"/>
          </p:cNvSpPr>
          <p:nvPr/>
        </p:nvSpPr>
        <p:spPr>
          <a:xfrm>
            <a:off x="5600700" y="10001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Execution and capability</a:t>
            </a:r>
          </a:p>
        </p:txBody>
      </p:sp>
      <p:sp>
        <p:nvSpPr>
          <p:cNvPr id="9" name="POST-PPP Timeline Legend">
            <a:extLst>
              <a:ext uri="{FF2B5EF4-FFF2-40B4-BE49-F238E27FC236}">
                <a16:creationId xmlns:a16="http://schemas.microsoft.com/office/drawing/2014/main" id="{9FFEC06E-8D01-44DF-8630-3E240B343A59}"/>
              </a:ext>
            </a:extLst>
          </p:cNvPr>
          <p:cNvSpPr>
            <a:spLocks noGrp="1"/>
          </p:cNvSpPr>
          <p:nvPr/>
        </p:nvSpPr>
        <p:spPr>
          <a:xfrm>
            <a:off x="7886700" y="914400"/>
            <a:ext cx="3429000" cy="457200"/>
          </a:xfrm>
          <a:prstGeom prst="roundRect">
            <a:avLst>
              <a:gd name="adj" fmla="val 12500"/>
            </a:avLst>
          </a:prstGeom>
          <a:solidFill>
            <a:srgbClr val="DFF3EC"/>
          </a:solidFill>
          <a:ln w="9525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OST-PPP Timeline Legend Text">
            <a:extLst>
              <a:ext uri="{FF2B5EF4-FFF2-40B4-BE49-F238E27FC236}">
                <a16:creationId xmlns:a16="http://schemas.microsoft.com/office/drawing/2014/main" id="{C6A36167-2A4D-4F2A-A6E5-9361F05157C3}"/>
              </a:ext>
            </a:extLst>
          </p:cNvPr>
          <p:cNvSpPr>
            <a:spLocks noGrp="1"/>
          </p:cNvSpPr>
          <p:nvPr/>
        </p:nvSpPr>
        <p:spPr>
          <a:xfrm>
            <a:off x="8020050" y="9810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600" b="1">
                <a:solidFill>
                  <a:srgbClr val="16987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69873"/>
                </a:solidFill>
                <a:latin typeface="Aptos"/>
                <a:ea typeface="Aptos"/>
                <a:cs typeface="Aptos"/>
              </a:rPr>
              <a:t>POST-PPP</a:t>
            </a:r>
          </a:p>
        </p:txBody>
      </p:sp>
      <p:sp>
        <p:nvSpPr>
          <p:cNvPr id="11" name="POST-PPP Timeline Description">
            <a:extLst>
              <a:ext uri="{FF2B5EF4-FFF2-40B4-BE49-F238E27FC236}">
                <a16:creationId xmlns:a16="http://schemas.microsoft.com/office/drawing/2014/main" id="{994A2F1E-790A-4048-BA6F-C4BBDA4CF4C5}"/>
              </a:ext>
            </a:extLst>
          </p:cNvPr>
          <p:cNvSpPr>
            <a:spLocks noGrp="1"/>
          </p:cNvSpPr>
          <p:nvPr/>
        </p:nvSpPr>
        <p:spPr>
          <a:xfrm>
            <a:off x="9315450" y="1000125"/>
            <a:ext cx="1847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>
                <a:solidFill>
                  <a:srgbClr val="17324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24F"/>
                </a:solidFill>
                <a:latin typeface="Aptos"/>
                <a:ea typeface="Aptos"/>
                <a:cs typeface="Aptos"/>
              </a:rPr>
              <a:t>Sustainment and BAU</a:t>
            </a:r>
          </a:p>
        </p:txBody>
      </p:sp>
      <p:sp>
        <p:nvSpPr>
          <p:cNvPr id="12" name="Phase Grid JUL 2025">
            <a:extLst>
              <a:ext uri="{FF2B5EF4-FFF2-40B4-BE49-F238E27FC236}">
                <a16:creationId xmlns:a16="http://schemas.microsoft.com/office/drawing/2014/main" id="{8586B224-00F8-480A-81B1-2D38B22CEEAB}"/>
              </a:ext>
            </a:extLst>
          </p:cNvPr>
          <p:cNvSpPr>
            <a:spLocks noGrp="1"/>
          </p:cNvSpPr>
          <p:nvPr/>
        </p:nvSpPr>
        <p:spPr>
          <a:xfrm>
            <a:off x="2571750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hase Tick JUL 2025">
            <a:extLst>
              <a:ext uri="{FF2B5EF4-FFF2-40B4-BE49-F238E27FC236}">
                <a16:creationId xmlns:a16="http://schemas.microsoft.com/office/drawing/2014/main" id="{EF20E656-DA10-4EBB-9B7F-24C3E78C8504}"/>
              </a:ext>
            </a:extLst>
          </p:cNvPr>
          <p:cNvSpPr>
            <a:spLocks noGrp="1"/>
          </p:cNvSpPr>
          <p:nvPr/>
        </p:nvSpPr>
        <p:spPr>
          <a:xfrm>
            <a:off x="2171700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JUL 2025</a:t>
            </a:r>
          </a:p>
        </p:txBody>
      </p:sp>
      <p:sp>
        <p:nvSpPr>
          <p:cNvPr id="14" name="Phase Grid JAN 2026">
            <a:extLst>
              <a:ext uri="{FF2B5EF4-FFF2-40B4-BE49-F238E27FC236}">
                <a16:creationId xmlns:a16="http://schemas.microsoft.com/office/drawing/2014/main" id="{1D40319C-35D5-48A6-A1DE-45BA7EE190BE}"/>
              </a:ext>
            </a:extLst>
          </p:cNvPr>
          <p:cNvSpPr>
            <a:spLocks noGrp="1"/>
          </p:cNvSpPr>
          <p:nvPr/>
        </p:nvSpPr>
        <p:spPr>
          <a:xfrm>
            <a:off x="4052820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Phase Tick JAN 2026">
            <a:extLst>
              <a:ext uri="{FF2B5EF4-FFF2-40B4-BE49-F238E27FC236}">
                <a16:creationId xmlns:a16="http://schemas.microsoft.com/office/drawing/2014/main" id="{23EC336A-147C-4063-8871-12DF4A714B1E}"/>
              </a:ext>
            </a:extLst>
          </p:cNvPr>
          <p:cNvSpPr>
            <a:spLocks noGrp="1"/>
          </p:cNvSpPr>
          <p:nvPr/>
        </p:nvSpPr>
        <p:spPr>
          <a:xfrm>
            <a:off x="3652770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JAN 2026</a:t>
            </a:r>
          </a:p>
        </p:txBody>
      </p:sp>
      <p:sp>
        <p:nvSpPr>
          <p:cNvPr id="16" name="Phase Grid JUL 2026">
            <a:extLst>
              <a:ext uri="{FF2B5EF4-FFF2-40B4-BE49-F238E27FC236}">
                <a16:creationId xmlns:a16="http://schemas.microsoft.com/office/drawing/2014/main" id="{AE19F9E7-443E-4D23-BCD1-60B4C2C8E4E5}"/>
              </a:ext>
            </a:extLst>
          </p:cNvPr>
          <p:cNvSpPr>
            <a:spLocks noGrp="1"/>
          </p:cNvSpPr>
          <p:nvPr/>
        </p:nvSpPr>
        <p:spPr>
          <a:xfrm>
            <a:off x="5509743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hase Tick JUL 2026">
            <a:extLst>
              <a:ext uri="{FF2B5EF4-FFF2-40B4-BE49-F238E27FC236}">
                <a16:creationId xmlns:a16="http://schemas.microsoft.com/office/drawing/2014/main" id="{671D1DA9-D3F7-49D8-9055-38C46C7276F0}"/>
              </a:ext>
            </a:extLst>
          </p:cNvPr>
          <p:cNvSpPr>
            <a:spLocks noGrp="1"/>
          </p:cNvSpPr>
          <p:nvPr/>
        </p:nvSpPr>
        <p:spPr>
          <a:xfrm>
            <a:off x="5109693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JUL 2026</a:t>
            </a:r>
          </a:p>
        </p:txBody>
      </p:sp>
      <p:sp>
        <p:nvSpPr>
          <p:cNvPr id="18" name="Phase Grid JAN 2027">
            <a:extLst>
              <a:ext uri="{FF2B5EF4-FFF2-40B4-BE49-F238E27FC236}">
                <a16:creationId xmlns:a16="http://schemas.microsoft.com/office/drawing/2014/main" id="{16B41401-9EB6-4136-97A8-79A9B499EB19}"/>
              </a:ext>
            </a:extLst>
          </p:cNvPr>
          <p:cNvSpPr>
            <a:spLocks noGrp="1"/>
          </p:cNvSpPr>
          <p:nvPr/>
        </p:nvSpPr>
        <p:spPr>
          <a:xfrm>
            <a:off x="6990813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Phase Tick JAN 2027">
            <a:extLst>
              <a:ext uri="{FF2B5EF4-FFF2-40B4-BE49-F238E27FC236}">
                <a16:creationId xmlns:a16="http://schemas.microsoft.com/office/drawing/2014/main" id="{D07D0FB1-8F67-4C62-B4C0-21F950EA9B7B}"/>
              </a:ext>
            </a:extLst>
          </p:cNvPr>
          <p:cNvSpPr>
            <a:spLocks noGrp="1"/>
          </p:cNvSpPr>
          <p:nvPr/>
        </p:nvSpPr>
        <p:spPr>
          <a:xfrm>
            <a:off x="6590763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JAN 2027</a:t>
            </a:r>
          </a:p>
        </p:txBody>
      </p:sp>
      <p:sp>
        <p:nvSpPr>
          <p:cNvPr id="20" name="Phase Grid JUL 2027">
            <a:extLst>
              <a:ext uri="{FF2B5EF4-FFF2-40B4-BE49-F238E27FC236}">
                <a16:creationId xmlns:a16="http://schemas.microsoft.com/office/drawing/2014/main" id="{C3E62650-C580-4465-BC50-DEDBBD7520AB}"/>
              </a:ext>
            </a:extLst>
          </p:cNvPr>
          <p:cNvSpPr>
            <a:spLocks noGrp="1"/>
          </p:cNvSpPr>
          <p:nvPr/>
        </p:nvSpPr>
        <p:spPr>
          <a:xfrm>
            <a:off x="8447736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 Tick JUL 2027">
            <a:extLst>
              <a:ext uri="{FF2B5EF4-FFF2-40B4-BE49-F238E27FC236}">
                <a16:creationId xmlns:a16="http://schemas.microsoft.com/office/drawing/2014/main" id="{41A60D6C-1DDD-44AD-8631-00DF550FA166}"/>
              </a:ext>
            </a:extLst>
          </p:cNvPr>
          <p:cNvSpPr>
            <a:spLocks noGrp="1"/>
          </p:cNvSpPr>
          <p:nvPr/>
        </p:nvSpPr>
        <p:spPr>
          <a:xfrm>
            <a:off x="8047686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JUL 2027</a:t>
            </a:r>
          </a:p>
        </p:txBody>
      </p:sp>
      <p:sp>
        <p:nvSpPr>
          <p:cNvPr id="22" name="Phase Grid JAN 2028">
            <a:extLst>
              <a:ext uri="{FF2B5EF4-FFF2-40B4-BE49-F238E27FC236}">
                <a16:creationId xmlns:a16="http://schemas.microsoft.com/office/drawing/2014/main" id="{70DC258D-977C-4CA6-95D1-5C7D8C46C69A}"/>
              </a:ext>
            </a:extLst>
          </p:cNvPr>
          <p:cNvSpPr>
            <a:spLocks noGrp="1"/>
          </p:cNvSpPr>
          <p:nvPr/>
        </p:nvSpPr>
        <p:spPr>
          <a:xfrm>
            <a:off x="9928806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hase Tick JAN 2028">
            <a:extLst>
              <a:ext uri="{FF2B5EF4-FFF2-40B4-BE49-F238E27FC236}">
                <a16:creationId xmlns:a16="http://schemas.microsoft.com/office/drawing/2014/main" id="{9EA8FC92-EA32-4038-9679-E474542CC8ED}"/>
              </a:ext>
            </a:extLst>
          </p:cNvPr>
          <p:cNvSpPr>
            <a:spLocks noGrp="1"/>
          </p:cNvSpPr>
          <p:nvPr/>
        </p:nvSpPr>
        <p:spPr>
          <a:xfrm>
            <a:off x="9528756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JAN 2028</a:t>
            </a:r>
          </a:p>
        </p:txBody>
      </p:sp>
      <p:sp>
        <p:nvSpPr>
          <p:cNvPr id="24" name="Phase Grid MAY 2028">
            <a:extLst>
              <a:ext uri="{FF2B5EF4-FFF2-40B4-BE49-F238E27FC236}">
                <a16:creationId xmlns:a16="http://schemas.microsoft.com/office/drawing/2014/main" id="{17A7E637-DE88-424B-B551-B3D76F981604}"/>
              </a:ext>
            </a:extLst>
          </p:cNvPr>
          <p:cNvSpPr>
            <a:spLocks noGrp="1"/>
          </p:cNvSpPr>
          <p:nvPr/>
        </p:nvSpPr>
        <p:spPr>
          <a:xfrm>
            <a:off x="10902771" y="1762125"/>
            <a:ext cx="9525" cy="3476625"/>
          </a:xfrm>
          <a:prstGeom prst="rect">
            <a:avLst/>
          </a:prstGeom>
          <a:solidFill>
            <a:srgbClr val="D3DEE8"/>
          </a:solidFill>
          <a:ln w="0">
            <a:solidFill>
              <a:srgbClr val="D3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Phase Tick MAY 2028">
            <a:extLst>
              <a:ext uri="{FF2B5EF4-FFF2-40B4-BE49-F238E27FC236}">
                <a16:creationId xmlns:a16="http://schemas.microsoft.com/office/drawing/2014/main" id="{7393AC67-7B54-45D3-8999-FADDA3AE901E}"/>
              </a:ext>
            </a:extLst>
          </p:cNvPr>
          <p:cNvSpPr>
            <a:spLocks noGrp="1"/>
          </p:cNvSpPr>
          <p:nvPr/>
        </p:nvSpPr>
        <p:spPr>
          <a:xfrm>
            <a:off x="10502721" y="5105400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200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758A"/>
                </a:solidFill>
                <a:latin typeface="Aptos"/>
                <a:ea typeface="Aptos"/>
                <a:cs typeface="Aptos"/>
              </a:rPr>
              <a:t>MAY 2028</a:t>
            </a:r>
          </a:p>
        </p:txBody>
      </p:sp>
      <p:sp>
        <p:nvSpPr>
          <p:cNvPr id="26" name="Prominent Today Line">
            <a:extLst>
              <a:ext uri="{FF2B5EF4-FFF2-40B4-BE49-F238E27FC236}">
                <a16:creationId xmlns:a16="http://schemas.microsoft.com/office/drawing/2014/main" id="{4404C1C9-19C9-40DB-9F60-0D4AC18C0C20}"/>
              </a:ext>
            </a:extLst>
          </p:cNvPr>
          <p:cNvSpPr>
            <a:spLocks noGrp="1"/>
          </p:cNvSpPr>
          <p:nvPr/>
        </p:nvSpPr>
        <p:spPr>
          <a:xfrm>
            <a:off x="5708024" y="1666875"/>
            <a:ext cx="38100" cy="3505200"/>
          </a:xfrm>
          <a:prstGeom prst="rect">
            <a:avLst/>
          </a:prstGeom>
          <a:solidFill>
            <a:srgbClr val="E63950"/>
          </a:solidFill>
          <a:ln w="0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rominent Today Label Background">
            <a:extLst>
              <a:ext uri="{FF2B5EF4-FFF2-40B4-BE49-F238E27FC236}">
                <a16:creationId xmlns:a16="http://schemas.microsoft.com/office/drawing/2014/main" id="{EDEB5E76-5447-452A-A7F8-726AE6CEA74B}"/>
              </a:ext>
            </a:extLst>
          </p:cNvPr>
          <p:cNvSpPr>
            <a:spLocks noGrp="1"/>
          </p:cNvSpPr>
          <p:nvPr/>
        </p:nvSpPr>
        <p:spPr>
          <a:xfrm>
            <a:off x="5136524" y="1504950"/>
            <a:ext cx="1181100" cy="304800"/>
          </a:xfrm>
          <a:prstGeom prst="roundRect">
            <a:avLst>
              <a:gd name="adj" fmla="val 18750"/>
            </a:avLst>
          </a:prstGeom>
          <a:solidFill>
            <a:srgbClr val="E63950"/>
          </a:solidFill>
          <a:ln w="9525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Prominent Today Label">
            <a:extLst>
              <a:ext uri="{FF2B5EF4-FFF2-40B4-BE49-F238E27FC236}">
                <a16:creationId xmlns:a16="http://schemas.microsoft.com/office/drawing/2014/main" id="{A27902D9-60CE-4BA8-96D8-759EA54350ED}"/>
              </a:ext>
            </a:extLst>
          </p:cNvPr>
          <p:cNvSpPr>
            <a:spLocks noGrp="1"/>
          </p:cNvSpPr>
          <p:nvPr/>
        </p:nvSpPr>
        <p:spPr>
          <a:xfrm>
            <a:off x="5174624" y="154305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8691" lnSpcReduction="10000"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• 28 JUL 2026</a:t>
            </a:r>
          </a:p>
        </p:txBody>
      </p:sp>
      <p:sp>
        <p:nvSpPr>
          <p:cNvPr id="29" name="AGLIPAY STP Timeline Name">
            <a:extLst>
              <a:ext uri="{FF2B5EF4-FFF2-40B4-BE49-F238E27FC236}">
                <a16:creationId xmlns:a16="http://schemas.microsoft.com/office/drawing/2014/main" id="{5184F767-39ED-4C9F-A083-0F6CEAFA1C6C}"/>
              </a:ext>
            </a:extLst>
          </p:cNvPr>
          <p:cNvSpPr>
            <a:spLocks noGrp="1"/>
          </p:cNvSpPr>
          <p:nvPr/>
        </p:nvSpPr>
        <p:spPr>
          <a:xfrm>
            <a:off x="457200" y="21621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5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AGLIPAY STP</a:t>
            </a:r>
          </a:p>
        </p:txBody>
      </p:sp>
      <p:sp>
        <p:nvSpPr>
          <p:cNvPr id="30" name="AGLIPAY STP Current Phase">
            <a:extLst>
              <a:ext uri="{FF2B5EF4-FFF2-40B4-BE49-F238E27FC236}">
                <a16:creationId xmlns:a16="http://schemas.microsoft.com/office/drawing/2014/main" id="{6B0020E7-35E7-4F9D-AFF5-8E1B7AD29F17}"/>
              </a:ext>
            </a:extLst>
          </p:cNvPr>
          <p:cNvSpPr>
            <a:spLocks noGrp="1"/>
          </p:cNvSpPr>
          <p:nvPr/>
        </p:nvSpPr>
        <p:spPr>
          <a:xfrm>
            <a:off x="457200" y="24098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TODAY: PPP ACTIVE</a:t>
            </a:r>
          </a:p>
        </p:txBody>
      </p:sp>
      <p:sp>
        <p:nvSpPr>
          <p:cNvPr id="31" name="AGLIPAY STP Phase Segment 1">
            <a:extLst>
              <a:ext uri="{FF2B5EF4-FFF2-40B4-BE49-F238E27FC236}">
                <a16:creationId xmlns:a16="http://schemas.microsoft.com/office/drawing/2014/main" id="{859BCED0-2545-486F-82D8-987F93BF2EC7}"/>
              </a:ext>
            </a:extLst>
          </p:cNvPr>
          <p:cNvSpPr>
            <a:spLocks noGrp="1"/>
          </p:cNvSpPr>
          <p:nvPr/>
        </p:nvSpPr>
        <p:spPr>
          <a:xfrm>
            <a:off x="2668342" y="2228850"/>
            <a:ext cx="1955979" cy="285750"/>
          </a:xfrm>
          <a:prstGeom prst="rect">
            <a:avLst/>
          </a:prstGeom>
          <a:solidFill>
            <a:srgbClr val="DDEBF4"/>
          </a:solidFill>
          <a:ln w="11430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GLIPAY STP Phase Segment 2">
            <a:extLst>
              <a:ext uri="{FF2B5EF4-FFF2-40B4-BE49-F238E27FC236}">
                <a16:creationId xmlns:a16="http://schemas.microsoft.com/office/drawing/2014/main" id="{777F9C43-56F8-45FC-AEEF-8F0268C22178}"/>
              </a:ext>
            </a:extLst>
          </p:cNvPr>
          <p:cNvSpPr>
            <a:spLocks noGrp="1"/>
          </p:cNvSpPr>
          <p:nvPr/>
        </p:nvSpPr>
        <p:spPr>
          <a:xfrm>
            <a:off x="4624320" y="2228850"/>
            <a:ext cx="2937993" cy="285750"/>
          </a:xfrm>
          <a:prstGeom prst="rect">
            <a:avLst/>
          </a:prstGeom>
          <a:solidFill>
            <a:srgbClr val="DDF5F9"/>
          </a:solidFill>
          <a:ln w="11430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GLIPAY STP Phase Segment 3">
            <a:extLst>
              <a:ext uri="{FF2B5EF4-FFF2-40B4-BE49-F238E27FC236}">
                <a16:creationId xmlns:a16="http://schemas.microsoft.com/office/drawing/2014/main" id="{383E107B-6111-4613-A2E3-ACCB0EDAAB9B}"/>
              </a:ext>
            </a:extLst>
          </p:cNvPr>
          <p:cNvSpPr>
            <a:spLocks noGrp="1"/>
          </p:cNvSpPr>
          <p:nvPr/>
        </p:nvSpPr>
        <p:spPr>
          <a:xfrm>
            <a:off x="7562313" y="2228850"/>
            <a:ext cx="1972077" cy="285750"/>
          </a:xfrm>
          <a:prstGeom prst="rect">
            <a:avLst/>
          </a:prstGeom>
          <a:solidFill>
            <a:srgbClr val="DFF3EC"/>
          </a:solidFill>
          <a:ln w="1143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GLIPAY STP PPP Start Line">
            <a:extLst>
              <a:ext uri="{FF2B5EF4-FFF2-40B4-BE49-F238E27FC236}">
                <a16:creationId xmlns:a16="http://schemas.microsoft.com/office/drawing/2014/main" id="{523595AF-F64D-45F1-A01A-53780090CA3F}"/>
              </a:ext>
            </a:extLst>
          </p:cNvPr>
          <p:cNvSpPr>
            <a:spLocks noGrp="1"/>
          </p:cNvSpPr>
          <p:nvPr/>
        </p:nvSpPr>
        <p:spPr>
          <a:xfrm>
            <a:off x="4605270" y="2085975"/>
            <a:ext cx="38100" cy="581025"/>
          </a:xfrm>
          <a:prstGeom prst="rect">
            <a:avLst/>
          </a:prstGeom>
          <a:solidFill>
            <a:srgbClr val="08264C"/>
          </a:solidFill>
          <a:ln w="0">
            <a:solidFill>
              <a:srgbClr val="082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GLIPAY STP PPP Start Label">
            <a:extLst>
              <a:ext uri="{FF2B5EF4-FFF2-40B4-BE49-F238E27FC236}">
                <a16:creationId xmlns:a16="http://schemas.microsoft.com/office/drawing/2014/main" id="{7504A79C-3B3F-46CE-89C8-71D9E482A37B}"/>
              </a:ext>
            </a:extLst>
          </p:cNvPr>
          <p:cNvSpPr>
            <a:spLocks noGrp="1"/>
          </p:cNvSpPr>
          <p:nvPr/>
        </p:nvSpPr>
        <p:spPr>
          <a:xfrm>
            <a:off x="2243070" y="1866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PPP START • 13 MAR 2026</a:t>
            </a:r>
          </a:p>
        </p:txBody>
      </p:sp>
      <p:sp>
        <p:nvSpPr>
          <p:cNvPr id="36" name="AGLIPAY STP Today Dot">
            <a:extLst>
              <a:ext uri="{FF2B5EF4-FFF2-40B4-BE49-F238E27FC236}">
                <a16:creationId xmlns:a16="http://schemas.microsoft.com/office/drawing/2014/main" id="{7AD5D171-9DDE-45F9-982F-C24B2600549E}"/>
              </a:ext>
            </a:extLst>
          </p:cNvPr>
          <p:cNvSpPr>
            <a:spLocks noGrp="1"/>
          </p:cNvSpPr>
          <p:nvPr/>
        </p:nvSpPr>
        <p:spPr>
          <a:xfrm>
            <a:off x="5641349" y="2286000"/>
            <a:ext cx="171450" cy="171450"/>
          </a:xfrm>
          <a:prstGeom prst="ellipse">
            <a:avLst/>
          </a:prstGeom>
          <a:solidFill>
            <a:srgbClr val="E6395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HTT STP Timeline Name">
            <a:extLst>
              <a:ext uri="{FF2B5EF4-FFF2-40B4-BE49-F238E27FC236}">
                <a16:creationId xmlns:a16="http://schemas.microsoft.com/office/drawing/2014/main" id="{298DB997-996C-45CC-9A9B-430485CC531D}"/>
              </a:ext>
            </a:extLst>
          </p:cNvPr>
          <p:cNvSpPr>
            <a:spLocks noGrp="1"/>
          </p:cNvSpPr>
          <p:nvPr/>
        </p:nvSpPr>
        <p:spPr>
          <a:xfrm>
            <a:off x="457200" y="29241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5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HTT STP</a:t>
            </a:r>
          </a:p>
        </p:txBody>
      </p:sp>
      <p:sp>
        <p:nvSpPr>
          <p:cNvPr id="38" name="HTT STP Current Phase">
            <a:extLst>
              <a:ext uri="{FF2B5EF4-FFF2-40B4-BE49-F238E27FC236}">
                <a16:creationId xmlns:a16="http://schemas.microsoft.com/office/drawing/2014/main" id="{BD7496C2-B50E-4B4B-9007-5E3B5C41262C}"/>
              </a:ext>
            </a:extLst>
          </p:cNvPr>
          <p:cNvSpPr>
            <a:spLocks noGrp="1"/>
          </p:cNvSpPr>
          <p:nvPr/>
        </p:nvSpPr>
        <p:spPr>
          <a:xfrm>
            <a:off x="457200" y="31718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200" b="1">
                <a:solidFill>
                  <a:srgbClr val="00A9C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9C4"/>
                </a:solidFill>
                <a:latin typeface="Aptos"/>
                <a:ea typeface="Aptos"/>
                <a:cs typeface="Aptos"/>
              </a:rPr>
              <a:t>TODAY: PPP ACTIVE</a:t>
            </a:r>
          </a:p>
        </p:txBody>
      </p:sp>
      <p:sp>
        <p:nvSpPr>
          <p:cNvPr id="39" name="HTT STP Phase Segment 1">
            <a:extLst>
              <a:ext uri="{FF2B5EF4-FFF2-40B4-BE49-F238E27FC236}">
                <a16:creationId xmlns:a16="http://schemas.microsoft.com/office/drawing/2014/main" id="{09DE6AD3-E133-475A-9212-94A991675676}"/>
              </a:ext>
            </a:extLst>
          </p:cNvPr>
          <p:cNvSpPr>
            <a:spLocks noGrp="1"/>
          </p:cNvSpPr>
          <p:nvPr/>
        </p:nvSpPr>
        <p:spPr>
          <a:xfrm>
            <a:off x="2668342" y="2990850"/>
            <a:ext cx="1955979" cy="285750"/>
          </a:xfrm>
          <a:prstGeom prst="rect">
            <a:avLst/>
          </a:prstGeom>
          <a:solidFill>
            <a:srgbClr val="DDEBF4"/>
          </a:solidFill>
          <a:ln w="11430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HTT STP Phase Segment 2">
            <a:extLst>
              <a:ext uri="{FF2B5EF4-FFF2-40B4-BE49-F238E27FC236}">
                <a16:creationId xmlns:a16="http://schemas.microsoft.com/office/drawing/2014/main" id="{1CAF68F0-7E69-4F3E-8F40-BD6E6BE77EA4}"/>
              </a:ext>
            </a:extLst>
          </p:cNvPr>
          <p:cNvSpPr>
            <a:spLocks noGrp="1"/>
          </p:cNvSpPr>
          <p:nvPr/>
        </p:nvSpPr>
        <p:spPr>
          <a:xfrm>
            <a:off x="4624320" y="2990850"/>
            <a:ext cx="2937993" cy="285750"/>
          </a:xfrm>
          <a:prstGeom prst="rect">
            <a:avLst/>
          </a:prstGeom>
          <a:solidFill>
            <a:srgbClr val="DDF5F9"/>
          </a:solidFill>
          <a:ln w="11430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TT STP Phase Segment 3">
            <a:extLst>
              <a:ext uri="{FF2B5EF4-FFF2-40B4-BE49-F238E27FC236}">
                <a16:creationId xmlns:a16="http://schemas.microsoft.com/office/drawing/2014/main" id="{E52660A9-6118-452C-8204-C32F2E742AA0}"/>
              </a:ext>
            </a:extLst>
          </p:cNvPr>
          <p:cNvSpPr>
            <a:spLocks noGrp="1"/>
          </p:cNvSpPr>
          <p:nvPr/>
        </p:nvSpPr>
        <p:spPr>
          <a:xfrm>
            <a:off x="7562313" y="2990850"/>
            <a:ext cx="1972077" cy="285750"/>
          </a:xfrm>
          <a:prstGeom prst="rect">
            <a:avLst/>
          </a:prstGeom>
          <a:solidFill>
            <a:srgbClr val="DFF3EC"/>
          </a:solidFill>
          <a:ln w="1143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HTT STP PPP Start Line">
            <a:extLst>
              <a:ext uri="{FF2B5EF4-FFF2-40B4-BE49-F238E27FC236}">
                <a16:creationId xmlns:a16="http://schemas.microsoft.com/office/drawing/2014/main" id="{84DC369E-EACA-470F-93A8-8939F42FE905}"/>
              </a:ext>
            </a:extLst>
          </p:cNvPr>
          <p:cNvSpPr>
            <a:spLocks noGrp="1"/>
          </p:cNvSpPr>
          <p:nvPr/>
        </p:nvSpPr>
        <p:spPr>
          <a:xfrm>
            <a:off x="4605270" y="2847975"/>
            <a:ext cx="38100" cy="581025"/>
          </a:xfrm>
          <a:prstGeom prst="rect">
            <a:avLst/>
          </a:prstGeom>
          <a:solidFill>
            <a:srgbClr val="08264C"/>
          </a:solidFill>
          <a:ln w="0">
            <a:solidFill>
              <a:srgbClr val="082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HTT STP PPP Start Label">
            <a:extLst>
              <a:ext uri="{FF2B5EF4-FFF2-40B4-BE49-F238E27FC236}">
                <a16:creationId xmlns:a16="http://schemas.microsoft.com/office/drawing/2014/main" id="{DA87B4D0-8365-4007-9713-2D95B4987DA7}"/>
              </a:ext>
            </a:extLst>
          </p:cNvPr>
          <p:cNvSpPr>
            <a:spLocks noGrp="1"/>
          </p:cNvSpPr>
          <p:nvPr/>
        </p:nvSpPr>
        <p:spPr>
          <a:xfrm>
            <a:off x="2243070" y="2628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PPP START • 13 MAR 2026</a:t>
            </a:r>
          </a:p>
        </p:txBody>
      </p:sp>
      <p:sp>
        <p:nvSpPr>
          <p:cNvPr id="44" name="HTT STP Today Dot">
            <a:extLst>
              <a:ext uri="{FF2B5EF4-FFF2-40B4-BE49-F238E27FC236}">
                <a16:creationId xmlns:a16="http://schemas.microsoft.com/office/drawing/2014/main" id="{CD5B1C1E-EF2D-4D10-9F16-1D193FC5842A}"/>
              </a:ext>
            </a:extLst>
          </p:cNvPr>
          <p:cNvSpPr>
            <a:spLocks noGrp="1"/>
          </p:cNvSpPr>
          <p:nvPr/>
        </p:nvSpPr>
        <p:spPr>
          <a:xfrm>
            <a:off x="5641349" y="3048000"/>
            <a:ext cx="171450" cy="171450"/>
          </a:xfrm>
          <a:prstGeom prst="ellipse">
            <a:avLst/>
          </a:prstGeom>
          <a:solidFill>
            <a:srgbClr val="E6395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EASTBAY PH-2 TP Timeline Name">
            <a:extLst>
              <a:ext uri="{FF2B5EF4-FFF2-40B4-BE49-F238E27FC236}">
                <a16:creationId xmlns:a16="http://schemas.microsoft.com/office/drawing/2014/main" id="{BE65CDAE-34C4-434E-9EBB-39C854590C3B}"/>
              </a:ext>
            </a:extLst>
          </p:cNvPr>
          <p:cNvSpPr>
            <a:spLocks noGrp="1"/>
          </p:cNvSpPr>
          <p:nvPr/>
        </p:nvSpPr>
        <p:spPr>
          <a:xfrm>
            <a:off x="457200" y="36861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5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EASTBAY PH-2 TP</a:t>
            </a:r>
          </a:p>
        </p:txBody>
      </p:sp>
      <p:sp>
        <p:nvSpPr>
          <p:cNvPr id="46" name="EASTBAY PH-2 TP Current Phase">
            <a:extLst>
              <a:ext uri="{FF2B5EF4-FFF2-40B4-BE49-F238E27FC236}">
                <a16:creationId xmlns:a16="http://schemas.microsoft.com/office/drawing/2014/main" id="{FD48714F-776C-4989-8231-13A551614E79}"/>
              </a:ext>
            </a:extLst>
          </p:cNvPr>
          <p:cNvSpPr>
            <a:spLocks noGrp="1"/>
          </p:cNvSpPr>
          <p:nvPr/>
        </p:nvSpPr>
        <p:spPr>
          <a:xfrm>
            <a:off x="457200" y="39338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>
              <a:defRPr sz="1200" b="1">
                <a:solidFill>
                  <a:srgbClr val="397DA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97DA4"/>
                </a:solidFill>
                <a:latin typeface="Aptos"/>
                <a:ea typeface="Aptos"/>
                <a:cs typeface="Aptos"/>
              </a:rPr>
              <a:t>TODAY: PRE-PPP • GATE READY</a:t>
            </a:r>
          </a:p>
        </p:txBody>
      </p:sp>
      <p:sp>
        <p:nvSpPr>
          <p:cNvPr id="47" name="EASTBAY PH-2 TP Phase Segment 1">
            <a:extLst>
              <a:ext uri="{FF2B5EF4-FFF2-40B4-BE49-F238E27FC236}">
                <a16:creationId xmlns:a16="http://schemas.microsoft.com/office/drawing/2014/main" id="{A108473A-A45D-470A-9892-E299D13A45BC}"/>
              </a:ext>
            </a:extLst>
          </p:cNvPr>
          <p:cNvSpPr>
            <a:spLocks noGrp="1"/>
          </p:cNvSpPr>
          <p:nvPr/>
        </p:nvSpPr>
        <p:spPr>
          <a:xfrm>
            <a:off x="4052820" y="3752850"/>
            <a:ext cx="1955979" cy="285750"/>
          </a:xfrm>
          <a:prstGeom prst="rect">
            <a:avLst/>
          </a:prstGeom>
          <a:solidFill>
            <a:srgbClr val="DDEBF4"/>
          </a:solidFill>
          <a:ln w="11430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EASTBAY PH-2 TP Phase Segment 2">
            <a:extLst>
              <a:ext uri="{FF2B5EF4-FFF2-40B4-BE49-F238E27FC236}">
                <a16:creationId xmlns:a16="http://schemas.microsoft.com/office/drawing/2014/main" id="{80AAE05B-DEB9-455E-B3EB-4A8307D52FDD}"/>
              </a:ext>
            </a:extLst>
          </p:cNvPr>
          <p:cNvSpPr>
            <a:spLocks noGrp="1"/>
          </p:cNvSpPr>
          <p:nvPr/>
        </p:nvSpPr>
        <p:spPr>
          <a:xfrm>
            <a:off x="6008799" y="3752850"/>
            <a:ext cx="2937993" cy="285750"/>
          </a:xfrm>
          <a:prstGeom prst="rect">
            <a:avLst/>
          </a:prstGeom>
          <a:solidFill>
            <a:srgbClr val="DDF5F9"/>
          </a:solidFill>
          <a:ln w="11430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ASTBAY PH-2 TP Phase Segment 3">
            <a:extLst>
              <a:ext uri="{FF2B5EF4-FFF2-40B4-BE49-F238E27FC236}">
                <a16:creationId xmlns:a16="http://schemas.microsoft.com/office/drawing/2014/main" id="{C27E4912-048D-421C-92B2-B9D1A2D25681}"/>
              </a:ext>
            </a:extLst>
          </p:cNvPr>
          <p:cNvSpPr>
            <a:spLocks noGrp="1"/>
          </p:cNvSpPr>
          <p:nvPr/>
        </p:nvSpPr>
        <p:spPr>
          <a:xfrm>
            <a:off x="8946792" y="3752850"/>
            <a:ext cx="1955979" cy="285750"/>
          </a:xfrm>
          <a:prstGeom prst="rect">
            <a:avLst/>
          </a:prstGeom>
          <a:solidFill>
            <a:srgbClr val="DFF3EC"/>
          </a:solidFill>
          <a:ln w="1143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ASTBAY PH-2 TP PPP Start Line">
            <a:extLst>
              <a:ext uri="{FF2B5EF4-FFF2-40B4-BE49-F238E27FC236}">
                <a16:creationId xmlns:a16="http://schemas.microsoft.com/office/drawing/2014/main" id="{77A814FE-86AA-4267-8DEE-DE5BB28F64E6}"/>
              </a:ext>
            </a:extLst>
          </p:cNvPr>
          <p:cNvSpPr>
            <a:spLocks noGrp="1"/>
          </p:cNvSpPr>
          <p:nvPr/>
        </p:nvSpPr>
        <p:spPr>
          <a:xfrm>
            <a:off x="5989749" y="3609975"/>
            <a:ext cx="38100" cy="581025"/>
          </a:xfrm>
          <a:prstGeom prst="rect">
            <a:avLst/>
          </a:prstGeom>
          <a:solidFill>
            <a:srgbClr val="08264C"/>
          </a:solidFill>
          <a:ln w="0">
            <a:solidFill>
              <a:srgbClr val="082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EASTBAY PH-2 TP PPP Start Label">
            <a:extLst>
              <a:ext uri="{FF2B5EF4-FFF2-40B4-BE49-F238E27FC236}">
                <a16:creationId xmlns:a16="http://schemas.microsoft.com/office/drawing/2014/main" id="{63A71528-00E8-40F6-A9EE-A5BD6463088C}"/>
              </a:ext>
            </a:extLst>
          </p:cNvPr>
          <p:cNvSpPr>
            <a:spLocks noGrp="1"/>
          </p:cNvSpPr>
          <p:nvPr/>
        </p:nvSpPr>
        <p:spPr>
          <a:xfrm>
            <a:off x="6104049" y="3390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PPP START • 01 SEP 2026</a:t>
            </a:r>
          </a:p>
        </p:txBody>
      </p:sp>
      <p:sp>
        <p:nvSpPr>
          <p:cNvPr id="52" name="EASTBAY PH-2 TP Today Dot">
            <a:extLst>
              <a:ext uri="{FF2B5EF4-FFF2-40B4-BE49-F238E27FC236}">
                <a16:creationId xmlns:a16="http://schemas.microsoft.com/office/drawing/2014/main" id="{B5B9CF55-55DA-4636-9C1F-3E17B13BC87F}"/>
              </a:ext>
            </a:extLst>
          </p:cNvPr>
          <p:cNvSpPr>
            <a:spLocks noGrp="1"/>
          </p:cNvSpPr>
          <p:nvPr/>
        </p:nvSpPr>
        <p:spPr>
          <a:xfrm>
            <a:off x="5641349" y="3810000"/>
            <a:ext cx="171450" cy="171450"/>
          </a:xfrm>
          <a:prstGeom prst="ellipse">
            <a:avLst/>
          </a:prstGeom>
          <a:solidFill>
            <a:srgbClr val="E6395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KAYSAKAT TP Timeline Name">
            <a:extLst>
              <a:ext uri="{FF2B5EF4-FFF2-40B4-BE49-F238E27FC236}">
                <a16:creationId xmlns:a16="http://schemas.microsoft.com/office/drawing/2014/main" id="{56280EDD-2857-407E-8020-0BBC964F0B27}"/>
              </a:ext>
            </a:extLst>
          </p:cNvPr>
          <p:cNvSpPr>
            <a:spLocks noGrp="1"/>
          </p:cNvSpPr>
          <p:nvPr/>
        </p:nvSpPr>
        <p:spPr>
          <a:xfrm>
            <a:off x="457200" y="4448175"/>
            <a:ext cx="1952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5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KAYSAKAT TP</a:t>
            </a:r>
          </a:p>
        </p:txBody>
      </p:sp>
      <p:sp>
        <p:nvSpPr>
          <p:cNvPr id="54" name="KAYSAKAT TP Current Phase">
            <a:extLst>
              <a:ext uri="{FF2B5EF4-FFF2-40B4-BE49-F238E27FC236}">
                <a16:creationId xmlns:a16="http://schemas.microsoft.com/office/drawing/2014/main" id="{743C3B03-0954-413F-973B-EFB24E846F7A}"/>
              </a:ext>
            </a:extLst>
          </p:cNvPr>
          <p:cNvSpPr>
            <a:spLocks noGrp="1"/>
          </p:cNvSpPr>
          <p:nvPr/>
        </p:nvSpPr>
        <p:spPr>
          <a:xfrm>
            <a:off x="457200" y="46958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>
              <a:defRPr sz="12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TODAY: PRE-PPP • RECOVERY</a:t>
            </a:r>
          </a:p>
        </p:txBody>
      </p:sp>
      <p:sp>
        <p:nvSpPr>
          <p:cNvPr id="55" name="KAYSAKAT TP Phase Segment 1">
            <a:extLst>
              <a:ext uri="{FF2B5EF4-FFF2-40B4-BE49-F238E27FC236}">
                <a16:creationId xmlns:a16="http://schemas.microsoft.com/office/drawing/2014/main" id="{C99A11B4-102A-405E-8A02-EF112CA1C7A1}"/>
              </a:ext>
            </a:extLst>
          </p:cNvPr>
          <p:cNvSpPr>
            <a:spLocks noGrp="1"/>
          </p:cNvSpPr>
          <p:nvPr/>
        </p:nvSpPr>
        <p:spPr>
          <a:xfrm>
            <a:off x="4052820" y="4514850"/>
            <a:ext cx="1955979" cy="285750"/>
          </a:xfrm>
          <a:prstGeom prst="rect">
            <a:avLst/>
          </a:prstGeom>
          <a:solidFill>
            <a:srgbClr val="DDEBF4"/>
          </a:solidFill>
          <a:ln w="11430">
            <a:solidFill>
              <a:srgbClr val="397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KAYSAKAT TP Phase Segment 2">
            <a:extLst>
              <a:ext uri="{FF2B5EF4-FFF2-40B4-BE49-F238E27FC236}">
                <a16:creationId xmlns:a16="http://schemas.microsoft.com/office/drawing/2014/main" id="{16CA50DA-5C71-4C75-B29B-761A5044945F}"/>
              </a:ext>
            </a:extLst>
          </p:cNvPr>
          <p:cNvSpPr>
            <a:spLocks noGrp="1"/>
          </p:cNvSpPr>
          <p:nvPr/>
        </p:nvSpPr>
        <p:spPr>
          <a:xfrm>
            <a:off x="6008799" y="4514850"/>
            <a:ext cx="2937993" cy="285750"/>
          </a:xfrm>
          <a:prstGeom prst="rect">
            <a:avLst/>
          </a:prstGeom>
          <a:solidFill>
            <a:srgbClr val="DDF5F9"/>
          </a:solidFill>
          <a:ln w="11430">
            <a:solidFill>
              <a:srgbClr val="00A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KAYSAKAT TP Phase Segment 3">
            <a:extLst>
              <a:ext uri="{FF2B5EF4-FFF2-40B4-BE49-F238E27FC236}">
                <a16:creationId xmlns:a16="http://schemas.microsoft.com/office/drawing/2014/main" id="{0FE51CB9-8DF4-42EB-9D08-7568BE256012}"/>
              </a:ext>
            </a:extLst>
          </p:cNvPr>
          <p:cNvSpPr>
            <a:spLocks noGrp="1"/>
          </p:cNvSpPr>
          <p:nvPr/>
        </p:nvSpPr>
        <p:spPr>
          <a:xfrm>
            <a:off x="8946792" y="4514850"/>
            <a:ext cx="1955979" cy="285750"/>
          </a:xfrm>
          <a:prstGeom prst="rect">
            <a:avLst/>
          </a:prstGeom>
          <a:solidFill>
            <a:srgbClr val="DFF3EC"/>
          </a:solidFill>
          <a:ln w="11430">
            <a:solidFill>
              <a:srgbClr val="169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KAYSAKAT TP PPP Start Line">
            <a:extLst>
              <a:ext uri="{FF2B5EF4-FFF2-40B4-BE49-F238E27FC236}">
                <a16:creationId xmlns:a16="http://schemas.microsoft.com/office/drawing/2014/main" id="{1F10BCB1-EEE8-4C65-A838-3C942317BFAB}"/>
              </a:ext>
            </a:extLst>
          </p:cNvPr>
          <p:cNvSpPr>
            <a:spLocks noGrp="1"/>
          </p:cNvSpPr>
          <p:nvPr/>
        </p:nvSpPr>
        <p:spPr>
          <a:xfrm>
            <a:off x="5989749" y="4371975"/>
            <a:ext cx="38100" cy="581025"/>
          </a:xfrm>
          <a:prstGeom prst="rect">
            <a:avLst/>
          </a:prstGeom>
          <a:solidFill>
            <a:srgbClr val="08264C"/>
          </a:solidFill>
          <a:ln w="0">
            <a:solidFill>
              <a:srgbClr val="0826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KAYSAKAT TP PPP Start Label">
            <a:extLst>
              <a:ext uri="{FF2B5EF4-FFF2-40B4-BE49-F238E27FC236}">
                <a16:creationId xmlns:a16="http://schemas.microsoft.com/office/drawing/2014/main" id="{81BA5594-161A-4705-9A4F-F5DF2A6B22FE}"/>
              </a:ext>
            </a:extLst>
          </p:cNvPr>
          <p:cNvSpPr>
            <a:spLocks noGrp="1"/>
          </p:cNvSpPr>
          <p:nvPr/>
        </p:nvSpPr>
        <p:spPr>
          <a:xfrm>
            <a:off x="6104049" y="4152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PPP START • 01 SEP 2026</a:t>
            </a:r>
          </a:p>
        </p:txBody>
      </p:sp>
      <p:sp>
        <p:nvSpPr>
          <p:cNvPr id="60" name="KAYSAKAT TP Today Dot">
            <a:extLst>
              <a:ext uri="{FF2B5EF4-FFF2-40B4-BE49-F238E27FC236}">
                <a16:creationId xmlns:a16="http://schemas.microsoft.com/office/drawing/2014/main" id="{9AC85D46-D5DD-4F29-BE2D-301B4B2BA41F}"/>
              </a:ext>
            </a:extLst>
          </p:cNvPr>
          <p:cNvSpPr>
            <a:spLocks noGrp="1"/>
          </p:cNvSpPr>
          <p:nvPr/>
        </p:nvSpPr>
        <p:spPr>
          <a:xfrm>
            <a:off x="5641349" y="4572000"/>
            <a:ext cx="171450" cy="171450"/>
          </a:xfrm>
          <a:prstGeom prst="ellipse">
            <a:avLst/>
          </a:prstGeom>
          <a:solidFill>
            <a:srgbClr val="E63950"/>
          </a:solidFill>
          <a:ln w="14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Phase Decision Strip">
            <a:extLst>
              <a:ext uri="{FF2B5EF4-FFF2-40B4-BE49-F238E27FC236}">
                <a16:creationId xmlns:a16="http://schemas.microsoft.com/office/drawing/2014/main" id="{617C1EFA-E8DA-45C9-95DC-AA93D05F4371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1068050" cy="647700"/>
          </a:xfrm>
          <a:prstGeom prst="roundRect">
            <a:avLst>
              <a:gd name="adj" fmla="val 8824"/>
            </a:avLst>
          </a:prstGeom>
          <a:solidFill>
            <a:srgbClr val="FDECEF"/>
          </a:solidFill>
          <a:ln w="9525">
            <a:solidFill>
              <a:srgbClr val="E63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Phase Decision Label">
            <a:extLst>
              <a:ext uri="{FF2B5EF4-FFF2-40B4-BE49-F238E27FC236}">
                <a16:creationId xmlns:a16="http://schemas.microsoft.com/office/drawing/2014/main" id="{7C8B7E3C-5D32-4DF0-B8FC-3242231C900D}"/>
              </a:ext>
            </a:extLst>
          </p:cNvPr>
          <p:cNvSpPr>
            <a:spLocks noGrp="1"/>
          </p:cNvSpPr>
          <p:nvPr/>
        </p:nvSpPr>
        <p:spPr>
          <a:xfrm>
            <a:off x="628650" y="5781675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400" b="1">
                <a:solidFill>
                  <a:srgbClr val="E63950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E63950"/>
                </a:solidFill>
                <a:latin typeface="Aptos"/>
                <a:ea typeface="Aptos"/>
                <a:cs typeface="Aptos"/>
              </a:rPr>
              <a:t>GATE IMPLICATION</a:t>
            </a:r>
          </a:p>
        </p:txBody>
      </p:sp>
      <p:sp>
        <p:nvSpPr>
          <p:cNvPr id="63" name="Phase Decision Text">
            <a:extLst>
              <a:ext uri="{FF2B5EF4-FFF2-40B4-BE49-F238E27FC236}">
                <a16:creationId xmlns:a16="http://schemas.microsoft.com/office/drawing/2014/main" id="{E4351BA4-C569-4731-A648-7ACF26FFA855}"/>
              </a:ext>
            </a:extLst>
          </p:cNvPr>
          <p:cNvSpPr>
            <a:spLocks noGrp="1"/>
          </p:cNvSpPr>
          <p:nvPr/>
        </p:nvSpPr>
        <p:spPr>
          <a:xfrm>
            <a:off x="2362200" y="5715000"/>
            <a:ext cx="89154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400" b="1">
                <a:solidFill>
                  <a:srgbClr val="08264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8264C"/>
                </a:solidFill>
                <a:latin typeface="Aptos"/>
                <a:ea typeface="Aptos"/>
                <a:cs typeface="Aptos"/>
              </a:rPr>
              <a:t>Kaysakat and Eastbay reach PPP on 01 September. Eastbay is ready; Kaysakat must close commissioning and defect milestones before the gate.</a:t>
            </a:r>
          </a:p>
        </p:txBody>
      </p:sp>
    </p:spTree>
    <p:extLst>
      <p:ext uri="{BB962C8B-B14F-4D97-AF65-F5344CB8AC3E}">
        <p14:creationId xmlns:p14="http://schemas.microsoft.com/office/powerpoint/2010/main" val="184380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_SLIDE_TITLE">
            <a:extLst>
              <a:ext uri="{FF2B5EF4-FFF2-40B4-BE49-F238E27FC236}">
                <a16:creationId xmlns:a16="http://schemas.microsoft.com/office/drawing/2014/main" id="{80E75A15-1D02-4083-8319-CE4FECFA0356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10477500" cy="4381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Documentation readiness is 34%; HTT carries the portfolio</a:t>
            </a:r>
          </a:p>
        </p:txBody>
      </p:sp>
      <p:sp>
        <p:nvSpPr>
          <p:cNvPr id="3" name="GOV_SLIDE_SUBTITLE">
            <a:extLst>
              <a:ext uri="{FF2B5EF4-FFF2-40B4-BE49-F238E27FC236}">
                <a16:creationId xmlns:a16="http://schemas.microsoft.com/office/drawing/2014/main" id="{00E62274-768D-4143-94D9-E2EC39CD8240}"/>
              </a:ext>
            </a:extLst>
          </p:cNvPr>
          <p:cNvSpPr>
            <a:spLocks noGrp="1"/>
          </p:cNvSpPr>
          <p:nvPr/>
        </p:nvSpPr>
        <p:spPr>
          <a:xfrm>
            <a:off x="600075" y="742950"/>
            <a:ext cx="10668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975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Final acceptance requires a fully compliant O&amp;M Manual under the Standard Governance Framework.</a:t>
            </a:r>
          </a:p>
        </p:txBody>
      </p:sp>
      <p:sp>
        <p:nvSpPr>
          <p:cNvPr id="4" name="GOV_FOOTER_SOURCE">
            <a:extLst>
              <a:ext uri="{FF2B5EF4-FFF2-40B4-BE49-F238E27FC236}">
                <a16:creationId xmlns:a16="http://schemas.microsoft.com/office/drawing/2014/main" id="{B2263D75-BF9F-4431-B166-BE68E49EF259}"/>
              </a:ext>
            </a:extLst>
          </p:cNvPr>
          <p:cNvSpPr>
            <a:spLocks noGrp="1"/>
          </p:cNvSpPr>
          <p:nvPr/>
        </p:nvSpPr>
        <p:spPr>
          <a:xfrm>
            <a:off x="548640" y="6446520"/>
            <a:ext cx="6400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  <a:defRPr sz="650">
                <a:solidFill>
                  <a:srgbClr val="475569"/>
                </a:solidFill>
              </a:defRPr>
            </a:pPr>
            <a:r>
              <a:t>Sources: O&amp;M Manual Governance module • IOM dated 07 Jan 2026 • 27 Jul 2026</a:t>
            </a:r>
          </a:p>
        </p:txBody>
      </p:sp>
      <p:sp>
        <p:nvSpPr>
          <p:cNvPr id="7" name="COMPLIANCE_NOTE_BANNER">
            <a:extLst>
              <a:ext uri="{FF2B5EF4-FFF2-40B4-BE49-F238E27FC236}">
                <a16:creationId xmlns:a16="http://schemas.microsoft.com/office/drawing/2014/main" id="{68E5E5EB-4B93-4B7F-9068-31FBB3843968}"/>
              </a:ext>
            </a:extLst>
          </p:cNvPr>
          <p:cNvSpPr>
            <a:spLocks noGrp="1"/>
          </p:cNvSpPr>
          <p:nvPr/>
        </p:nvSpPr>
        <p:spPr>
          <a:xfrm>
            <a:off x="514350" y="1028700"/>
            <a:ext cx="7772400" cy="238125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9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anchor="ctr"/>
          <a:lstStyle/>
          <a:p>
            <a:pPr algn="l">
              <a:buNone/>
              <a:defRPr sz="750" b="0">
                <a:solidFill>
                  <a:srgbClr val="66758A"/>
                </a:solidFill>
                <a:latin typeface="Calibri"/>
                <a:ea typeface="Calibri"/>
                <a:cs typeface="Calibri"/>
              </a:defRPr>
            </a:pPr>
            <a:r>
              <a:rPr sz="750" b="0" dirty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750" dirty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Submitted</a:t>
            </a:r>
            <a:r>
              <a:rPr sz="750" b="0" dirty="0">
                <a:solidFill>
                  <a:srgbClr val="66758A"/>
                </a:solidFill>
                <a:latin typeface="Calibri"/>
                <a:ea typeface="Calibri"/>
                <a:cs typeface="Calibri"/>
              </a:rPr>
              <a:t> = at least one uploaded document for the TOC row    |    — Missing = no submitted document</a:t>
            </a:r>
          </a:p>
        </p:txBody>
      </p:sp>
      <p:graphicFrame>
        <p:nvGraphicFramePr>
          <p:cNvPr id="27" name="DELIVERABLES_CROSSTAB_MATRIX"/>
          <p:cNvGraphicFramePr/>
          <p:nvPr>
            <p:extLst>
              <p:ext uri="{D42A27DB-BD31-4B8C-83A1-F6EECF244321}">
                <p14:modId xmlns:p14="http://schemas.microsoft.com/office/powerpoint/2010/main" val="591811173"/>
              </p:ext>
            </p:extLst>
          </p:nvPr>
        </p:nvGraphicFramePr>
        <p:xfrm>
          <a:off x="495300" y="1352550"/>
          <a:ext cx="7810500" cy="474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Governance TOC section</a:t>
                      </a:r>
                    </a:p>
                  </a:txBody>
                  <a:tcPr marL="57150" marR="57150" marT="28575" marB="28575" anchor="ctr">
                    <a:solidFill>
                      <a:srgbClr val="07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AGLIPAY</a:t>
                      </a:r>
                    </a:p>
                  </a:txBody>
                  <a:tcPr marL="57150" marR="57150" marT="28575" marB="28575" anchor="ctr">
                    <a:solidFill>
                      <a:srgbClr val="07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HTT</a:t>
                      </a:r>
                    </a:p>
                  </a:txBody>
                  <a:tcPr marL="57150" marR="57150" marT="28575" marB="28575" anchor="ctr">
                    <a:solidFill>
                      <a:srgbClr val="07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EASTBAY</a:t>
                      </a:r>
                    </a:p>
                  </a:txBody>
                  <a:tcPr marL="57150" marR="57150" marT="28575" marB="28575" anchor="ctr">
                    <a:solidFill>
                      <a:srgbClr val="071B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KAYSAKAT</a:t>
                      </a:r>
                    </a:p>
                  </a:txBody>
                  <a:tcPr marL="57150" marR="57150" marT="28575" marB="28575" anchor="ctr">
                    <a:solidFill>
                      <a:srgbClr val="07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01 Executive Summary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00A878"/>
                          </a:solidFill>
                          <a:latin typeface="Calibri"/>
                          <a:ea typeface="Calibri"/>
                          <a:cs typeface="Calibri"/>
                        </a:rPr>
                        <a:t>✓ </a:t>
                      </a:r>
                      <a:r>
                        <a:rPr lang="en-US" sz="645" b="1" dirty="0">
                          <a:solidFill>
                            <a:srgbClr val="00A878"/>
                          </a:solidFill>
                          <a:latin typeface="Calibri"/>
                          <a:ea typeface="Calibri"/>
                          <a:cs typeface="Calibri"/>
                        </a:rPr>
                        <a:t>Submitted</a:t>
                      </a:r>
                      <a:endParaRPr sz="645" b="1" dirty="0">
                        <a:solidFill>
                          <a:srgbClr val="00A878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02 Facility Overview &amp; Process Description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03 Operating Philosophy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04 Standard Operating Procedures (SOPs)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05 Standard Maintenance Procedures (SMPs)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06 Maintenance Management Framework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07 SCADA and Automation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08 Testing, Commissioning &amp; Proving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BF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09 As-Built Drawings &amp; Final Technical Documentation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D93A45"/>
                          </a:solidFill>
                          <a:latin typeface="+mn-lt"/>
                          <a:ea typeface="+mn-ea"/>
                          <a:cs typeface="+mn-cs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D93A45"/>
                          </a:solidFill>
                          <a:latin typeface="+mn-lt"/>
                          <a:ea typeface="+mn-ea"/>
                          <a:cs typeface="+mn-cs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D93A45"/>
                          </a:solidFill>
                          <a:latin typeface="+mn-lt"/>
                          <a:ea typeface="+mn-ea"/>
                          <a:cs typeface="+mn-cs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10 Training &amp; Competency Records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BF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11 Digital / SAP S/4HANA Onboarding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BF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12 Critical Spares Handover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BF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BF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00A878"/>
                          </a:solidFill>
                          <a:latin typeface="+mn-lt"/>
                          <a:ea typeface="+mn-ea"/>
                          <a:cs typeface="+mn-cs"/>
                        </a:rPr>
                        <a:t>✓ Submitted</a:t>
                      </a:r>
                    </a:p>
                  </a:txBody>
                  <a:tcPr marL="57150" marR="57150" marT="28575" marB="28575" anchor="ctr">
                    <a:solidFill>
                      <a:srgbClr val="EBF9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13 Acceptance &amp; Handover</a:t>
                      </a:r>
                    </a:p>
                  </a:txBody>
                  <a:tcPr marL="5715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45" b="1" dirty="0">
                          <a:solidFill>
                            <a:srgbClr val="D93A45"/>
                          </a:solidFill>
                          <a:latin typeface="+mn-lt"/>
                          <a:ea typeface="+mn-ea"/>
                          <a:cs typeface="+mn-cs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90" b="0">
                          <a:solidFill>
                            <a:srgbClr val="172033"/>
                          </a:solidFill>
                          <a:latin typeface="Calibri"/>
                          <a:ea typeface="Calibri"/>
                          <a:cs typeface="Calibri"/>
                        </a:rPr>
                        <a:t>14 Facility-Specific Addenda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45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— Missing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50" b="1">
                          <a:solidFill>
                            <a:srgbClr val="071B3D"/>
                          </a:solidFill>
                          <a:latin typeface="Calibri"/>
                          <a:ea typeface="Calibri"/>
                          <a:cs typeface="Calibri"/>
                        </a:rPr>
                        <a:t>Approved / Required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D69B00"/>
                          </a:solidFill>
                          <a:latin typeface="Calibri"/>
                          <a:ea typeface="Calibri"/>
                          <a:cs typeface="Calibri"/>
                        </a:rPr>
                        <a:t>3 / 14</a:t>
                      </a:r>
                    </a:p>
                  </a:txBody>
                  <a:tcPr marL="57150" marR="57150" marT="28575" marB="28575" anchor="ctr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00A878"/>
                          </a:solidFill>
                          <a:latin typeface="Calibri"/>
                          <a:ea typeface="Calibri"/>
                          <a:cs typeface="Calibri"/>
                        </a:rPr>
                        <a:t>11 / 14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D69B00"/>
                          </a:solidFill>
                          <a:latin typeface="Calibri"/>
                          <a:ea typeface="Calibri"/>
                          <a:cs typeface="Calibri"/>
                        </a:rPr>
                        <a:t>4 / 14</a:t>
                      </a:r>
                    </a:p>
                  </a:txBody>
                  <a:tcPr marL="57150" marR="57150" marT="28575" marB="28575" anchor="ctr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1 / 14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50" b="1">
                          <a:solidFill>
                            <a:srgbClr val="071B3D"/>
                          </a:solidFill>
                          <a:latin typeface="Calibri"/>
                          <a:ea typeface="Calibri"/>
                          <a:cs typeface="Calibri"/>
                        </a:rPr>
                        <a:t>Compliance</a:t>
                      </a:r>
                    </a:p>
                  </a:txBody>
                  <a:tcPr marL="57150" marR="57150" marT="28575" marB="28575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D69B00"/>
                          </a:solidFill>
                          <a:latin typeface="Calibri"/>
                          <a:ea typeface="Calibri"/>
                          <a:cs typeface="Calibri"/>
                        </a:rPr>
                        <a:t>21%</a:t>
                      </a:r>
                    </a:p>
                  </a:txBody>
                  <a:tcPr marL="57150" marR="57150" marT="28575" marB="28575" anchor="ctr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00A878"/>
                          </a:solidFill>
                          <a:latin typeface="Calibri"/>
                          <a:ea typeface="Calibri"/>
                          <a:cs typeface="Calibri"/>
                        </a:rPr>
                        <a:t>79%</a:t>
                      </a:r>
                    </a:p>
                  </a:txBody>
                  <a:tcPr marL="57150" marR="57150" marT="28575" marB="28575"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>
                          <a:solidFill>
                            <a:srgbClr val="D69B00"/>
                          </a:solidFill>
                          <a:latin typeface="Calibri"/>
                          <a:ea typeface="Calibri"/>
                          <a:cs typeface="Calibri"/>
                        </a:rPr>
                        <a:t>29%</a:t>
                      </a:r>
                    </a:p>
                  </a:txBody>
                  <a:tcPr marL="57150" marR="57150" marT="28575" marB="28575" anchor="ctr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50" b="1" dirty="0">
                          <a:solidFill>
                            <a:srgbClr val="D93A45"/>
                          </a:solidFill>
                          <a:latin typeface="Calibri"/>
                          <a:ea typeface="Calibri"/>
                          <a:cs typeface="Calibri"/>
                        </a:rPr>
                        <a:t>7%</a:t>
                      </a:r>
                    </a:p>
                  </a:txBody>
                  <a:tcPr marL="57150" marR="57150" marT="28575" marB="28575" anchor="ctr">
                    <a:solidFill>
                      <a:srgbClr val="FD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9" name="DELIVERABLES_EXECUTIVE_NOTE">
            <a:extLst>
              <a:ext uri="{FF2B5EF4-FFF2-40B4-BE49-F238E27FC236}">
                <a16:creationId xmlns:a16="http://schemas.microsoft.com/office/drawing/2014/main" id="{4EE74343-F38D-474C-9230-247DCEBB66C6}"/>
              </a:ext>
            </a:extLst>
          </p:cNvPr>
          <p:cNvSpPr>
            <a:spLocks noGrp="1"/>
          </p:cNvSpPr>
          <p:nvPr/>
        </p:nvSpPr>
        <p:spPr>
          <a:xfrm>
            <a:off x="8515350" y="4953000"/>
            <a:ext cx="3105150" cy="933450"/>
          </a:xfrm>
          <a:prstGeom prst="roundRect">
            <a:avLst>
              <a:gd name="adj" fmla="val 10204"/>
            </a:avLst>
          </a:prstGeom>
          <a:solidFill>
            <a:srgbClr val="EAF5FA"/>
          </a:solidFill>
          <a:ln w="9525">
            <a:solidFill>
              <a:srgbClr val="00A6C7"/>
            </a:solidFill>
            <a:prstDash val="solid"/>
          </a:ln>
        </p:spPr>
        <p:txBody>
          <a:bodyPr lIns="133350" tIns="76200" rIns="114300" bIns="76200" anchor="ctr">
            <a:spAutoFit/>
          </a:bodyPr>
          <a:lstStyle/>
          <a:p>
            <a:pPr algn="l">
              <a:buNone/>
              <a:defRPr sz="900" b="0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EXECUTIVE OBSERVATION</a:t>
            </a:r>
          </a:p>
          <a:p>
            <a:pPr algn="l">
              <a:buNone/>
              <a:defRPr sz="900" b="0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HTT leads at 79%.</a:t>
            </a:r>
          </a:p>
          <a:p>
            <a:pPr algn="l">
              <a:buNone/>
              <a:defRPr sz="900" b="0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Eastbay is building submission momentum.</a:t>
            </a:r>
          </a:p>
          <a:p>
            <a:pPr algn="l">
              <a:buNone/>
              <a:defRPr sz="900" b="0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Accelerate Aglipay and Kaysakat before acceptance.</a:t>
            </a:r>
          </a:p>
        </p:txBody>
      </p:sp>
      <p:sp>
        <p:nvSpPr>
          <p:cNvPr id="10" name="DELIVERABLES_TOTAL_PANEL">
            <a:extLst>
              <a:ext uri="{FF2B5EF4-FFF2-40B4-BE49-F238E27FC236}">
                <a16:creationId xmlns:a16="http://schemas.microsoft.com/office/drawing/2014/main" id="{E700CD44-4B24-463F-83CA-64AC5D8A498F}"/>
              </a:ext>
            </a:extLst>
          </p:cNvPr>
          <p:cNvSpPr>
            <a:spLocks noGrp="1"/>
          </p:cNvSpPr>
          <p:nvPr/>
        </p:nvSpPr>
        <p:spPr>
          <a:xfrm>
            <a:off x="8515350" y="1352550"/>
            <a:ext cx="3105150" cy="723900"/>
          </a:xfrm>
          <a:prstGeom prst="roundRect">
            <a:avLst>
              <a:gd name="adj" fmla="val 13158"/>
            </a:avLst>
          </a:prstGeom>
          <a:solidFill>
            <a:srgbClr val="FFF6DF"/>
          </a:solidFill>
          <a:ln w="9525">
            <a:solidFill>
              <a:srgbClr val="D69B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76200" rIns="114300" bIns="76200" anchor="ctr"/>
          <a:lstStyle/>
          <a:p>
            <a:pPr algn="l">
              <a:buNone/>
              <a:defRPr sz="1350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PORTFOLIO</a:t>
            </a:r>
          </a:p>
          <a:p>
            <a:pPr algn="l">
              <a:buNone/>
              <a:defRPr sz="1350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19 / 56  •  34%</a:t>
            </a:r>
          </a:p>
        </p:txBody>
      </p:sp>
      <p:sp>
        <p:nvSpPr>
          <p:cNvPr id="13" name="COMP_AGLIPAY">
            <a:extLst>
              <a:ext uri="{FF2B5EF4-FFF2-40B4-BE49-F238E27FC236}">
                <a16:creationId xmlns:a16="http://schemas.microsoft.com/office/drawing/2014/main" id="{6097AA1F-42DE-4800-88E9-40078A98DDF0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3105150" cy="581025"/>
          </a:xfrm>
          <a:prstGeom prst="roundRect">
            <a:avLst>
              <a:gd name="adj" fmla="val 16393"/>
            </a:avLst>
          </a:prstGeom>
          <a:solidFill>
            <a:srgbClr val="FFF6DF"/>
          </a:solidFill>
          <a:ln w="9525">
            <a:solidFill>
              <a:srgbClr val="EAC65E"/>
            </a:solidFill>
            <a:prstDash val="solid"/>
          </a:ln>
        </p:spPr>
        <p:txBody>
          <a:bodyPr lIns="133350" tIns="76200" rIns="114300" bIns="76200" anchor="ctr"/>
          <a:lstStyle/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AGLIPAY STP</a:t>
            </a:r>
          </a:p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3 / 14  •  21%</a:t>
            </a:r>
          </a:p>
        </p:txBody>
      </p:sp>
      <p:sp>
        <p:nvSpPr>
          <p:cNvPr id="14" name="COMP_AGLIPAY_ACCENT">
            <a:extLst>
              <a:ext uri="{FF2B5EF4-FFF2-40B4-BE49-F238E27FC236}">
                <a16:creationId xmlns:a16="http://schemas.microsoft.com/office/drawing/2014/main" id="{0DAD2722-F6C8-471D-8AE7-B1ED9B7C2446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57150" cy="581025"/>
          </a:xfrm>
          <a:prstGeom prst="roundRect">
            <a:avLst>
              <a:gd name="adj" fmla="val 50000"/>
            </a:avLst>
          </a:prstGeom>
          <a:solidFill>
            <a:srgbClr val="D69B00"/>
          </a:solidFill>
          <a:ln w="0">
            <a:solidFill>
              <a:srgbClr val="D6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MP_HTT">
            <a:extLst>
              <a:ext uri="{FF2B5EF4-FFF2-40B4-BE49-F238E27FC236}">
                <a16:creationId xmlns:a16="http://schemas.microsoft.com/office/drawing/2014/main" id="{3602B44D-48FC-4BE2-854E-D60365716ECD}"/>
              </a:ext>
            </a:extLst>
          </p:cNvPr>
          <p:cNvSpPr>
            <a:spLocks noGrp="1"/>
          </p:cNvSpPr>
          <p:nvPr/>
        </p:nvSpPr>
        <p:spPr>
          <a:xfrm>
            <a:off x="8515350" y="2876550"/>
            <a:ext cx="3105150" cy="581025"/>
          </a:xfrm>
          <a:prstGeom prst="roundRect">
            <a:avLst>
              <a:gd name="adj" fmla="val 16393"/>
            </a:avLst>
          </a:prstGeom>
          <a:solidFill>
            <a:srgbClr val="EAF8F2"/>
          </a:solidFill>
          <a:ln w="9525">
            <a:solidFill>
              <a:srgbClr val="87D4B5"/>
            </a:solidFill>
            <a:prstDash val="solid"/>
          </a:ln>
        </p:spPr>
        <p:txBody>
          <a:bodyPr lIns="133350" tIns="76200" rIns="114300" bIns="76200" anchor="ctr"/>
          <a:lstStyle/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HTT STP</a:t>
            </a:r>
          </a:p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11 / 14  •  79%</a:t>
            </a:r>
          </a:p>
        </p:txBody>
      </p:sp>
      <p:sp>
        <p:nvSpPr>
          <p:cNvPr id="16" name="COMP_HTT_ACCENT">
            <a:extLst>
              <a:ext uri="{FF2B5EF4-FFF2-40B4-BE49-F238E27FC236}">
                <a16:creationId xmlns:a16="http://schemas.microsoft.com/office/drawing/2014/main" id="{B8C82E15-B991-4AEB-B412-14853C6FFB28}"/>
              </a:ext>
            </a:extLst>
          </p:cNvPr>
          <p:cNvSpPr>
            <a:spLocks noGrp="1"/>
          </p:cNvSpPr>
          <p:nvPr/>
        </p:nvSpPr>
        <p:spPr>
          <a:xfrm>
            <a:off x="8515350" y="2876550"/>
            <a:ext cx="57150" cy="581025"/>
          </a:xfrm>
          <a:prstGeom prst="roundRect">
            <a:avLst>
              <a:gd name="adj" fmla="val 50000"/>
            </a:avLst>
          </a:prstGeom>
          <a:solidFill>
            <a:srgbClr val="00A878"/>
          </a:solidFill>
          <a:ln w="0">
            <a:solidFill>
              <a:srgbClr val="00A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OMP_EASTBAY">
            <a:extLst>
              <a:ext uri="{FF2B5EF4-FFF2-40B4-BE49-F238E27FC236}">
                <a16:creationId xmlns:a16="http://schemas.microsoft.com/office/drawing/2014/main" id="{988D9BA7-65A9-42CE-904F-6AEDAC055576}"/>
              </a:ext>
            </a:extLst>
          </p:cNvPr>
          <p:cNvSpPr>
            <a:spLocks noGrp="1"/>
          </p:cNvSpPr>
          <p:nvPr/>
        </p:nvSpPr>
        <p:spPr>
          <a:xfrm>
            <a:off x="8515350" y="3562350"/>
            <a:ext cx="3105150" cy="581025"/>
          </a:xfrm>
          <a:prstGeom prst="roundRect">
            <a:avLst>
              <a:gd name="adj" fmla="val 16393"/>
            </a:avLst>
          </a:prstGeom>
          <a:solidFill>
            <a:srgbClr val="FFF6DF"/>
          </a:solidFill>
          <a:ln w="9525">
            <a:solidFill>
              <a:srgbClr val="EAC65E"/>
            </a:solidFill>
            <a:prstDash val="solid"/>
          </a:ln>
        </p:spPr>
        <p:txBody>
          <a:bodyPr lIns="133350" tIns="76200" rIns="114300" bIns="76200" anchor="ctr"/>
          <a:lstStyle/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EASTBAY PH-2 TP</a:t>
            </a:r>
          </a:p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4 / 14  •  29%</a:t>
            </a:r>
          </a:p>
        </p:txBody>
      </p:sp>
      <p:sp>
        <p:nvSpPr>
          <p:cNvPr id="18" name="COMP_EASTBAY_ACCENT">
            <a:extLst>
              <a:ext uri="{FF2B5EF4-FFF2-40B4-BE49-F238E27FC236}">
                <a16:creationId xmlns:a16="http://schemas.microsoft.com/office/drawing/2014/main" id="{5CC31EA7-CF73-41D2-8474-F246DAAD9196}"/>
              </a:ext>
            </a:extLst>
          </p:cNvPr>
          <p:cNvSpPr>
            <a:spLocks noGrp="1"/>
          </p:cNvSpPr>
          <p:nvPr/>
        </p:nvSpPr>
        <p:spPr>
          <a:xfrm>
            <a:off x="8515350" y="3562350"/>
            <a:ext cx="57150" cy="581025"/>
          </a:xfrm>
          <a:prstGeom prst="roundRect">
            <a:avLst>
              <a:gd name="adj" fmla="val 50000"/>
            </a:avLst>
          </a:prstGeom>
          <a:solidFill>
            <a:srgbClr val="D69B00"/>
          </a:solidFill>
          <a:ln w="0">
            <a:solidFill>
              <a:srgbClr val="D69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OMP_KAYSAKAT">
            <a:extLst>
              <a:ext uri="{FF2B5EF4-FFF2-40B4-BE49-F238E27FC236}">
                <a16:creationId xmlns:a16="http://schemas.microsoft.com/office/drawing/2014/main" id="{F2E20A7C-091E-4AFA-9A65-B583C21740D5}"/>
              </a:ext>
            </a:extLst>
          </p:cNvPr>
          <p:cNvSpPr>
            <a:spLocks noGrp="1"/>
          </p:cNvSpPr>
          <p:nvPr/>
        </p:nvSpPr>
        <p:spPr>
          <a:xfrm>
            <a:off x="8515350" y="4248150"/>
            <a:ext cx="3105150" cy="581025"/>
          </a:xfrm>
          <a:prstGeom prst="roundRect">
            <a:avLst>
              <a:gd name="adj" fmla="val 16393"/>
            </a:avLst>
          </a:prstGeom>
          <a:solidFill>
            <a:srgbClr val="FDEEEF"/>
          </a:solidFill>
          <a:ln w="9525">
            <a:solidFill>
              <a:srgbClr val="F2B8BD"/>
            </a:solidFill>
            <a:prstDash val="solid"/>
          </a:ln>
        </p:spPr>
        <p:txBody>
          <a:bodyPr lIns="133350" tIns="76200" rIns="114300" bIns="76200" anchor="ctr"/>
          <a:lstStyle/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KAYSAKAT TP</a:t>
            </a:r>
          </a:p>
          <a:p>
            <a:pPr algn="l">
              <a:defRPr sz="1125" b="1">
                <a:solidFill>
                  <a:srgbClr val="071B3D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71B3D"/>
                </a:solidFill>
                <a:latin typeface="Calibri"/>
                <a:ea typeface="Calibri"/>
                <a:cs typeface="Calibri"/>
              </a:rPr>
              <a:t>1 / 14  •  7%</a:t>
            </a:r>
          </a:p>
        </p:txBody>
      </p:sp>
      <p:sp>
        <p:nvSpPr>
          <p:cNvPr id="20" name="COMP_KAYSAKAT_ACCENT">
            <a:extLst>
              <a:ext uri="{FF2B5EF4-FFF2-40B4-BE49-F238E27FC236}">
                <a16:creationId xmlns:a16="http://schemas.microsoft.com/office/drawing/2014/main" id="{38D0E425-783A-4425-B84E-BD2FE94C39C5}"/>
              </a:ext>
            </a:extLst>
          </p:cNvPr>
          <p:cNvSpPr>
            <a:spLocks noGrp="1"/>
          </p:cNvSpPr>
          <p:nvPr/>
        </p:nvSpPr>
        <p:spPr>
          <a:xfrm>
            <a:off x="8515350" y="4248150"/>
            <a:ext cx="57150" cy="581025"/>
          </a:xfrm>
          <a:prstGeom prst="roundRect">
            <a:avLst>
              <a:gd name="adj" fmla="val 50000"/>
            </a:avLst>
          </a:prstGeom>
          <a:solidFill>
            <a:srgbClr val="D93A45"/>
          </a:solidFill>
          <a:ln w="0">
            <a:solidFill>
              <a:srgbClr val="D93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060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972</Words>
  <Application>Microsoft Macintosh PowerPoint</Application>
  <DocSecurity>0</DocSecurity>
  <PresentationFormat>Widescreen</PresentationFormat>
  <Paragraphs>220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2026-07-28T04:41:00Z</dcterms:created>
  <dcterms:modified xsi:type="dcterms:W3CDTF">2026-07-29T04:25:57Z</dcterms:modified>
</cp:coreProperties>
</file>