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PPP Status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facilities in PPP execution; 2 in pre-PPP readiness | July 31,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615184" y="914400"/>
            <a:ext cx="2734056" cy="237744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" name="Text 3"/>
          <p:cNvSpPr/>
          <p:nvPr/>
        </p:nvSpPr>
        <p:spPr>
          <a:xfrm>
            <a:off x="2615184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 •  Commissioning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0136" y="914400"/>
            <a:ext cx="2734056" cy="237744"/>
          </a:xfrm>
          <a:prstGeom prst="rect">
            <a:avLst/>
          </a:prstGeom>
          <a:solidFill>
            <a:srgbClr val="17324F"/>
          </a:solidFill>
          <a:ln/>
        </p:spPr>
      </p:sp>
      <p:sp>
        <p:nvSpPr>
          <p:cNvPr id="7" name="Text 5"/>
          <p:cNvSpPr/>
          <p:nvPr/>
        </p:nvSpPr>
        <p:spPr>
          <a:xfrm>
            <a:off x="5660136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 •  Execution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59368" y="914400"/>
            <a:ext cx="2734056" cy="237744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9" name="Text 7"/>
          <p:cNvSpPr/>
          <p:nvPr/>
        </p:nvSpPr>
        <p:spPr>
          <a:xfrm>
            <a:off x="8659368" y="914400"/>
            <a:ext cx="27340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POST-PPP  •  Sustainment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688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T&amp;C Complete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48056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Punchlist Closed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53212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Setup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3796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Execution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4380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9808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54964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M7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0392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55548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M8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50976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Active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561320" y="1335024"/>
            <a:ext cx="850392" cy="192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M9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515600" y="155448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Ready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214884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24028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4360" y="245059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94360" y="262432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MAR 13, 2026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34640" y="240487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33" name="Text 31"/>
          <p:cNvSpPr/>
          <p:nvPr/>
        </p:nvSpPr>
        <p:spPr>
          <a:xfrm>
            <a:off x="283464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84048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35" name="Text 33"/>
          <p:cNvSpPr/>
          <p:nvPr/>
        </p:nvSpPr>
        <p:spPr>
          <a:xfrm>
            <a:off x="384048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4632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37" name="Text 35"/>
          <p:cNvSpPr/>
          <p:nvPr/>
        </p:nvSpPr>
        <p:spPr>
          <a:xfrm>
            <a:off x="484632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85216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39" name="Text 37"/>
          <p:cNvSpPr/>
          <p:nvPr/>
        </p:nvSpPr>
        <p:spPr>
          <a:xfrm>
            <a:off x="585216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858000" y="240487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41" name="Text 39"/>
          <p:cNvSpPr/>
          <p:nvPr/>
        </p:nvSpPr>
        <p:spPr>
          <a:xfrm>
            <a:off x="685800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786384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3" name="Text 41"/>
          <p:cNvSpPr/>
          <p:nvPr/>
        </p:nvSpPr>
        <p:spPr>
          <a:xfrm>
            <a:off x="786384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86968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5" name="Text 43"/>
          <p:cNvSpPr/>
          <p:nvPr/>
        </p:nvSpPr>
        <p:spPr>
          <a:xfrm>
            <a:off x="886968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87552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7" name="Text 45"/>
          <p:cNvSpPr/>
          <p:nvPr/>
        </p:nvSpPr>
        <p:spPr>
          <a:xfrm>
            <a:off x="987552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881360" y="240487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9" name="Text 47"/>
          <p:cNvSpPr/>
          <p:nvPr/>
        </p:nvSpPr>
        <p:spPr>
          <a:xfrm>
            <a:off x="10881360" y="240487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2578608" y="283464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AGLIPAY: Active PPP with 0% documentation compliance; immediate recovery required.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3154680"/>
            <a:ext cx="11274552" cy="1005840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52" name="Shape 50"/>
          <p:cNvSpPr/>
          <p:nvPr/>
        </p:nvSpPr>
        <p:spPr>
          <a:xfrm>
            <a:off x="457200" y="315468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3" name="Text 51"/>
          <p:cNvSpPr/>
          <p:nvPr/>
        </p:nvSpPr>
        <p:spPr>
          <a:xfrm>
            <a:off x="594360" y="324612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4360" y="345643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94360" y="363016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MAR 13, 2026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834640" y="341071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57" name="Text 55"/>
          <p:cNvSpPr/>
          <p:nvPr/>
        </p:nvSpPr>
        <p:spPr>
          <a:xfrm>
            <a:off x="283464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3840480" y="341071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59" name="Text 57"/>
          <p:cNvSpPr/>
          <p:nvPr/>
        </p:nvSpPr>
        <p:spPr>
          <a:xfrm>
            <a:off x="384048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4846320" y="341071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61" name="Text 59"/>
          <p:cNvSpPr/>
          <p:nvPr/>
        </p:nvSpPr>
        <p:spPr>
          <a:xfrm>
            <a:off x="484632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585216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3" name="Text 61"/>
          <p:cNvSpPr/>
          <p:nvPr/>
        </p:nvSpPr>
        <p:spPr>
          <a:xfrm>
            <a:off x="585216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6858000" y="341071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65" name="Text 63"/>
          <p:cNvSpPr/>
          <p:nvPr/>
        </p:nvSpPr>
        <p:spPr>
          <a:xfrm>
            <a:off x="685800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786384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7" name="Text 65"/>
          <p:cNvSpPr/>
          <p:nvPr/>
        </p:nvSpPr>
        <p:spPr>
          <a:xfrm>
            <a:off x="786384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886968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9" name="Text 67"/>
          <p:cNvSpPr/>
          <p:nvPr/>
        </p:nvSpPr>
        <p:spPr>
          <a:xfrm>
            <a:off x="886968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987552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71" name="Text 69"/>
          <p:cNvSpPr/>
          <p:nvPr/>
        </p:nvSpPr>
        <p:spPr>
          <a:xfrm>
            <a:off x="987552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10881360" y="341071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73" name="Text 71"/>
          <p:cNvSpPr/>
          <p:nvPr/>
        </p:nvSpPr>
        <p:spPr>
          <a:xfrm>
            <a:off x="10881360" y="341071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74" name="Text 72"/>
          <p:cNvSpPr/>
          <p:nvPr/>
        </p:nvSpPr>
        <p:spPr>
          <a:xfrm>
            <a:off x="2578608" y="384048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HTT: Active PPP with 79% documentation compliance.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416052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76" name="Text 74"/>
          <p:cNvSpPr/>
          <p:nvPr/>
        </p:nvSpPr>
        <p:spPr>
          <a:xfrm>
            <a:off x="594360" y="425196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594360" y="446227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• IN PROGRESS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594360" y="463600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SEP 01, 2026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34640" y="441655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80" name="Text 78"/>
          <p:cNvSpPr/>
          <p:nvPr/>
        </p:nvSpPr>
        <p:spPr>
          <a:xfrm>
            <a:off x="283464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1" name="Shape 79"/>
          <p:cNvSpPr/>
          <p:nvPr/>
        </p:nvSpPr>
        <p:spPr>
          <a:xfrm>
            <a:off x="384048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2" name="Text 80"/>
          <p:cNvSpPr/>
          <p:nvPr/>
        </p:nvSpPr>
        <p:spPr>
          <a:xfrm>
            <a:off x="384048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4846320" y="4416552"/>
            <a:ext cx="210312" cy="22860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84" name="Text 82"/>
          <p:cNvSpPr/>
          <p:nvPr/>
        </p:nvSpPr>
        <p:spPr>
          <a:xfrm>
            <a:off x="484632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5" name="Shape 83"/>
          <p:cNvSpPr/>
          <p:nvPr/>
        </p:nvSpPr>
        <p:spPr>
          <a:xfrm>
            <a:off x="585216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86" name="Text 84"/>
          <p:cNvSpPr/>
          <p:nvPr/>
        </p:nvSpPr>
        <p:spPr>
          <a:xfrm>
            <a:off x="585216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85800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88" name="Text 86"/>
          <p:cNvSpPr/>
          <p:nvPr/>
        </p:nvSpPr>
        <p:spPr>
          <a:xfrm>
            <a:off x="685800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89" name="Shape 87"/>
          <p:cNvSpPr/>
          <p:nvPr/>
        </p:nvSpPr>
        <p:spPr>
          <a:xfrm>
            <a:off x="786384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0" name="Text 88"/>
          <p:cNvSpPr/>
          <p:nvPr/>
        </p:nvSpPr>
        <p:spPr>
          <a:xfrm>
            <a:off x="786384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1" name="Shape 89"/>
          <p:cNvSpPr/>
          <p:nvPr/>
        </p:nvSpPr>
        <p:spPr>
          <a:xfrm>
            <a:off x="886968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2" name="Text 90"/>
          <p:cNvSpPr/>
          <p:nvPr/>
        </p:nvSpPr>
        <p:spPr>
          <a:xfrm>
            <a:off x="886968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3" name="Shape 91"/>
          <p:cNvSpPr/>
          <p:nvPr/>
        </p:nvSpPr>
        <p:spPr>
          <a:xfrm>
            <a:off x="987552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4" name="Text 92"/>
          <p:cNvSpPr/>
          <p:nvPr/>
        </p:nvSpPr>
        <p:spPr>
          <a:xfrm>
            <a:off x="987552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10881360" y="441655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96" name="Text 94"/>
          <p:cNvSpPr/>
          <p:nvPr/>
        </p:nvSpPr>
        <p:spPr>
          <a:xfrm>
            <a:off x="10881360" y="441655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97" name="Text 95"/>
          <p:cNvSpPr/>
          <p:nvPr/>
        </p:nvSpPr>
        <p:spPr>
          <a:xfrm>
            <a:off x="2578608" y="484632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EASTBAY: Pre-PPP readiness at 29% documentation compliance.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457200" y="5166360"/>
            <a:ext cx="11274552" cy="1005840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99" name="Shape 97"/>
          <p:cNvSpPr/>
          <p:nvPr/>
        </p:nvSpPr>
        <p:spPr>
          <a:xfrm>
            <a:off x="457200" y="5166360"/>
            <a:ext cx="137160" cy="100584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100" name="Text 98"/>
          <p:cNvSpPr/>
          <p:nvPr/>
        </p:nvSpPr>
        <p:spPr>
          <a:xfrm>
            <a:off x="594360" y="5257800"/>
            <a:ext cx="200253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1300" dirty="0"/>
          </a:p>
        </p:txBody>
      </p:sp>
      <p:sp>
        <p:nvSpPr>
          <p:cNvPr id="101" name="Text 99"/>
          <p:cNvSpPr/>
          <p:nvPr/>
        </p:nvSpPr>
        <p:spPr>
          <a:xfrm>
            <a:off x="594360" y="5468112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• IN PROGRESS</a:t>
            </a:r>
            <a:endParaRPr lang="en-US" sz="1200" dirty="0"/>
          </a:p>
        </p:txBody>
      </p:sp>
      <p:sp>
        <p:nvSpPr>
          <p:cNvPr id="102" name="Text 100"/>
          <p:cNvSpPr/>
          <p:nvPr/>
        </p:nvSpPr>
        <p:spPr>
          <a:xfrm>
            <a:off x="594360" y="5641848"/>
            <a:ext cx="2002536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START  SEP 01, 2026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2834640" y="5422392"/>
            <a:ext cx="210312" cy="22860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104" name="Text 102"/>
          <p:cNvSpPr/>
          <p:nvPr/>
        </p:nvSpPr>
        <p:spPr>
          <a:xfrm>
            <a:off x="283464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5" name="Shape 103"/>
          <p:cNvSpPr/>
          <p:nvPr/>
        </p:nvSpPr>
        <p:spPr>
          <a:xfrm>
            <a:off x="384048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06" name="Text 104"/>
          <p:cNvSpPr/>
          <p:nvPr/>
        </p:nvSpPr>
        <p:spPr>
          <a:xfrm>
            <a:off x="384048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07" name="Shape 105"/>
          <p:cNvSpPr/>
          <p:nvPr/>
        </p:nvSpPr>
        <p:spPr>
          <a:xfrm>
            <a:off x="484632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08" name="Text 106"/>
          <p:cNvSpPr/>
          <p:nvPr/>
        </p:nvSpPr>
        <p:spPr>
          <a:xfrm>
            <a:off x="484632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09" name="Shape 107"/>
          <p:cNvSpPr/>
          <p:nvPr/>
        </p:nvSpPr>
        <p:spPr>
          <a:xfrm>
            <a:off x="585216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0" name="Text 108"/>
          <p:cNvSpPr/>
          <p:nvPr/>
        </p:nvSpPr>
        <p:spPr>
          <a:xfrm>
            <a:off x="585216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1" name="Shape 109"/>
          <p:cNvSpPr/>
          <p:nvPr/>
        </p:nvSpPr>
        <p:spPr>
          <a:xfrm>
            <a:off x="685800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2" name="Text 110"/>
          <p:cNvSpPr/>
          <p:nvPr/>
        </p:nvSpPr>
        <p:spPr>
          <a:xfrm>
            <a:off x="685800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3" name="Shape 111"/>
          <p:cNvSpPr/>
          <p:nvPr/>
        </p:nvSpPr>
        <p:spPr>
          <a:xfrm>
            <a:off x="786384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4" name="Text 112"/>
          <p:cNvSpPr/>
          <p:nvPr/>
        </p:nvSpPr>
        <p:spPr>
          <a:xfrm>
            <a:off x="786384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5" name="Shape 113"/>
          <p:cNvSpPr/>
          <p:nvPr/>
        </p:nvSpPr>
        <p:spPr>
          <a:xfrm>
            <a:off x="886968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6" name="Text 114"/>
          <p:cNvSpPr/>
          <p:nvPr/>
        </p:nvSpPr>
        <p:spPr>
          <a:xfrm>
            <a:off x="886968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7" name="Shape 115"/>
          <p:cNvSpPr/>
          <p:nvPr/>
        </p:nvSpPr>
        <p:spPr>
          <a:xfrm>
            <a:off x="987552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18" name="Text 116"/>
          <p:cNvSpPr/>
          <p:nvPr/>
        </p:nvSpPr>
        <p:spPr>
          <a:xfrm>
            <a:off x="987552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19" name="Shape 117"/>
          <p:cNvSpPr/>
          <p:nvPr/>
        </p:nvSpPr>
        <p:spPr>
          <a:xfrm>
            <a:off x="10881360" y="5422392"/>
            <a:ext cx="210312" cy="22860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20" name="Text 118"/>
          <p:cNvSpPr/>
          <p:nvPr/>
        </p:nvSpPr>
        <p:spPr>
          <a:xfrm>
            <a:off x="10881360" y="5422392"/>
            <a:ext cx="21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400" dirty="0"/>
          </a:p>
        </p:txBody>
      </p:sp>
      <p:sp>
        <p:nvSpPr>
          <p:cNvPr id="121" name="Text 119"/>
          <p:cNvSpPr/>
          <p:nvPr/>
        </p:nvSpPr>
        <p:spPr>
          <a:xfrm>
            <a:off x="2578608" y="5852160"/>
            <a:ext cx="8887968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KAYSAKAT: Pre-PPP readiness at 7% documentation compliance.</a:t>
            </a:r>
            <a:endParaRPr lang="en-US" sz="1100" dirty="0"/>
          </a:p>
        </p:txBody>
      </p:sp>
      <p:sp>
        <p:nvSpPr>
          <p:cNvPr id="122" name="Shape 120"/>
          <p:cNvSpPr/>
          <p:nvPr/>
        </p:nvSpPr>
        <p:spPr>
          <a:xfrm>
            <a:off x="2578608" y="6053328"/>
            <a:ext cx="182880" cy="182880"/>
          </a:xfrm>
          <a:prstGeom prst="rect">
            <a:avLst/>
          </a:prstGeom>
          <a:solidFill>
            <a:srgbClr val="169873"/>
          </a:solidFill>
          <a:ln/>
        </p:spPr>
      </p:sp>
      <p:sp>
        <p:nvSpPr>
          <p:cNvPr id="123" name="Text 121"/>
          <p:cNvSpPr/>
          <p:nvPr/>
        </p:nvSpPr>
        <p:spPr>
          <a:xfrm>
            <a:off x="257860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280720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4041648" y="6053328"/>
            <a:ext cx="182880" cy="182880"/>
          </a:xfrm>
          <a:prstGeom prst="rect">
            <a:avLst/>
          </a:prstGeom>
          <a:solidFill>
            <a:srgbClr val="007DA7"/>
          </a:solidFill>
          <a:ln/>
        </p:spPr>
      </p:sp>
      <p:sp>
        <p:nvSpPr>
          <p:cNvPr id="126" name="Text 124"/>
          <p:cNvSpPr/>
          <p:nvPr/>
        </p:nvSpPr>
        <p:spPr>
          <a:xfrm>
            <a:off x="404164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7" name="Text 125"/>
          <p:cNvSpPr/>
          <p:nvPr/>
        </p:nvSpPr>
        <p:spPr>
          <a:xfrm>
            <a:off x="427024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Ahead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5504688" y="6053328"/>
            <a:ext cx="182880" cy="182880"/>
          </a:xfrm>
          <a:prstGeom prst="rect">
            <a:avLst/>
          </a:prstGeom>
          <a:solidFill>
            <a:srgbClr val="FDECE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50468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100" dirty="0"/>
          </a:p>
        </p:txBody>
      </p:sp>
      <p:sp>
        <p:nvSpPr>
          <p:cNvPr id="130" name="Text 128"/>
          <p:cNvSpPr/>
          <p:nvPr/>
        </p:nvSpPr>
        <p:spPr>
          <a:xfrm>
            <a:off x="573328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</a:t>
            </a:r>
            <a:endParaRPr lang="en-US" sz="1200" dirty="0"/>
          </a:p>
        </p:txBody>
      </p:sp>
      <p:sp>
        <p:nvSpPr>
          <p:cNvPr id="131" name="Shape 129"/>
          <p:cNvSpPr/>
          <p:nvPr/>
        </p:nvSpPr>
        <p:spPr>
          <a:xfrm>
            <a:off x="6967728" y="6053328"/>
            <a:ext cx="182880" cy="18288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132" name="Text 130"/>
          <p:cNvSpPr/>
          <p:nvPr/>
        </p:nvSpPr>
        <p:spPr>
          <a:xfrm>
            <a:off x="6967728" y="6053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100" dirty="0"/>
          </a:p>
        </p:txBody>
      </p:sp>
      <p:sp>
        <p:nvSpPr>
          <p:cNvPr id="133" name="Text 131"/>
          <p:cNvSpPr/>
          <p:nvPr/>
        </p:nvSpPr>
        <p:spPr>
          <a:xfrm>
            <a:off x="7196328" y="6035040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457200" y="6400800"/>
            <a:ext cx="11274552" cy="329184"/>
          </a:xfrm>
          <a:prstGeom prst="rect">
            <a:avLst/>
          </a:prstGeom>
          <a:solidFill>
            <a:srgbClr val="FDECEF"/>
          </a:solidFill>
          <a:ln/>
        </p:spPr>
      </p:sp>
      <p:sp>
        <p:nvSpPr>
          <p:cNvPr id="135" name="Text 133"/>
          <p:cNvSpPr/>
          <p:nvPr/>
        </p:nvSpPr>
        <p:spPr>
          <a:xfrm>
            <a:off x="612648" y="6464808"/>
            <a:ext cx="1234440" cy="210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</a:t>
            </a:r>
            <a:endParaRPr lang="en-US" sz="1200" dirty="0"/>
          </a:p>
        </p:txBody>
      </p:sp>
      <p:sp>
        <p:nvSpPr>
          <p:cNvPr id="136" name="Text 134"/>
          <p:cNvSpPr/>
          <p:nvPr/>
        </p:nvSpPr>
        <p:spPr>
          <a:xfrm>
            <a:off x="1773936" y="6400800"/>
            <a:ext cx="956462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Gate: PM Setup for AGLIPAY and HTT | Status: On Schedule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PPP Position by Facility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Progress from Start Date to Today | July 31, 2026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" y="978408"/>
            <a:ext cx="1188720" cy="283464"/>
          </a:xfrm>
          <a:prstGeom prst="rect">
            <a:avLst/>
          </a:prstGeom>
          <a:solidFill>
            <a:srgbClr val="DDEBF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828800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06824" y="978408"/>
            <a:ext cx="1188720" cy="283464"/>
          </a:xfrm>
          <a:prstGeom prst="rect">
            <a:avLst/>
          </a:prstGeom>
          <a:solidFill>
            <a:srgbClr val="DDF5F9"/>
          </a:solidFill>
          <a:ln/>
        </p:spPr>
      </p:sp>
      <p:sp>
        <p:nvSpPr>
          <p:cNvPr id="8" name="Text 6"/>
          <p:cNvSpPr/>
          <p:nvPr/>
        </p:nvSpPr>
        <p:spPr>
          <a:xfrm>
            <a:off x="4306824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541264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19288" y="978408"/>
            <a:ext cx="1188720" cy="283464"/>
          </a:xfrm>
          <a:prstGeom prst="rect">
            <a:avLst/>
          </a:prstGeom>
          <a:solidFill>
            <a:srgbClr val="DFF3EC"/>
          </a:solidFill>
          <a:ln/>
        </p:spPr>
      </p:sp>
      <p:sp>
        <p:nvSpPr>
          <p:cNvPr id="11" name="Text 9"/>
          <p:cNvSpPr/>
          <p:nvPr/>
        </p:nvSpPr>
        <p:spPr>
          <a:xfrm>
            <a:off x="8019288" y="996696"/>
            <a:ext cx="1188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98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POST-PPP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253728" y="1014984"/>
            <a:ext cx="16459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76272" y="5120640"/>
            <a:ext cx="8833104" cy="18288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2176272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5" name="Text 13"/>
          <p:cNvSpPr/>
          <p:nvPr/>
        </p:nvSpPr>
        <p:spPr>
          <a:xfrm>
            <a:off x="1773936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48456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7" name="Text 15"/>
          <p:cNvSpPr/>
          <p:nvPr/>
        </p:nvSpPr>
        <p:spPr>
          <a:xfrm>
            <a:off x="3246120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20640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19" name="Text 17"/>
          <p:cNvSpPr/>
          <p:nvPr/>
        </p:nvSpPr>
        <p:spPr>
          <a:xfrm>
            <a:off x="4718304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92824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1" name="Text 19"/>
          <p:cNvSpPr/>
          <p:nvPr/>
        </p:nvSpPr>
        <p:spPr>
          <a:xfrm>
            <a:off x="6190488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65008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3" name="Text 21"/>
          <p:cNvSpPr/>
          <p:nvPr/>
        </p:nvSpPr>
        <p:spPr>
          <a:xfrm>
            <a:off x="7662672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 2027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37192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5" name="Text 23"/>
          <p:cNvSpPr/>
          <p:nvPr/>
        </p:nvSpPr>
        <p:spPr>
          <a:xfrm>
            <a:off x="9134856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009376" y="5074920"/>
            <a:ext cx="18288" cy="109728"/>
          </a:xfrm>
          <a:prstGeom prst="rect">
            <a:avLst/>
          </a:prstGeom>
          <a:solidFill>
            <a:srgbClr val="60758A"/>
          </a:solidFill>
          <a:ln/>
        </p:spPr>
      </p:sp>
      <p:sp>
        <p:nvSpPr>
          <p:cNvPr id="27" name="Text 25"/>
          <p:cNvSpPr/>
          <p:nvPr/>
        </p:nvSpPr>
        <p:spPr>
          <a:xfrm>
            <a:off x="10607040" y="5193792"/>
            <a:ext cx="804672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02352" y="1463040"/>
            <a:ext cx="36576" cy="3657600"/>
          </a:xfrm>
          <a:prstGeom prst="rect">
            <a:avLst/>
          </a:prstGeom>
          <a:solidFill>
            <a:srgbClr val="E63950"/>
          </a:solidFill>
          <a:ln/>
        </p:spPr>
      </p:sp>
      <p:sp>
        <p:nvSpPr>
          <p:cNvPr id="29" name="Text 27"/>
          <p:cNvSpPr/>
          <p:nvPr/>
        </p:nvSpPr>
        <p:spPr>
          <a:xfrm>
            <a:off x="4389120" y="141732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E639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JUL 2026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784080" y="1783080"/>
            <a:ext cx="2103120" cy="594360"/>
          </a:xfrm>
          <a:prstGeom prst="rect">
            <a:avLst/>
          </a:prstGeom>
          <a:solidFill>
            <a:srgbClr val="F4F7F9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0" y="1810512"/>
            <a:ext cx="1828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875520" y="2011680"/>
            <a:ext cx="274320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33" name="Text 31"/>
          <p:cNvSpPr/>
          <p:nvPr/>
        </p:nvSpPr>
        <p:spPr>
          <a:xfrm>
            <a:off x="10241280" y="199339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PPP Period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875520" y="2194560"/>
            <a:ext cx="274320" cy="13716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35" name="Text 33"/>
          <p:cNvSpPr/>
          <p:nvPr/>
        </p:nvSpPr>
        <p:spPr>
          <a:xfrm>
            <a:off x="10241280" y="2176272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PPP Start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176272" y="205740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182880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" y="208483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MAR 2026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66032" y="201168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10400" y="201168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1" name="Shape 39"/>
          <p:cNvSpPr/>
          <p:nvPr/>
        </p:nvSpPr>
        <p:spPr>
          <a:xfrm>
            <a:off x="4139184" y="2057400"/>
            <a:ext cx="981456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42" name="Shape 40"/>
          <p:cNvSpPr/>
          <p:nvPr/>
        </p:nvSpPr>
        <p:spPr>
          <a:xfrm>
            <a:off x="5120640" y="2057400"/>
            <a:ext cx="1962912" cy="137160"/>
          </a:xfrm>
          <a:prstGeom prst="rect">
            <a:avLst/>
          </a:prstGeom>
          <a:solidFill>
            <a:srgbClr val="A8D5E5"/>
          </a:solidFill>
          <a:ln/>
        </p:spPr>
      </p:sp>
      <p:sp>
        <p:nvSpPr>
          <p:cNvPr id="43" name="Text 41"/>
          <p:cNvSpPr/>
          <p:nvPr/>
        </p:nvSpPr>
        <p:spPr>
          <a:xfrm>
            <a:off x="5257800" y="20116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257800" y="224028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4/9 milestones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176272" y="292608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269748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57200" y="295351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MAR 2026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066032" y="288036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49" name="Shape 47"/>
          <p:cNvSpPr/>
          <p:nvPr/>
        </p:nvSpPr>
        <p:spPr>
          <a:xfrm>
            <a:off x="7010400" y="288036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0" name="Shape 48"/>
          <p:cNvSpPr/>
          <p:nvPr/>
        </p:nvSpPr>
        <p:spPr>
          <a:xfrm>
            <a:off x="4139184" y="2926080"/>
            <a:ext cx="981456" cy="137160"/>
          </a:xfrm>
          <a:prstGeom prst="rect">
            <a:avLst/>
          </a:prstGeom>
          <a:solidFill>
            <a:srgbClr val="00A9C5"/>
          </a:solidFill>
          <a:ln/>
        </p:spPr>
      </p:sp>
      <p:sp>
        <p:nvSpPr>
          <p:cNvPr id="51" name="Shape 49"/>
          <p:cNvSpPr/>
          <p:nvPr/>
        </p:nvSpPr>
        <p:spPr>
          <a:xfrm>
            <a:off x="5120640" y="2926080"/>
            <a:ext cx="1962912" cy="137160"/>
          </a:xfrm>
          <a:prstGeom prst="rect">
            <a:avLst/>
          </a:prstGeom>
          <a:solidFill>
            <a:srgbClr val="A8D5E5"/>
          </a:solidFill>
          <a:ln/>
        </p:spPr>
      </p:sp>
      <p:sp>
        <p:nvSpPr>
          <p:cNvPr id="52" name="Text 50"/>
          <p:cNvSpPr/>
          <p:nvPr/>
        </p:nvSpPr>
        <p:spPr>
          <a:xfrm>
            <a:off x="525780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A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 ACTIVE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257800" y="310896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4/9 milestones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2176272" y="379476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356616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457200" y="382219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SEP 2026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538216" y="374904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8" name="Shape 56"/>
          <p:cNvSpPr/>
          <p:nvPr/>
        </p:nvSpPr>
        <p:spPr>
          <a:xfrm>
            <a:off x="8482584" y="374904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611368" y="3794760"/>
            <a:ext cx="2944368" cy="137160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60" name="Text 58"/>
          <p:cNvSpPr/>
          <p:nvPr/>
        </p:nvSpPr>
        <p:spPr>
          <a:xfrm>
            <a:off x="5257800" y="37490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IN PROGRESS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257800" y="39776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3/9 milestones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176272" y="4663440"/>
            <a:ext cx="8833104" cy="137160"/>
          </a:xfrm>
          <a:prstGeom prst="rect">
            <a:avLst/>
          </a:prstGeom>
          <a:solidFill>
            <a:srgbClr val="EEF2F5"/>
          </a:solidFill>
          <a:ln/>
        </p:spPr>
      </p:sp>
      <p:sp>
        <p:nvSpPr>
          <p:cNvPr id="63" name="Text 61"/>
          <p:cNvSpPr/>
          <p:nvPr/>
        </p:nvSpPr>
        <p:spPr>
          <a:xfrm>
            <a:off x="457200" y="4434840"/>
            <a:ext cx="1956816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457200" y="4690872"/>
            <a:ext cx="200253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PPP: SEP 2026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38216" y="461772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482584" y="4617720"/>
            <a:ext cx="146304" cy="228600"/>
          </a:xfrm>
          <a:prstGeom prst="rect">
            <a:avLst/>
          </a:prstGeom>
          <a:solidFill>
            <a:srgbClr val="08264C"/>
          </a:solidFill>
          <a:ln/>
        </p:spPr>
      </p:sp>
      <p:sp>
        <p:nvSpPr>
          <p:cNvPr id="67" name="Shape 65"/>
          <p:cNvSpPr/>
          <p:nvPr/>
        </p:nvSpPr>
        <p:spPr>
          <a:xfrm>
            <a:off x="5611368" y="4663440"/>
            <a:ext cx="2944368" cy="137160"/>
          </a:xfrm>
          <a:prstGeom prst="rect">
            <a:avLst/>
          </a:prstGeom>
          <a:solidFill>
            <a:srgbClr val="D3DEE8"/>
          </a:solidFill>
          <a:ln/>
        </p:spPr>
      </p:sp>
      <p:sp>
        <p:nvSpPr>
          <p:cNvPr id="68" name="Text 66"/>
          <p:cNvSpPr/>
          <p:nvPr/>
        </p:nvSpPr>
        <p:spPr>
          <a:xfrm>
            <a:off x="5257800" y="4617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97D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PRE-PPP IN PROGRESS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5257800" y="484632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1/9 milestones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solidFill>
            <a:srgbClr val="DDEBF4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and KAYSAKAT must complete pre-PPP readiness before their September 2026 PPP start.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48640" y="6446520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O&amp;M Manual Governance module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73736"/>
            <a:ext cx="1127455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26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Readiness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570464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acceptance requires a fully compliant O&amp;M Manual under the Standard Governance Framework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O&amp;M Manual Governance module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12064" y="1005840"/>
            <a:ext cx="3840480" cy="2194560"/>
          </a:xfrm>
          <a:prstGeom prst="rect">
            <a:avLst/>
          </a:prstGeom>
          <a:solidFill>
            <a:srgbClr val="DDEBF4"/>
          </a:solidFill>
          <a:ln w="25400">
            <a:solidFill>
              <a:srgbClr val="1732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9224" y="1143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READINESS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" y="150876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12064" y="24688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of 56 Deliverables Complete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4944" y="28346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075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Approved    |    — Missing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12064" y="34290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Compliance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12064" y="3749040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803904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AGLIPAY STP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85216" y="4023360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350008" y="3749040"/>
            <a:ext cx="1783080" cy="548640"/>
          </a:xfrm>
          <a:prstGeom prst="rect">
            <a:avLst/>
          </a:prstGeom>
          <a:solidFill>
            <a:srgbClr val="DFF3EC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04872" y="3803904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 STP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423160" y="4023360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12064" y="4352544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407408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EASTBAY PH-2 TP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5216" y="4626864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350008" y="4352544"/>
            <a:ext cx="1783080" cy="548640"/>
          </a:xfrm>
          <a:prstGeom prst="rect">
            <a:avLst/>
          </a:prstGeom>
          <a:solidFill>
            <a:srgbClr val="FFF6DF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04872" y="4407408"/>
            <a:ext cx="1673352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KAYSAKAT TP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23160" y="4626864"/>
            <a:ext cx="163677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54880" y="960120"/>
            <a:ext cx="69494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TOC Submission Matrix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234440"/>
          <a:ext cx="3108960" cy="2697480"/>
        </p:xfrm>
        <a:graphic>
          <a:graphicData uri="http://schemas.openxmlformats.org/drawingml/2006/table">
            <a:tbl>
              <a:tblPr/>
              <a:tblGrid>
                <a:gridCol w="502920"/>
                <a:gridCol w="1051560"/>
                <a:gridCol w="1051560"/>
                <a:gridCol w="1051560"/>
                <a:gridCol w="1051560"/>
              </a:tblGrid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AGLIPAY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EASTBAY PH-2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KAYSAKAT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234440"/>
          <a:ext cx="3108960" cy="2697480"/>
        </p:xfrm>
        <a:graphic>
          <a:graphicData uri="http://schemas.openxmlformats.org/drawingml/2006/table">
            <a:tbl>
              <a:tblPr/>
              <a:tblGrid>
                <a:gridCol w="502920"/>
                <a:gridCol w="1051560"/>
                <a:gridCol w="1051560"/>
                <a:gridCol w="1051560"/>
                <a:gridCol w="1051560"/>
              </a:tblGrid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AGLIPAY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 STP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EASTBAY PH-2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KAYSAKAT TP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987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324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075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512064" y="5486400"/>
            <a:ext cx="11247120" cy="822960"/>
          </a:xfrm>
          <a:prstGeom prst="rect">
            <a:avLst/>
          </a:prstGeom>
          <a:solidFill>
            <a:srgbClr val="DDEBF4"/>
          </a:solidFill>
          <a:ln w="12700">
            <a:solidFill>
              <a:srgbClr val="D3DEE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1792" y="5577840"/>
            <a:ext cx="1102766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OBSERVATION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21792" y="5806440"/>
            <a:ext cx="1102766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73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submission ongoing across all facilities.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Manila Water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Onboarding Status</dc:title>
  <dc:subject>O&amp;M Governance Onboarding Progress</dc:subject>
  <dc:creator>ODM Dashboard</dc:creator>
  <cp:lastModifiedBy>ODM Dashboard</cp:lastModifiedBy>
  <cp:revision>1</cp:revision>
  <dcterms:created xsi:type="dcterms:W3CDTF">2026-07-31T23:31:46Z</dcterms:created>
  <dcterms:modified xsi:type="dcterms:W3CDTF">2026-07-31T23:31:46Z</dcterms:modified>
</cp:coreProperties>
</file>