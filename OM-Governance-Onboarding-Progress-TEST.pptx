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3736"/>
            <a:ext cx="1127455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2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PPP Status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105704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facilities in PPP execution; 2 in pre-PPP readiness | July 31,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615184" y="914400"/>
            <a:ext cx="2734056" cy="237744"/>
          </a:xfrm>
          <a:prstGeom prst="rect">
            <a:avLst/>
          </a:prstGeom>
          <a:solidFill>
            <a:srgbClr val="00A9C5"/>
          </a:solidFill>
          <a:ln/>
        </p:spPr>
      </p:sp>
      <p:sp>
        <p:nvSpPr>
          <p:cNvPr id="5" name="Text 3"/>
          <p:cNvSpPr/>
          <p:nvPr/>
        </p:nvSpPr>
        <p:spPr>
          <a:xfrm>
            <a:off x="2615184" y="914400"/>
            <a:ext cx="2734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PRE-PPP  •  Commissioning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0136" y="914400"/>
            <a:ext cx="2734056" cy="237744"/>
          </a:xfrm>
          <a:prstGeom prst="rect">
            <a:avLst/>
          </a:prstGeom>
          <a:solidFill>
            <a:srgbClr val="17324F"/>
          </a:solidFill>
          <a:ln/>
        </p:spPr>
      </p:sp>
      <p:sp>
        <p:nvSpPr>
          <p:cNvPr id="7" name="Text 5"/>
          <p:cNvSpPr/>
          <p:nvPr/>
        </p:nvSpPr>
        <p:spPr>
          <a:xfrm>
            <a:off x="5660136" y="914400"/>
            <a:ext cx="2734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  •  Execution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59368" y="914400"/>
            <a:ext cx="2734056" cy="237744"/>
          </a:xfrm>
          <a:prstGeom prst="rect">
            <a:avLst/>
          </a:prstGeom>
          <a:solidFill>
            <a:srgbClr val="169873"/>
          </a:solidFill>
          <a:ln/>
        </p:spPr>
      </p:sp>
      <p:sp>
        <p:nvSpPr>
          <p:cNvPr id="9" name="Text 7"/>
          <p:cNvSpPr/>
          <p:nvPr/>
        </p:nvSpPr>
        <p:spPr>
          <a:xfrm>
            <a:off x="8659368" y="914400"/>
            <a:ext cx="2734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POST-PPP  •  Sustainment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14600" y="1335024"/>
            <a:ext cx="850392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7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1554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T&amp;C Complete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0440" y="1335024"/>
            <a:ext cx="850392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7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1554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6280" y="1335024"/>
            <a:ext cx="850392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7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1554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Punchlist Closed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32120" y="1335024"/>
            <a:ext cx="850392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1554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Setup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1335024"/>
            <a:ext cx="850392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1554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Execution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43800" y="1335024"/>
            <a:ext cx="850392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0" y="1554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49640" y="1335024"/>
            <a:ext cx="850392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9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03920" y="1554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555480" y="1335024"/>
            <a:ext cx="850392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9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509760" y="1554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Active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561320" y="1335024"/>
            <a:ext cx="850392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9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0" y="1554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 Ready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148840"/>
            <a:ext cx="137160" cy="1005840"/>
          </a:xfrm>
          <a:prstGeom prst="rect">
            <a:avLst/>
          </a:prstGeom>
          <a:solidFill>
            <a:srgbClr val="00A9C5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2240280"/>
            <a:ext cx="200253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2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AGLIPAY STP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4360" y="2450592"/>
            <a:ext cx="200253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A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 ACTIVE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" y="2624328"/>
            <a:ext cx="200253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 START  MAR 13, 2026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834640" y="2404872"/>
            <a:ext cx="210312" cy="228600"/>
          </a:xfrm>
          <a:prstGeom prst="rect">
            <a:avLst/>
          </a:prstGeom>
          <a:solidFill>
            <a:srgbClr val="007DA7"/>
          </a:solidFill>
          <a:ln/>
        </p:spPr>
      </p:sp>
      <p:sp>
        <p:nvSpPr>
          <p:cNvPr id="33" name="Text 31"/>
          <p:cNvSpPr/>
          <p:nvPr/>
        </p:nvSpPr>
        <p:spPr>
          <a:xfrm>
            <a:off x="2834640" y="240487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840480" y="2404872"/>
            <a:ext cx="210312" cy="228600"/>
          </a:xfrm>
          <a:prstGeom prst="rect">
            <a:avLst/>
          </a:prstGeom>
          <a:solidFill>
            <a:srgbClr val="169873"/>
          </a:solidFill>
          <a:ln/>
        </p:spPr>
      </p:sp>
      <p:sp>
        <p:nvSpPr>
          <p:cNvPr id="35" name="Text 33"/>
          <p:cNvSpPr/>
          <p:nvPr/>
        </p:nvSpPr>
        <p:spPr>
          <a:xfrm>
            <a:off x="3840480" y="240487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846320" y="2404872"/>
            <a:ext cx="210312" cy="228600"/>
          </a:xfrm>
          <a:prstGeom prst="rect">
            <a:avLst/>
          </a:prstGeom>
          <a:solidFill>
            <a:srgbClr val="169873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240487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852160" y="2404872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39" name="Text 37"/>
          <p:cNvSpPr/>
          <p:nvPr/>
        </p:nvSpPr>
        <p:spPr>
          <a:xfrm>
            <a:off x="5852160" y="240487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858000" y="2404872"/>
            <a:ext cx="210312" cy="228600"/>
          </a:xfrm>
          <a:prstGeom prst="rect">
            <a:avLst/>
          </a:prstGeom>
          <a:solidFill>
            <a:srgbClr val="169873"/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0" y="240487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863840" y="2404872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43" name="Text 41"/>
          <p:cNvSpPr/>
          <p:nvPr/>
        </p:nvSpPr>
        <p:spPr>
          <a:xfrm>
            <a:off x="7863840" y="240487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869680" y="2404872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45" name="Text 43"/>
          <p:cNvSpPr/>
          <p:nvPr/>
        </p:nvSpPr>
        <p:spPr>
          <a:xfrm>
            <a:off x="8869680" y="240487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9875520" y="2404872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47" name="Text 45"/>
          <p:cNvSpPr/>
          <p:nvPr/>
        </p:nvSpPr>
        <p:spPr>
          <a:xfrm>
            <a:off x="9875520" y="240487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10881360" y="2404872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49" name="Text 47"/>
          <p:cNvSpPr/>
          <p:nvPr/>
        </p:nvSpPr>
        <p:spPr>
          <a:xfrm>
            <a:off x="10881360" y="240487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2578608" y="2834640"/>
            <a:ext cx="88879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AGLIPAY: Active PPP with 0% documentation compliance; immediate recovery required.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3154680"/>
            <a:ext cx="11274552" cy="1005840"/>
          </a:xfrm>
          <a:prstGeom prst="rect">
            <a:avLst/>
          </a:prstGeom>
          <a:solidFill>
            <a:srgbClr val="DDEBF4"/>
          </a:solidFill>
          <a:ln/>
        </p:spPr>
      </p:sp>
      <p:sp>
        <p:nvSpPr>
          <p:cNvPr id="52" name="Shape 50"/>
          <p:cNvSpPr/>
          <p:nvPr/>
        </p:nvSpPr>
        <p:spPr>
          <a:xfrm>
            <a:off x="457200" y="3154680"/>
            <a:ext cx="137160" cy="1005840"/>
          </a:xfrm>
          <a:prstGeom prst="rect">
            <a:avLst/>
          </a:prstGeom>
          <a:solidFill>
            <a:srgbClr val="00A9C5"/>
          </a:solidFill>
          <a:ln/>
        </p:spPr>
      </p:sp>
      <p:sp>
        <p:nvSpPr>
          <p:cNvPr id="53" name="Text 51"/>
          <p:cNvSpPr/>
          <p:nvPr/>
        </p:nvSpPr>
        <p:spPr>
          <a:xfrm>
            <a:off x="594360" y="3246120"/>
            <a:ext cx="200253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2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 STP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94360" y="3456432"/>
            <a:ext cx="200253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A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 ACTIVE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94360" y="3630168"/>
            <a:ext cx="200253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 START  MAR 13, 2026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834640" y="3410712"/>
            <a:ext cx="210312" cy="228600"/>
          </a:xfrm>
          <a:prstGeom prst="rect">
            <a:avLst/>
          </a:prstGeom>
          <a:solidFill>
            <a:srgbClr val="007DA7"/>
          </a:solidFill>
          <a:ln/>
        </p:spPr>
      </p:sp>
      <p:sp>
        <p:nvSpPr>
          <p:cNvPr id="57" name="Text 55"/>
          <p:cNvSpPr/>
          <p:nvPr/>
        </p:nvSpPr>
        <p:spPr>
          <a:xfrm>
            <a:off x="2834640" y="341071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3840480" y="3410712"/>
            <a:ext cx="210312" cy="228600"/>
          </a:xfrm>
          <a:prstGeom prst="rect">
            <a:avLst/>
          </a:prstGeom>
          <a:solidFill>
            <a:srgbClr val="169873"/>
          </a:solidFill>
          <a:ln/>
        </p:spPr>
      </p:sp>
      <p:sp>
        <p:nvSpPr>
          <p:cNvPr id="59" name="Text 57"/>
          <p:cNvSpPr/>
          <p:nvPr/>
        </p:nvSpPr>
        <p:spPr>
          <a:xfrm>
            <a:off x="3840480" y="341071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4846320" y="3410712"/>
            <a:ext cx="210312" cy="228600"/>
          </a:xfrm>
          <a:prstGeom prst="rect">
            <a:avLst/>
          </a:prstGeom>
          <a:solidFill>
            <a:srgbClr val="169873"/>
          </a:solidFill>
          <a:ln/>
        </p:spPr>
      </p:sp>
      <p:sp>
        <p:nvSpPr>
          <p:cNvPr id="61" name="Text 59"/>
          <p:cNvSpPr/>
          <p:nvPr/>
        </p:nvSpPr>
        <p:spPr>
          <a:xfrm>
            <a:off x="4846320" y="341071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5852160" y="3410712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63" name="Text 61"/>
          <p:cNvSpPr/>
          <p:nvPr/>
        </p:nvSpPr>
        <p:spPr>
          <a:xfrm>
            <a:off x="5852160" y="341071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6858000" y="3410712"/>
            <a:ext cx="210312" cy="228600"/>
          </a:xfrm>
          <a:prstGeom prst="rect">
            <a:avLst/>
          </a:prstGeom>
          <a:solidFill>
            <a:srgbClr val="169873"/>
          </a:solidFill>
          <a:ln/>
        </p:spPr>
      </p:sp>
      <p:sp>
        <p:nvSpPr>
          <p:cNvPr id="65" name="Text 63"/>
          <p:cNvSpPr/>
          <p:nvPr/>
        </p:nvSpPr>
        <p:spPr>
          <a:xfrm>
            <a:off x="6858000" y="341071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7863840" y="3410712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67" name="Text 65"/>
          <p:cNvSpPr/>
          <p:nvPr/>
        </p:nvSpPr>
        <p:spPr>
          <a:xfrm>
            <a:off x="7863840" y="341071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8869680" y="3410712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69" name="Text 67"/>
          <p:cNvSpPr/>
          <p:nvPr/>
        </p:nvSpPr>
        <p:spPr>
          <a:xfrm>
            <a:off x="8869680" y="341071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9875520" y="3410712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71" name="Text 69"/>
          <p:cNvSpPr/>
          <p:nvPr/>
        </p:nvSpPr>
        <p:spPr>
          <a:xfrm>
            <a:off x="9875520" y="341071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10881360" y="3410712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73" name="Text 71"/>
          <p:cNvSpPr/>
          <p:nvPr/>
        </p:nvSpPr>
        <p:spPr>
          <a:xfrm>
            <a:off x="10881360" y="341071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2578608" y="3840480"/>
            <a:ext cx="88879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HTT: Active PPP with 79% documentation compliance.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457200" y="4160520"/>
            <a:ext cx="137160" cy="1005840"/>
          </a:xfrm>
          <a:prstGeom prst="rect">
            <a:avLst/>
          </a:prstGeom>
          <a:solidFill>
            <a:srgbClr val="00A9C5"/>
          </a:solidFill>
          <a:ln/>
        </p:spPr>
      </p:sp>
      <p:sp>
        <p:nvSpPr>
          <p:cNvPr id="76" name="Text 74"/>
          <p:cNvSpPr/>
          <p:nvPr/>
        </p:nvSpPr>
        <p:spPr>
          <a:xfrm>
            <a:off x="594360" y="4251960"/>
            <a:ext cx="200253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2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EASTBAY PH-2 TP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594360" y="4462272"/>
            <a:ext cx="200253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A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PRE-PPP • IN PROGRESS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594360" y="4636008"/>
            <a:ext cx="200253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 START  SEP 01, 2026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834640" y="4416552"/>
            <a:ext cx="210312" cy="228600"/>
          </a:xfrm>
          <a:prstGeom prst="rect">
            <a:avLst/>
          </a:prstGeom>
          <a:solidFill>
            <a:srgbClr val="007DA7"/>
          </a:solidFill>
          <a:ln/>
        </p:spPr>
      </p:sp>
      <p:sp>
        <p:nvSpPr>
          <p:cNvPr id="80" name="Text 78"/>
          <p:cNvSpPr/>
          <p:nvPr/>
        </p:nvSpPr>
        <p:spPr>
          <a:xfrm>
            <a:off x="2834640" y="441655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3840480" y="4416552"/>
            <a:ext cx="210312" cy="228600"/>
          </a:xfrm>
          <a:prstGeom prst="rect">
            <a:avLst/>
          </a:prstGeom>
          <a:solidFill>
            <a:srgbClr val="169873"/>
          </a:solidFill>
          <a:ln/>
        </p:spPr>
      </p:sp>
      <p:sp>
        <p:nvSpPr>
          <p:cNvPr id="82" name="Text 80"/>
          <p:cNvSpPr/>
          <p:nvPr/>
        </p:nvSpPr>
        <p:spPr>
          <a:xfrm>
            <a:off x="3840480" y="441655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4846320" y="4416552"/>
            <a:ext cx="210312" cy="228600"/>
          </a:xfrm>
          <a:prstGeom prst="rect">
            <a:avLst/>
          </a:prstGeom>
          <a:solidFill>
            <a:srgbClr val="169873"/>
          </a:solidFill>
          <a:ln/>
        </p:spPr>
      </p:sp>
      <p:sp>
        <p:nvSpPr>
          <p:cNvPr id="84" name="Text 82"/>
          <p:cNvSpPr/>
          <p:nvPr/>
        </p:nvSpPr>
        <p:spPr>
          <a:xfrm>
            <a:off x="4846320" y="441655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5852160" y="4416552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86" name="Text 84"/>
          <p:cNvSpPr/>
          <p:nvPr/>
        </p:nvSpPr>
        <p:spPr>
          <a:xfrm>
            <a:off x="5852160" y="441655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6858000" y="4416552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88" name="Text 86"/>
          <p:cNvSpPr/>
          <p:nvPr/>
        </p:nvSpPr>
        <p:spPr>
          <a:xfrm>
            <a:off x="6858000" y="441655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7863840" y="4416552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90" name="Text 88"/>
          <p:cNvSpPr/>
          <p:nvPr/>
        </p:nvSpPr>
        <p:spPr>
          <a:xfrm>
            <a:off x="7863840" y="441655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91" name="Shape 89"/>
          <p:cNvSpPr/>
          <p:nvPr/>
        </p:nvSpPr>
        <p:spPr>
          <a:xfrm>
            <a:off x="8869680" y="4416552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92" name="Text 90"/>
          <p:cNvSpPr/>
          <p:nvPr/>
        </p:nvSpPr>
        <p:spPr>
          <a:xfrm>
            <a:off x="8869680" y="441655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93" name="Shape 91"/>
          <p:cNvSpPr/>
          <p:nvPr/>
        </p:nvSpPr>
        <p:spPr>
          <a:xfrm>
            <a:off x="9875520" y="4416552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94" name="Text 92"/>
          <p:cNvSpPr/>
          <p:nvPr/>
        </p:nvSpPr>
        <p:spPr>
          <a:xfrm>
            <a:off x="9875520" y="441655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95" name="Shape 93"/>
          <p:cNvSpPr/>
          <p:nvPr/>
        </p:nvSpPr>
        <p:spPr>
          <a:xfrm>
            <a:off x="10881360" y="4416552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96" name="Text 94"/>
          <p:cNvSpPr/>
          <p:nvPr/>
        </p:nvSpPr>
        <p:spPr>
          <a:xfrm>
            <a:off x="10881360" y="441655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97" name="Text 95"/>
          <p:cNvSpPr/>
          <p:nvPr/>
        </p:nvSpPr>
        <p:spPr>
          <a:xfrm>
            <a:off x="2578608" y="4846320"/>
            <a:ext cx="88879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EASTBAY: Pre-PPP readiness at 29% documentation compliance.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457200" y="5166360"/>
            <a:ext cx="11274552" cy="1005840"/>
          </a:xfrm>
          <a:prstGeom prst="rect">
            <a:avLst/>
          </a:prstGeom>
          <a:solidFill>
            <a:srgbClr val="DDEBF4"/>
          </a:solidFill>
          <a:ln/>
        </p:spPr>
      </p:sp>
      <p:sp>
        <p:nvSpPr>
          <p:cNvPr id="99" name="Shape 97"/>
          <p:cNvSpPr/>
          <p:nvPr/>
        </p:nvSpPr>
        <p:spPr>
          <a:xfrm>
            <a:off x="457200" y="5166360"/>
            <a:ext cx="137160" cy="1005840"/>
          </a:xfrm>
          <a:prstGeom prst="rect">
            <a:avLst/>
          </a:prstGeom>
          <a:solidFill>
            <a:srgbClr val="00A9C5"/>
          </a:solidFill>
          <a:ln/>
        </p:spPr>
      </p:sp>
      <p:sp>
        <p:nvSpPr>
          <p:cNvPr id="100" name="Text 98"/>
          <p:cNvSpPr/>
          <p:nvPr/>
        </p:nvSpPr>
        <p:spPr>
          <a:xfrm>
            <a:off x="594360" y="5257800"/>
            <a:ext cx="200253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2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KAYSAKAT TP</a:t>
            </a:r>
            <a:endParaRPr lang="en-US" sz="1300" dirty="0"/>
          </a:p>
        </p:txBody>
      </p:sp>
      <p:sp>
        <p:nvSpPr>
          <p:cNvPr id="101" name="Text 99"/>
          <p:cNvSpPr/>
          <p:nvPr/>
        </p:nvSpPr>
        <p:spPr>
          <a:xfrm>
            <a:off x="594360" y="5468112"/>
            <a:ext cx="200253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A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PRE-PPP • IN PROGRESS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594360" y="5641848"/>
            <a:ext cx="200253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 START  SEP 01, 2026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2834640" y="5422392"/>
            <a:ext cx="210312" cy="228600"/>
          </a:xfrm>
          <a:prstGeom prst="rect">
            <a:avLst/>
          </a:prstGeom>
          <a:solidFill>
            <a:srgbClr val="007DA7"/>
          </a:solidFill>
          <a:ln/>
        </p:spPr>
      </p:sp>
      <p:sp>
        <p:nvSpPr>
          <p:cNvPr id="104" name="Text 102"/>
          <p:cNvSpPr/>
          <p:nvPr/>
        </p:nvSpPr>
        <p:spPr>
          <a:xfrm>
            <a:off x="2834640" y="542239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05" name="Shape 103"/>
          <p:cNvSpPr/>
          <p:nvPr/>
        </p:nvSpPr>
        <p:spPr>
          <a:xfrm>
            <a:off x="3840480" y="5422392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106" name="Text 104"/>
          <p:cNvSpPr/>
          <p:nvPr/>
        </p:nvSpPr>
        <p:spPr>
          <a:xfrm>
            <a:off x="3840480" y="542239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107" name="Shape 105"/>
          <p:cNvSpPr/>
          <p:nvPr/>
        </p:nvSpPr>
        <p:spPr>
          <a:xfrm>
            <a:off x="4846320" y="5422392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108" name="Text 106"/>
          <p:cNvSpPr/>
          <p:nvPr/>
        </p:nvSpPr>
        <p:spPr>
          <a:xfrm>
            <a:off x="4846320" y="542239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109" name="Shape 107"/>
          <p:cNvSpPr/>
          <p:nvPr/>
        </p:nvSpPr>
        <p:spPr>
          <a:xfrm>
            <a:off x="5852160" y="5422392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110" name="Text 108"/>
          <p:cNvSpPr/>
          <p:nvPr/>
        </p:nvSpPr>
        <p:spPr>
          <a:xfrm>
            <a:off x="5852160" y="542239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111" name="Shape 109"/>
          <p:cNvSpPr/>
          <p:nvPr/>
        </p:nvSpPr>
        <p:spPr>
          <a:xfrm>
            <a:off x="6858000" y="5422392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112" name="Text 110"/>
          <p:cNvSpPr/>
          <p:nvPr/>
        </p:nvSpPr>
        <p:spPr>
          <a:xfrm>
            <a:off x="6858000" y="542239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113" name="Shape 111"/>
          <p:cNvSpPr/>
          <p:nvPr/>
        </p:nvSpPr>
        <p:spPr>
          <a:xfrm>
            <a:off x="7863840" y="5422392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114" name="Text 112"/>
          <p:cNvSpPr/>
          <p:nvPr/>
        </p:nvSpPr>
        <p:spPr>
          <a:xfrm>
            <a:off x="7863840" y="542239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115" name="Shape 113"/>
          <p:cNvSpPr/>
          <p:nvPr/>
        </p:nvSpPr>
        <p:spPr>
          <a:xfrm>
            <a:off x="8869680" y="5422392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116" name="Text 114"/>
          <p:cNvSpPr/>
          <p:nvPr/>
        </p:nvSpPr>
        <p:spPr>
          <a:xfrm>
            <a:off x="8869680" y="542239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117" name="Shape 115"/>
          <p:cNvSpPr/>
          <p:nvPr/>
        </p:nvSpPr>
        <p:spPr>
          <a:xfrm>
            <a:off x="9875520" y="5422392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118" name="Text 116"/>
          <p:cNvSpPr/>
          <p:nvPr/>
        </p:nvSpPr>
        <p:spPr>
          <a:xfrm>
            <a:off x="9875520" y="542239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119" name="Shape 117"/>
          <p:cNvSpPr/>
          <p:nvPr/>
        </p:nvSpPr>
        <p:spPr>
          <a:xfrm>
            <a:off x="10881360" y="5422392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120" name="Text 118"/>
          <p:cNvSpPr/>
          <p:nvPr/>
        </p:nvSpPr>
        <p:spPr>
          <a:xfrm>
            <a:off x="10881360" y="542239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121" name="Text 119"/>
          <p:cNvSpPr/>
          <p:nvPr/>
        </p:nvSpPr>
        <p:spPr>
          <a:xfrm>
            <a:off x="2578608" y="5852160"/>
            <a:ext cx="88879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KAYSAKAT: Pre-PPP readiness at 7% documentation compliance.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2578608" y="6053328"/>
            <a:ext cx="182880" cy="182880"/>
          </a:xfrm>
          <a:prstGeom prst="rect">
            <a:avLst/>
          </a:prstGeom>
          <a:solidFill>
            <a:srgbClr val="169873"/>
          </a:solidFill>
          <a:ln/>
        </p:spPr>
      </p:sp>
      <p:sp>
        <p:nvSpPr>
          <p:cNvPr id="123" name="Text 121"/>
          <p:cNvSpPr/>
          <p:nvPr/>
        </p:nvSpPr>
        <p:spPr>
          <a:xfrm>
            <a:off x="2578608" y="6053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4" name="Text 122"/>
          <p:cNvSpPr/>
          <p:nvPr/>
        </p:nvSpPr>
        <p:spPr>
          <a:xfrm>
            <a:off x="2807208" y="60350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125" name="Shape 123"/>
          <p:cNvSpPr/>
          <p:nvPr/>
        </p:nvSpPr>
        <p:spPr>
          <a:xfrm>
            <a:off x="4041648" y="6053328"/>
            <a:ext cx="182880" cy="182880"/>
          </a:xfrm>
          <a:prstGeom prst="rect">
            <a:avLst/>
          </a:prstGeom>
          <a:solidFill>
            <a:srgbClr val="007DA7"/>
          </a:solidFill>
          <a:ln/>
        </p:spPr>
      </p:sp>
      <p:sp>
        <p:nvSpPr>
          <p:cNvPr id="126" name="Text 124"/>
          <p:cNvSpPr/>
          <p:nvPr/>
        </p:nvSpPr>
        <p:spPr>
          <a:xfrm>
            <a:off x="4041648" y="6053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7" name="Text 125"/>
          <p:cNvSpPr/>
          <p:nvPr/>
        </p:nvSpPr>
        <p:spPr>
          <a:xfrm>
            <a:off x="4270248" y="60350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Ahead</a:t>
            </a:r>
            <a:endParaRPr lang="en-US" sz="1200" dirty="0"/>
          </a:p>
        </p:txBody>
      </p:sp>
      <p:sp>
        <p:nvSpPr>
          <p:cNvPr id="128" name="Shape 126"/>
          <p:cNvSpPr/>
          <p:nvPr/>
        </p:nvSpPr>
        <p:spPr>
          <a:xfrm>
            <a:off x="5504688" y="6053328"/>
            <a:ext cx="182880" cy="182880"/>
          </a:xfrm>
          <a:prstGeom prst="rect">
            <a:avLst/>
          </a:prstGeom>
          <a:solidFill>
            <a:srgbClr val="FDECEF"/>
          </a:solidFill>
          <a:ln/>
        </p:spPr>
      </p:sp>
      <p:sp>
        <p:nvSpPr>
          <p:cNvPr id="129" name="Text 127"/>
          <p:cNvSpPr/>
          <p:nvPr/>
        </p:nvSpPr>
        <p:spPr>
          <a:xfrm>
            <a:off x="5504688" y="6053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100" dirty="0"/>
          </a:p>
        </p:txBody>
      </p:sp>
      <p:sp>
        <p:nvSpPr>
          <p:cNvPr id="130" name="Text 128"/>
          <p:cNvSpPr/>
          <p:nvPr/>
        </p:nvSpPr>
        <p:spPr>
          <a:xfrm>
            <a:off x="5733288" y="60350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</a:t>
            </a:r>
            <a:endParaRPr lang="en-US" sz="1200" dirty="0"/>
          </a:p>
        </p:txBody>
      </p:sp>
      <p:sp>
        <p:nvSpPr>
          <p:cNvPr id="131" name="Shape 129"/>
          <p:cNvSpPr/>
          <p:nvPr/>
        </p:nvSpPr>
        <p:spPr>
          <a:xfrm>
            <a:off x="6967728" y="6053328"/>
            <a:ext cx="182880" cy="18288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132" name="Text 130"/>
          <p:cNvSpPr/>
          <p:nvPr/>
        </p:nvSpPr>
        <p:spPr>
          <a:xfrm>
            <a:off x="6967728" y="6053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100" dirty="0"/>
          </a:p>
        </p:txBody>
      </p:sp>
      <p:sp>
        <p:nvSpPr>
          <p:cNvPr id="133" name="Text 131"/>
          <p:cNvSpPr/>
          <p:nvPr/>
        </p:nvSpPr>
        <p:spPr>
          <a:xfrm>
            <a:off x="7196328" y="60350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</a:t>
            </a:r>
            <a:endParaRPr lang="en-US" sz="1200" dirty="0"/>
          </a:p>
        </p:txBody>
      </p:sp>
      <p:sp>
        <p:nvSpPr>
          <p:cNvPr id="134" name="Shape 132"/>
          <p:cNvSpPr/>
          <p:nvPr/>
        </p:nvSpPr>
        <p:spPr>
          <a:xfrm>
            <a:off x="457200" y="6400800"/>
            <a:ext cx="11274552" cy="329184"/>
          </a:xfrm>
          <a:prstGeom prst="rect">
            <a:avLst/>
          </a:prstGeom>
          <a:solidFill>
            <a:srgbClr val="FDECEF"/>
          </a:solidFill>
          <a:ln/>
        </p:spPr>
      </p:sp>
      <p:sp>
        <p:nvSpPr>
          <p:cNvPr id="135" name="Text 133"/>
          <p:cNvSpPr/>
          <p:nvPr/>
        </p:nvSpPr>
        <p:spPr>
          <a:xfrm>
            <a:off x="612648" y="6464808"/>
            <a:ext cx="123444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3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1200" dirty="0"/>
          </a:p>
        </p:txBody>
      </p:sp>
      <p:sp>
        <p:nvSpPr>
          <p:cNvPr id="136" name="Text 134"/>
          <p:cNvSpPr/>
          <p:nvPr/>
        </p:nvSpPr>
        <p:spPr>
          <a:xfrm>
            <a:off x="1773936" y="6400800"/>
            <a:ext cx="956462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Gate: PM Setup for AGLIPAY and HTT | Status: On Schedule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3736"/>
            <a:ext cx="1127455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2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PPP Position by Facility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105704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 Progress from Start Date to Today | July 31,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978408"/>
            <a:ext cx="1188720" cy="283464"/>
          </a:xfrm>
          <a:prstGeom prst="rect">
            <a:avLst/>
          </a:prstGeom>
          <a:solidFill>
            <a:srgbClr val="DDEBF4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96696"/>
            <a:ext cx="1188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7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PRE-PPP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1014984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06824" y="978408"/>
            <a:ext cx="1188720" cy="283464"/>
          </a:xfrm>
          <a:prstGeom prst="rect">
            <a:avLst/>
          </a:prstGeom>
          <a:solidFill>
            <a:srgbClr val="DDF5F9"/>
          </a:solidFill>
          <a:ln/>
        </p:spPr>
      </p:sp>
      <p:sp>
        <p:nvSpPr>
          <p:cNvPr id="8" name="Text 6"/>
          <p:cNvSpPr/>
          <p:nvPr/>
        </p:nvSpPr>
        <p:spPr>
          <a:xfrm>
            <a:off x="4306824" y="996696"/>
            <a:ext cx="1188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41264" y="1014984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19288" y="978408"/>
            <a:ext cx="1188720" cy="283464"/>
          </a:xfrm>
          <a:prstGeom prst="rect">
            <a:avLst/>
          </a:prstGeom>
          <a:solidFill>
            <a:srgbClr val="DFF3EC"/>
          </a:solidFill>
          <a:ln/>
        </p:spPr>
      </p:sp>
      <p:sp>
        <p:nvSpPr>
          <p:cNvPr id="11" name="Text 9"/>
          <p:cNvSpPr/>
          <p:nvPr/>
        </p:nvSpPr>
        <p:spPr>
          <a:xfrm>
            <a:off x="8019288" y="996696"/>
            <a:ext cx="1188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9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POST-PPP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253728" y="1014984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76272" y="5120640"/>
            <a:ext cx="8833104" cy="18288"/>
          </a:xfrm>
          <a:prstGeom prst="rect">
            <a:avLst/>
          </a:prstGeom>
          <a:solidFill>
            <a:srgbClr val="D3DEE8"/>
          </a:solidFill>
          <a:ln/>
        </p:spPr>
      </p:sp>
      <p:sp>
        <p:nvSpPr>
          <p:cNvPr id="14" name="Shape 12"/>
          <p:cNvSpPr/>
          <p:nvPr/>
        </p:nvSpPr>
        <p:spPr>
          <a:xfrm>
            <a:off x="2176272" y="5074920"/>
            <a:ext cx="18288" cy="109728"/>
          </a:xfrm>
          <a:prstGeom prst="rect">
            <a:avLst/>
          </a:prstGeom>
          <a:solidFill>
            <a:srgbClr val="60758A"/>
          </a:solidFill>
          <a:ln/>
        </p:spPr>
      </p:sp>
      <p:sp>
        <p:nvSpPr>
          <p:cNvPr id="15" name="Text 13"/>
          <p:cNvSpPr/>
          <p:nvPr/>
        </p:nvSpPr>
        <p:spPr>
          <a:xfrm>
            <a:off x="1773936" y="5193792"/>
            <a:ext cx="80467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2025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48456" y="5074920"/>
            <a:ext cx="18288" cy="109728"/>
          </a:xfrm>
          <a:prstGeom prst="rect">
            <a:avLst/>
          </a:prstGeom>
          <a:solidFill>
            <a:srgbClr val="60758A"/>
          </a:solidFill>
          <a:ln/>
        </p:spPr>
      </p:sp>
      <p:sp>
        <p:nvSpPr>
          <p:cNvPr id="17" name="Text 15"/>
          <p:cNvSpPr/>
          <p:nvPr/>
        </p:nvSpPr>
        <p:spPr>
          <a:xfrm>
            <a:off x="3246120" y="5193792"/>
            <a:ext cx="80467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5074920"/>
            <a:ext cx="18288" cy="109728"/>
          </a:xfrm>
          <a:prstGeom prst="rect">
            <a:avLst/>
          </a:prstGeom>
          <a:solidFill>
            <a:srgbClr val="60758A"/>
          </a:solidFill>
          <a:ln/>
        </p:spPr>
      </p:sp>
      <p:sp>
        <p:nvSpPr>
          <p:cNvPr id="19" name="Text 17"/>
          <p:cNvSpPr/>
          <p:nvPr/>
        </p:nvSpPr>
        <p:spPr>
          <a:xfrm>
            <a:off x="4718304" y="5193792"/>
            <a:ext cx="80467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2026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92824" y="5074920"/>
            <a:ext cx="18288" cy="109728"/>
          </a:xfrm>
          <a:prstGeom prst="rect">
            <a:avLst/>
          </a:prstGeom>
          <a:solidFill>
            <a:srgbClr val="60758A"/>
          </a:solidFill>
          <a:ln/>
        </p:spPr>
      </p:sp>
      <p:sp>
        <p:nvSpPr>
          <p:cNvPr id="21" name="Text 19"/>
          <p:cNvSpPr/>
          <p:nvPr/>
        </p:nvSpPr>
        <p:spPr>
          <a:xfrm>
            <a:off x="6190488" y="5193792"/>
            <a:ext cx="80467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2027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65008" y="5074920"/>
            <a:ext cx="18288" cy="109728"/>
          </a:xfrm>
          <a:prstGeom prst="rect">
            <a:avLst/>
          </a:prstGeom>
          <a:solidFill>
            <a:srgbClr val="60758A"/>
          </a:solidFill>
          <a:ln/>
        </p:spPr>
      </p:sp>
      <p:sp>
        <p:nvSpPr>
          <p:cNvPr id="23" name="Text 21"/>
          <p:cNvSpPr/>
          <p:nvPr/>
        </p:nvSpPr>
        <p:spPr>
          <a:xfrm>
            <a:off x="7662672" y="5193792"/>
            <a:ext cx="80467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2027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537192" y="5074920"/>
            <a:ext cx="18288" cy="109728"/>
          </a:xfrm>
          <a:prstGeom prst="rect">
            <a:avLst/>
          </a:prstGeom>
          <a:solidFill>
            <a:srgbClr val="60758A"/>
          </a:solidFill>
          <a:ln/>
        </p:spPr>
      </p:sp>
      <p:sp>
        <p:nvSpPr>
          <p:cNvPr id="25" name="Text 23"/>
          <p:cNvSpPr/>
          <p:nvPr/>
        </p:nvSpPr>
        <p:spPr>
          <a:xfrm>
            <a:off x="9134856" y="5193792"/>
            <a:ext cx="80467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009376" y="5074920"/>
            <a:ext cx="18288" cy="109728"/>
          </a:xfrm>
          <a:prstGeom prst="rect">
            <a:avLst/>
          </a:prstGeom>
          <a:solidFill>
            <a:srgbClr val="60758A"/>
          </a:solidFill>
          <a:ln/>
        </p:spPr>
      </p:sp>
      <p:sp>
        <p:nvSpPr>
          <p:cNvPr id="27" name="Text 25"/>
          <p:cNvSpPr/>
          <p:nvPr/>
        </p:nvSpPr>
        <p:spPr>
          <a:xfrm>
            <a:off x="10607040" y="5193792"/>
            <a:ext cx="80467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2028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02352" y="1463040"/>
            <a:ext cx="36576" cy="3657600"/>
          </a:xfrm>
          <a:prstGeom prst="rect">
            <a:avLst/>
          </a:prstGeom>
          <a:solidFill>
            <a:srgbClr val="E63950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0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3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JUL 2026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784080" y="1783080"/>
            <a:ext cx="2103120" cy="594360"/>
          </a:xfrm>
          <a:prstGeom prst="rect">
            <a:avLst/>
          </a:prstGeom>
          <a:solidFill>
            <a:srgbClr val="F4F7F9"/>
          </a:solidFill>
          <a:ln w="12700">
            <a:solidFill>
              <a:srgbClr val="D3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0" y="181051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875520" y="2011680"/>
            <a:ext cx="274320" cy="137160"/>
          </a:xfrm>
          <a:prstGeom prst="rect">
            <a:avLst/>
          </a:prstGeom>
          <a:solidFill>
            <a:srgbClr val="00A9C5"/>
          </a:solidFill>
          <a:ln/>
        </p:spPr>
      </p:sp>
      <p:sp>
        <p:nvSpPr>
          <p:cNvPr id="33" name="Text 31"/>
          <p:cNvSpPr/>
          <p:nvPr/>
        </p:nvSpPr>
        <p:spPr>
          <a:xfrm>
            <a:off x="10241280" y="19933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PPP Period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875520" y="2194560"/>
            <a:ext cx="274320" cy="137160"/>
          </a:xfrm>
          <a:prstGeom prst="rect">
            <a:avLst/>
          </a:prstGeom>
          <a:solidFill>
            <a:srgbClr val="08264C"/>
          </a:solidFill>
          <a:ln/>
        </p:spPr>
      </p:sp>
      <p:sp>
        <p:nvSpPr>
          <p:cNvPr id="35" name="Text 33"/>
          <p:cNvSpPr/>
          <p:nvPr/>
        </p:nvSpPr>
        <p:spPr>
          <a:xfrm>
            <a:off x="10241280" y="217627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PPP Start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176272" y="2057400"/>
            <a:ext cx="8833104" cy="13716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1828800"/>
            <a:ext cx="1956816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2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AGLIPAY STP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2084832"/>
            <a:ext cx="200253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PPP: MAR 2026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066032" y="2011680"/>
            <a:ext cx="146304" cy="228600"/>
          </a:xfrm>
          <a:prstGeom prst="rect">
            <a:avLst/>
          </a:prstGeom>
          <a:solidFill>
            <a:srgbClr val="08264C"/>
          </a:solidFill>
          <a:ln/>
        </p:spPr>
      </p:sp>
      <p:sp>
        <p:nvSpPr>
          <p:cNvPr id="40" name="Shape 38"/>
          <p:cNvSpPr/>
          <p:nvPr/>
        </p:nvSpPr>
        <p:spPr>
          <a:xfrm>
            <a:off x="7010400" y="2011680"/>
            <a:ext cx="146304" cy="228600"/>
          </a:xfrm>
          <a:prstGeom prst="rect">
            <a:avLst/>
          </a:prstGeom>
          <a:solidFill>
            <a:srgbClr val="08264C"/>
          </a:solidFill>
          <a:ln/>
        </p:spPr>
      </p:sp>
      <p:sp>
        <p:nvSpPr>
          <p:cNvPr id="41" name="Shape 39"/>
          <p:cNvSpPr/>
          <p:nvPr/>
        </p:nvSpPr>
        <p:spPr>
          <a:xfrm>
            <a:off x="4139184" y="2057400"/>
            <a:ext cx="981456" cy="137160"/>
          </a:xfrm>
          <a:prstGeom prst="rect">
            <a:avLst/>
          </a:prstGeom>
          <a:solidFill>
            <a:srgbClr val="00A9C5"/>
          </a:solidFill>
          <a:ln/>
        </p:spPr>
      </p:sp>
      <p:sp>
        <p:nvSpPr>
          <p:cNvPr id="42" name="Shape 40"/>
          <p:cNvSpPr/>
          <p:nvPr/>
        </p:nvSpPr>
        <p:spPr>
          <a:xfrm>
            <a:off x="5120640" y="2057400"/>
            <a:ext cx="1962912" cy="137160"/>
          </a:xfrm>
          <a:prstGeom prst="rect">
            <a:avLst/>
          </a:prstGeom>
          <a:solidFill>
            <a:srgbClr val="A8D5E5"/>
          </a:solidFill>
          <a:ln/>
        </p:spPr>
      </p:sp>
      <p:sp>
        <p:nvSpPr>
          <p:cNvPr id="43" name="Text 41"/>
          <p:cNvSpPr/>
          <p:nvPr/>
        </p:nvSpPr>
        <p:spPr>
          <a:xfrm>
            <a:off x="5257800" y="2011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 ACTIVE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57800" y="22402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4/9 milestones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176272" y="2926080"/>
            <a:ext cx="8833104" cy="13716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2697480"/>
            <a:ext cx="1956816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2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 STP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57200" y="2953512"/>
            <a:ext cx="200253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PPP: MAR 2026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066032" y="2880360"/>
            <a:ext cx="146304" cy="228600"/>
          </a:xfrm>
          <a:prstGeom prst="rect">
            <a:avLst/>
          </a:prstGeom>
          <a:solidFill>
            <a:srgbClr val="08264C"/>
          </a:solidFill>
          <a:ln/>
        </p:spPr>
      </p:sp>
      <p:sp>
        <p:nvSpPr>
          <p:cNvPr id="49" name="Shape 47"/>
          <p:cNvSpPr/>
          <p:nvPr/>
        </p:nvSpPr>
        <p:spPr>
          <a:xfrm>
            <a:off x="7010400" y="2880360"/>
            <a:ext cx="146304" cy="228600"/>
          </a:xfrm>
          <a:prstGeom prst="rect">
            <a:avLst/>
          </a:prstGeom>
          <a:solidFill>
            <a:srgbClr val="08264C"/>
          </a:solidFill>
          <a:ln/>
        </p:spPr>
      </p:sp>
      <p:sp>
        <p:nvSpPr>
          <p:cNvPr id="50" name="Shape 48"/>
          <p:cNvSpPr/>
          <p:nvPr/>
        </p:nvSpPr>
        <p:spPr>
          <a:xfrm>
            <a:off x="4139184" y="2926080"/>
            <a:ext cx="981456" cy="137160"/>
          </a:xfrm>
          <a:prstGeom prst="rect">
            <a:avLst/>
          </a:prstGeom>
          <a:solidFill>
            <a:srgbClr val="00A9C5"/>
          </a:solidFill>
          <a:ln/>
        </p:spPr>
      </p:sp>
      <p:sp>
        <p:nvSpPr>
          <p:cNvPr id="51" name="Shape 49"/>
          <p:cNvSpPr/>
          <p:nvPr/>
        </p:nvSpPr>
        <p:spPr>
          <a:xfrm>
            <a:off x="5120640" y="2926080"/>
            <a:ext cx="1962912" cy="137160"/>
          </a:xfrm>
          <a:prstGeom prst="rect">
            <a:avLst/>
          </a:prstGeom>
          <a:solidFill>
            <a:srgbClr val="A8D5E5"/>
          </a:solidFill>
          <a:ln/>
        </p:spPr>
      </p:sp>
      <p:sp>
        <p:nvSpPr>
          <p:cNvPr id="52" name="Text 50"/>
          <p:cNvSpPr/>
          <p:nvPr/>
        </p:nvSpPr>
        <p:spPr>
          <a:xfrm>
            <a:off x="5257800" y="2880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 ACTIVE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257800" y="31089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4/9 milestones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176272" y="3794760"/>
            <a:ext cx="8833104" cy="13716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3566160"/>
            <a:ext cx="1956816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2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EASTBAY PH-2 TP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57200" y="3822192"/>
            <a:ext cx="200253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PPP: SEP 2026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538216" y="3749040"/>
            <a:ext cx="146304" cy="228600"/>
          </a:xfrm>
          <a:prstGeom prst="rect">
            <a:avLst/>
          </a:prstGeom>
          <a:solidFill>
            <a:srgbClr val="08264C"/>
          </a:solidFill>
          <a:ln/>
        </p:spPr>
      </p:sp>
      <p:sp>
        <p:nvSpPr>
          <p:cNvPr id="58" name="Shape 56"/>
          <p:cNvSpPr/>
          <p:nvPr/>
        </p:nvSpPr>
        <p:spPr>
          <a:xfrm>
            <a:off x="8482584" y="3749040"/>
            <a:ext cx="146304" cy="228600"/>
          </a:xfrm>
          <a:prstGeom prst="rect">
            <a:avLst/>
          </a:prstGeom>
          <a:solidFill>
            <a:srgbClr val="08264C"/>
          </a:solidFill>
          <a:ln/>
        </p:spPr>
      </p:sp>
      <p:sp>
        <p:nvSpPr>
          <p:cNvPr id="59" name="Shape 57"/>
          <p:cNvSpPr/>
          <p:nvPr/>
        </p:nvSpPr>
        <p:spPr>
          <a:xfrm>
            <a:off x="5611368" y="3794760"/>
            <a:ext cx="2944368" cy="137160"/>
          </a:xfrm>
          <a:prstGeom prst="rect">
            <a:avLst/>
          </a:prstGeom>
          <a:solidFill>
            <a:srgbClr val="D3DEE8"/>
          </a:solidFill>
          <a:ln/>
        </p:spPr>
      </p:sp>
      <p:sp>
        <p:nvSpPr>
          <p:cNvPr id="60" name="Text 58"/>
          <p:cNvSpPr/>
          <p:nvPr/>
        </p:nvSpPr>
        <p:spPr>
          <a:xfrm>
            <a:off x="5257800" y="3749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97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PRE-PPP IN PROGRESS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257800" y="39776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3/9 milestones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176272" y="4663440"/>
            <a:ext cx="8833104" cy="13716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63" name="Text 61"/>
          <p:cNvSpPr/>
          <p:nvPr/>
        </p:nvSpPr>
        <p:spPr>
          <a:xfrm>
            <a:off x="457200" y="4434840"/>
            <a:ext cx="1956816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2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KAYSAKAT TP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457200" y="4690872"/>
            <a:ext cx="200253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PPP: SEP 2026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538216" y="4617720"/>
            <a:ext cx="146304" cy="228600"/>
          </a:xfrm>
          <a:prstGeom prst="rect">
            <a:avLst/>
          </a:prstGeom>
          <a:solidFill>
            <a:srgbClr val="08264C"/>
          </a:solidFill>
          <a:ln/>
        </p:spPr>
      </p:sp>
      <p:sp>
        <p:nvSpPr>
          <p:cNvPr id="66" name="Shape 64"/>
          <p:cNvSpPr/>
          <p:nvPr/>
        </p:nvSpPr>
        <p:spPr>
          <a:xfrm>
            <a:off x="8482584" y="4617720"/>
            <a:ext cx="146304" cy="228600"/>
          </a:xfrm>
          <a:prstGeom prst="rect">
            <a:avLst/>
          </a:prstGeom>
          <a:solidFill>
            <a:srgbClr val="08264C"/>
          </a:solidFill>
          <a:ln/>
        </p:spPr>
      </p:sp>
      <p:sp>
        <p:nvSpPr>
          <p:cNvPr id="67" name="Shape 65"/>
          <p:cNvSpPr/>
          <p:nvPr/>
        </p:nvSpPr>
        <p:spPr>
          <a:xfrm>
            <a:off x="5611368" y="4663440"/>
            <a:ext cx="2944368" cy="137160"/>
          </a:xfrm>
          <a:prstGeom prst="rect">
            <a:avLst/>
          </a:prstGeom>
          <a:solidFill>
            <a:srgbClr val="D3DEE8"/>
          </a:solidFill>
          <a:ln/>
        </p:spPr>
      </p:sp>
      <p:sp>
        <p:nvSpPr>
          <p:cNvPr id="68" name="Text 66"/>
          <p:cNvSpPr/>
          <p:nvPr/>
        </p:nvSpPr>
        <p:spPr>
          <a:xfrm>
            <a:off x="5257800" y="46177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97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PRE-PPP IN PROGRESS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5257800" y="4846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1/9 milestones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solidFill>
            <a:srgbClr val="DDEBF4"/>
          </a:solidFill>
          <a:ln w="12700">
            <a:solidFill>
              <a:srgbClr val="D3DE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94360" y="5989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EASTBAY and KAYSAKAT must complete pre-PPP readiness before their September 2026 PPP start.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548640" y="6446520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O&amp;M Manual Governance module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3736"/>
            <a:ext cx="1127455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2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Readiness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105704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acceptance requires a fully compliant O&amp;M Manual under the Standard Governance Framework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O&amp;M Manual Governance module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12064" y="1005840"/>
            <a:ext cx="3840480" cy="2194560"/>
          </a:xfrm>
          <a:prstGeom prst="rect">
            <a:avLst/>
          </a:prstGeom>
          <a:solidFill>
            <a:srgbClr val="DDEBF4"/>
          </a:solidFill>
          <a:ln w="25400">
            <a:solidFill>
              <a:srgbClr val="1732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READINESS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12064" y="15087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12064" y="2468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of 56 Deliverables Complete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" y="28346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Approved    |    — Missing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" y="34290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 Compliance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2064" y="3749040"/>
            <a:ext cx="1783080" cy="548640"/>
          </a:xfrm>
          <a:prstGeom prst="rect">
            <a:avLst/>
          </a:prstGeom>
          <a:solidFill>
            <a:srgbClr val="FFF6DF"/>
          </a:solidFill>
          <a:ln w="12700">
            <a:solidFill>
              <a:srgbClr val="D3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803904"/>
            <a:ext cx="167335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AGLIPAY STP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" y="4023360"/>
            <a:ext cx="163677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350008" y="3749040"/>
            <a:ext cx="1783080" cy="548640"/>
          </a:xfrm>
          <a:prstGeom prst="rect">
            <a:avLst/>
          </a:prstGeom>
          <a:solidFill>
            <a:srgbClr val="DFF3EC"/>
          </a:solidFill>
          <a:ln w="12700">
            <a:solidFill>
              <a:srgbClr val="D3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04872" y="3803904"/>
            <a:ext cx="167335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 STP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23160" y="4023360"/>
            <a:ext cx="163677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2064" y="4352544"/>
            <a:ext cx="1783080" cy="548640"/>
          </a:xfrm>
          <a:prstGeom prst="rect">
            <a:avLst/>
          </a:prstGeom>
          <a:solidFill>
            <a:srgbClr val="FFF6DF"/>
          </a:solidFill>
          <a:ln w="12700">
            <a:solidFill>
              <a:srgbClr val="D3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407408"/>
            <a:ext cx="167335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EASTBAY PH-2 TP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5216" y="4626864"/>
            <a:ext cx="163677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350008" y="4352544"/>
            <a:ext cx="1783080" cy="548640"/>
          </a:xfrm>
          <a:prstGeom prst="rect">
            <a:avLst/>
          </a:prstGeom>
          <a:solidFill>
            <a:srgbClr val="FFF6DF"/>
          </a:solidFill>
          <a:ln w="12700">
            <a:solidFill>
              <a:srgbClr val="D3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04872" y="4407408"/>
            <a:ext cx="167335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KAYSAKAT TP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23160" y="4626864"/>
            <a:ext cx="163677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0" y="96012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TOC Submission Matrix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34440"/>
          <a:ext cx="3108960" cy="2697480"/>
        </p:xfrm>
        <a:graphic>
          <a:graphicData uri="http://schemas.openxmlformats.org/drawingml/2006/table">
            <a:tbl>
              <a:tblPr/>
              <a:tblGrid>
                <a:gridCol w="502920"/>
                <a:gridCol w="1051560"/>
                <a:gridCol w="1051560"/>
                <a:gridCol w="1051560"/>
                <a:gridCol w="1051560"/>
              </a:tblGrid>
              <a:tr h="337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AGLIPAY STP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 STP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EASTBAY PH-2 TP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KAYSAKAT TP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7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98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98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98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98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7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98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98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7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98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98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98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7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98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98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98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7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98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7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98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7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98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1234440"/>
          <a:ext cx="3108960" cy="2697480"/>
        </p:xfrm>
        <a:graphic>
          <a:graphicData uri="http://schemas.openxmlformats.org/drawingml/2006/table">
            <a:tbl>
              <a:tblPr/>
              <a:tblGrid>
                <a:gridCol w="502920"/>
                <a:gridCol w="1051560"/>
                <a:gridCol w="1051560"/>
                <a:gridCol w="1051560"/>
                <a:gridCol w="1051560"/>
              </a:tblGrid>
              <a:tr h="337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AGLIPAY STP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 STP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EASTBAY PH-2 TP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KAYSAKAT TP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7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98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7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98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7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98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7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98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7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7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7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512064" y="5486400"/>
            <a:ext cx="11247120" cy="822960"/>
          </a:xfrm>
          <a:prstGeom prst="rect">
            <a:avLst/>
          </a:prstGeom>
          <a:solidFill>
            <a:srgbClr val="DDEBF4"/>
          </a:solidFill>
          <a:ln w="12700">
            <a:solidFill>
              <a:srgbClr val="D3DEE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21792" y="5577840"/>
            <a:ext cx="1102766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OBSERVATION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21792" y="5806440"/>
            <a:ext cx="110276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submission ongoing across all facilities.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Manila Water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Onboarding Status</dc:title>
  <dc:subject>O&amp;M Governance Onboarding Progress</dc:subject>
  <dc:creator>ODM Dashboard</dc:creator>
  <cp:lastModifiedBy>ODM Dashboard</cp:lastModifiedBy>
  <cp:revision>1</cp:revision>
  <dcterms:created xsi:type="dcterms:W3CDTF">2026-07-31T23:01:59Z</dcterms:created>
  <dcterms:modified xsi:type="dcterms:W3CDTF">2026-07-31T23:01:59Z</dcterms:modified>
</cp:coreProperties>
</file>