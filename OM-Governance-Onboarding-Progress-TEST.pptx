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PPP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facilities in PPP execution; 2 in pre-PPP readiness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" name="Text 3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 •  Commissioning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solidFill>
            <a:srgbClr val="17324F"/>
          </a:solidFill>
          <a:ln/>
        </p:spPr>
      </p:sp>
      <p:sp>
        <p:nvSpPr>
          <p:cNvPr id="7" name="Text 5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 •  Execution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9" name="Text 7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  •  Sustainment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T&amp;C Complete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05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Punchlist Closed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321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Setup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Execution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438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496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554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097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Active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613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Ready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14884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24028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4360" y="245059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262432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33" name="Text 31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5" name="Text 33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3" name="Text 41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5" name="Text 43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7" name="Text 45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9" name="Text 47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578608" y="283464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AGLIPAY: Active PPP with 0% documentation compliance; immediate recovery required.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15468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315468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3" name="Text 51"/>
          <p:cNvSpPr/>
          <p:nvPr/>
        </p:nvSpPr>
        <p:spPr>
          <a:xfrm>
            <a:off x="594360" y="324612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4360" y="345643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94360" y="363016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57" name="Text 55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59" name="Text 57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61" name="Text 59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5" name="Text 63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7" name="Text 65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9" name="Text 67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1" name="Text 69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3" name="Text 71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2578608" y="384048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EASTBAY: Pre-PPP readiness at 29% documentation compliance.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416052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76" name="Text 74"/>
          <p:cNvSpPr/>
          <p:nvPr/>
        </p:nvSpPr>
        <p:spPr>
          <a:xfrm>
            <a:off x="594360" y="425196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94360" y="446227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594360" y="463600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80" name="Text 78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2" name="Text 80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4" name="Text 82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86" name="Text 84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8" name="Text 86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0" name="Text 88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2" name="Text 90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4" name="Text 92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6" name="Text 94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7" name="Text 95"/>
          <p:cNvSpPr/>
          <p:nvPr/>
        </p:nvSpPr>
        <p:spPr>
          <a:xfrm>
            <a:off x="2578608" y="484632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HTT: Active PPP with 79% documentation compliance.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457200" y="516636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99" name="Shape 97"/>
          <p:cNvSpPr/>
          <p:nvPr/>
        </p:nvSpPr>
        <p:spPr>
          <a:xfrm>
            <a:off x="457200" y="516636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100" name="Text 98"/>
          <p:cNvSpPr/>
          <p:nvPr/>
        </p:nvSpPr>
        <p:spPr>
          <a:xfrm>
            <a:off x="594360" y="525780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594360" y="546811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102" name="Text 100"/>
          <p:cNvSpPr/>
          <p:nvPr/>
        </p:nvSpPr>
        <p:spPr>
          <a:xfrm>
            <a:off x="594360" y="564184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04" name="Text 102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6" name="Text 104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7" name="Shape 105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8" name="Text 106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0" name="Text 108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1" name="Shape 109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2" name="Text 110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3" name="Shape 111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4" name="Text 112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5" name="Shape 113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6" name="Text 114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8" name="Text 116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20" name="Text 118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21" name="Text 119"/>
          <p:cNvSpPr/>
          <p:nvPr/>
        </p:nvSpPr>
        <p:spPr>
          <a:xfrm>
            <a:off x="2578608" y="585216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KAYSAKAT: Pre-PPP readiness at 7% documentation compliance.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123" name="Text 121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280720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26" name="Text 124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427024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573328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32" name="Text 130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100" dirty="0"/>
          </a:p>
        </p:txBody>
      </p:sp>
      <p:sp>
        <p:nvSpPr>
          <p:cNvPr id="133" name="Text 131"/>
          <p:cNvSpPr/>
          <p:nvPr/>
        </p:nvSpPr>
        <p:spPr>
          <a:xfrm>
            <a:off x="719632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457200" y="6400800"/>
            <a:ext cx="11274552" cy="329184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35" name="Text 133"/>
          <p:cNvSpPr/>
          <p:nvPr/>
        </p:nvSpPr>
        <p:spPr>
          <a:xfrm>
            <a:off x="612648" y="6464808"/>
            <a:ext cx="123444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1773936" y="6400800"/>
            <a:ext cx="956462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Gate: PM Setup for AGLIPAY and HTT | Status: On Schedule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PPP Position by Facility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Progress from Start Date to Today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978408"/>
            <a:ext cx="1188720" cy="283464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06824" y="978408"/>
            <a:ext cx="1188720" cy="283464"/>
          </a:xfrm>
          <a:prstGeom prst="rect">
            <a:avLst/>
          </a:prstGeom>
          <a:solidFill>
            <a:srgbClr val="DDF5F9"/>
          </a:solidFill>
          <a:ln/>
        </p:spPr>
      </p:sp>
      <p:sp>
        <p:nvSpPr>
          <p:cNvPr id="8" name="Text 6"/>
          <p:cNvSpPr/>
          <p:nvPr/>
        </p:nvSpPr>
        <p:spPr>
          <a:xfrm>
            <a:off x="4306824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41264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9288" y="978408"/>
            <a:ext cx="1188720" cy="283464"/>
          </a:xfrm>
          <a:prstGeom prst="rect">
            <a:avLst/>
          </a:prstGeom>
          <a:solidFill>
            <a:srgbClr val="DFF3EC"/>
          </a:solidFill>
          <a:ln/>
        </p:spPr>
      </p:sp>
      <p:sp>
        <p:nvSpPr>
          <p:cNvPr id="11" name="Text 9"/>
          <p:cNvSpPr/>
          <p:nvPr/>
        </p:nvSpPr>
        <p:spPr>
          <a:xfrm>
            <a:off x="8019288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53728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6272" y="5120640"/>
            <a:ext cx="8833104" cy="18288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217627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5" name="Text 13"/>
          <p:cNvSpPr/>
          <p:nvPr/>
        </p:nvSpPr>
        <p:spPr>
          <a:xfrm>
            <a:off x="177393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4845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20640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9" name="Text 17"/>
          <p:cNvSpPr/>
          <p:nvPr/>
        </p:nvSpPr>
        <p:spPr>
          <a:xfrm>
            <a:off x="4718304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92824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1" name="Text 19"/>
          <p:cNvSpPr/>
          <p:nvPr/>
        </p:nvSpPr>
        <p:spPr>
          <a:xfrm>
            <a:off x="6190488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65008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62672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3719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5" name="Text 23"/>
          <p:cNvSpPr/>
          <p:nvPr/>
        </p:nvSpPr>
        <p:spPr>
          <a:xfrm>
            <a:off x="913485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0937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02352" y="1463040"/>
            <a:ext cx="36576" cy="3657600"/>
          </a:xfrm>
          <a:prstGeom prst="rect">
            <a:avLst/>
          </a:prstGeom>
          <a:solidFill>
            <a:srgbClr val="E63950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14173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JUL 2026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784080" y="1783080"/>
            <a:ext cx="2103120" cy="594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81051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75520" y="2011680"/>
            <a:ext cx="274320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33" name="Text 31"/>
          <p:cNvSpPr/>
          <p:nvPr/>
        </p:nvSpPr>
        <p:spPr>
          <a:xfrm>
            <a:off x="10241280" y="199339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Period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875520" y="2194560"/>
            <a:ext cx="274320" cy="13716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35" name="Text 33"/>
          <p:cNvSpPr/>
          <p:nvPr/>
        </p:nvSpPr>
        <p:spPr>
          <a:xfrm>
            <a:off x="10241280" y="217627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Start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76272" y="205740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182880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208483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66032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10400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1" name="Shape 39"/>
          <p:cNvSpPr/>
          <p:nvPr/>
        </p:nvSpPr>
        <p:spPr>
          <a:xfrm>
            <a:off x="4139184" y="205740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42" name="Shape 40"/>
          <p:cNvSpPr/>
          <p:nvPr/>
        </p:nvSpPr>
        <p:spPr>
          <a:xfrm>
            <a:off x="5120640" y="205740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43" name="Text 41"/>
          <p:cNvSpPr/>
          <p:nvPr/>
        </p:nvSpPr>
        <p:spPr>
          <a:xfrm>
            <a:off x="5257800" y="20116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57800" y="22402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176272" y="292608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269748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57200" y="295351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538216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9" name="Shape 47"/>
          <p:cNvSpPr/>
          <p:nvPr/>
        </p:nvSpPr>
        <p:spPr>
          <a:xfrm>
            <a:off x="8482584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0" name="Shape 48"/>
          <p:cNvSpPr/>
          <p:nvPr/>
        </p:nvSpPr>
        <p:spPr>
          <a:xfrm>
            <a:off x="5611368" y="292608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51" name="Text 49"/>
          <p:cNvSpPr/>
          <p:nvPr/>
        </p:nvSpPr>
        <p:spPr>
          <a:xfrm>
            <a:off x="525780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57800" y="31089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3/9 milestones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176272" y="379476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6616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457200" y="382219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66032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7" name="Shape 55"/>
          <p:cNvSpPr/>
          <p:nvPr/>
        </p:nvSpPr>
        <p:spPr>
          <a:xfrm>
            <a:off x="7010400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8" name="Shape 56"/>
          <p:cNvSpPr/>
          <p:nvPr/>
        </p:nvSpPr>
        <p:spPr>
          <a:xfrm>
            <a:off x="4139184" y="379476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0640" y="379476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60" name="Text 58"/>
          <p:cNvSpPr/>
          <p:nvPr/>
        </p:nvSpPr>
        <p:spPr>
          <a:xfrm>
            <a:off x="5257800" y="3749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57800" y="39776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176272" y="466344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" y="443484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57200" y="469087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38216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482584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7" name="Shape 65"/>
          <p:cNvSpPr/>
          <p:nvPr/>
        </p:nvSpPr>
        <p:spPr>
          <a:xfrm>
            <a:off x="5611368" y="466344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68" name="Text 66"/>
          <p:cNvSpPr/>
          <p:nvPr/>
        </p:nvSpPr>
        <p:spPr>
          <a:xfrm>
            <a:off x="5257800" y="4617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257800" y="4846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1/9 milestones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and KAYSAKAT must complete pre-PPP readiness before their September 2026 PPP start.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acceptance requires a fully compliant O&amp;M Manual under the Standard Governance Framework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005840"/>
            <a:ext cx="3840480" cy="2194560"/>
          </a:xfrm>
          <a:prstGeom prst="rect">
            <a:avLst/>
          </a:prstGeom>
          <a:solidFill>
            <a:srgbClr val="DDEBF4"/>
          </a:solidFill>
          <a:ln w="25400">
            <a:solidFill>
              <a:srgbClr val="1732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READINESS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" y="1508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12064" y="2468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56 Deliverables Complete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" y="28346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Approved    |    — Missing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3429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Compliance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" y="3749040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350008" y="3749040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04872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23160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12064" y="4352544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5216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350008" y="4352544"/>
            <a:ext cx="1783080" cy="548640"/>
          </a:xfrm>
          <a:prstGeom prst="rect">
            <a:avLst/>
          </a:prstGeom>
          <a:solidFill>
            <a:srgbClr val="DFF3EC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04872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23160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96012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TOC Submission Matrix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3108960" cy="26974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234440"/>
          <a:ext cx="3108960" cy="26974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512064" y="5486400"/>
            <a:ext cx="11247120" cy="8229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1792" y="5577840"/>
            <a:ext cx="1102766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OBSERVATION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21792" y="58064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submission ongoing across all facilities.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Manila Water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Onboarding Status</dc:title>
  <dc:subject>O&amp;M Governance Onboarding Progress</dc:subject>
  <dc:creator>ODM Dashboard</dc:creator>
  <cp:lastModifiedBy>ODM Dashboard</cp:lastModifiedBy>
  <cp:revision>1</cp:revision>
  <dcterms:created xsi:type="dcterms:W3CDTF">2026-07-31T08:03:24Z</dcterms:created>
  <dcterms:modified xsi:type="dcterms:W3CDTF">2026-07-31T08:03:24Z</dcterms:modified>
</cp:coreProperties>
</file>