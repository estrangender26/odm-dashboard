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"/>
            <a:ext cx="1127455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AGLIPAY STP is in PPP execution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105704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progress versus the sequence planned from each facility's PPP start date | Red marker = TODAY July 30,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615184" y="914400"/>
            <a:ext cx="2734056" cy="237744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5" name="Text 3"/>
          <p:cNvSpPr/>
          <p:nvPr/>
        </p:nvSpPr>
        <p:spPr>
          <a:xfrm>
            <a:off x="2615184" y="914400"/>
            <a:ext cx="2734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PRE-PPP  •  Commissioning readiness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0136" y="914400"/>
            <a:ext cx="2734056" cy="237744"/>
          </a:xfrm>
          <a:prstGeom prst="rect">
            <a:avLst/>
          </a:prstGeom>
          <a:solidFill>
            <a:srgbClr val="17324F"/>
          </a:solidFill>
          <a:ln/>
        </p:spPr>
      </p:sp>
      <p:sp>
        <p:nvSpPr>
          <p:cNvPr id="7" name="Text 5"/>
          <p:cNvSpPr/>
          <p:nvPr/>
        </p:nvSpPr>
        <p:spPr>
          <a:xfrm>
            <a:off x="5660136" y="914400"/>
            <a:ext cx="2734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 •  Execution and capability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59368" y="914400"/>
            <a:ext cx="2734056" cy="237744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9" name="Text 7"/>
          <p:cNvSpPr/>
          <p:nvPr/>
        </p:nvSpPr>
        <p:spPr>
          <a:xfrm>
            <a:off x="8659368" y="914400"/>
            <a:ext cx="2734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POST-PPP  •  Sustainment and BAU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7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1536192"/>
            <a:ext cx="8686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T&amp;C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6616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7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536192"/>
            <a:ext cx="8686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Wet/dry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97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1536192"/>
            <a:ext cx="8686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punchlist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7784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32120" y="1536192"/>
            <a:ext cx="8686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SAP-PM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1536192"/>
            <a:ext cx="8686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PM/PdM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58952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43800" y="1536192"/>
            <a:ext cx="8686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9536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9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49640" y="1536192"/>
            <a:ext cx="8686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60120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9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555480" y="1536192"/>
            <a:ext cx="8686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607040" y="1335024"/>
            <a:ext cx="850392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9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61320" y="1536192"/>
            <a:ext cx="8686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066544"/>
            <a:ext cx="137160" cy="804672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157984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AGLIPAY STP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2350008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ACTIVE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2514600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START  MAR 13, 2025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80360" y="2359152"/>
            <a:ext cx="210312" cy="228600"/>
          </a:xfrm>
          <a:prstGeom prst="rect">
            <a:avLst/>
          </a:prstGeom>
          <a:solidFill>
            <a:srgbClr val="007DA7"/>
          </a:solidFill>
          <a:ln/>
        </p:spPr>
      </p:sp>
      <p:sp>
        <p:nvSpPr>
          <p:cNvPr id="33" name="Text 31"/>
          <p:cNvSpPr/>
          <p:nvPr/>
        </p:nvSpPr>
        <p:spPr>
          <a:xfrm>
            <a:off x="2880360" y="23591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886200" y="2359152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35" name="Text 33"/>
          <p:cNvSpPr/>
          <p:nvPr/>
        </p:nvSpPr>
        <p:spPr>
          <a:xfrm>
            <a:off x="3886200" y="23591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92040" y="2359152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23591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897880" y="235915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39" name="Shape 37"/>
          <p:cNvSpPr/>
          <p:nvPr/>
        </p:nvSpPr>
        <p:spPr>
          <a:xfrm>
            <a:off x="6903720" y="2359152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2359152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909560" y="235915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42" name="Shape 40"/>
          <p:cNvSpPr/>
          <p:nvPr/>
        </p:nvSpPr>
        <p:spPr>
          <a:xfrm>
            <a:off x="8915400" y="235915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43" name="Shape 41"/>
          <p:cNvSpPr/>
          <p:nvPr/>
        </p:nvSpPr>
        <p:spPr>
          <a:xfrm>
            <a:off x="9921240" y="235915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27080" y="2359152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45" name="Text 43"/>
          <p:cNvSpPr/>
          <p:nvPr/>
        </p:nvSpPr>
        <p:spPr>
          <a:xfrm>
            <a:off x="2578608" y="2706624"/>
            <a:ext cx="8887968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AGLIPAY Sewage Treatment Plant is critical path.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2871216"/>
            <a:ext cx="11274552" cy="804672"/>
          </a:xfrm>
          <a:prstGeom prst="rect">
            <a:avLst/>
          </a:prstGeom>
          <a:solidFill>
            <a:srgbClr val="DDEBF4"/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" y="2871216"/>
            <a:ext cx="137160" cy="804672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2962656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 STP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94360" y="3154680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ACTIVE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4360" y="3319272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START  MAR 13, 2025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880360" y="3163824"/>
            <a:ext cx="210312" cy="228600"/>
          </a:xfrm>
          <a:prstGeom prst="rect">
            <a:avLst/>
          </a:prstGeom>
          <a:solidFill>
            <a:srgbClr val="007DA7"/>
          </a:solidFill>
          <a:ln/>
        </p:spPr>
      </p:sp>
      <p:sp>
        <p:nvSpPr>
          <p:cNvPr id="52" name="Text 50"/>
          <p:cNvSpPr/>
          <p:nvPr/>
        </p:nvSpPr>
        <p:spPr>
          <a:xfrm>
            <a:off x="2880360" y="3163824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3886200" y="3163824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54" name="Text 52"/>
          <p:cNvSpPr/>
          <p:nvPr/>
        </p:nvSpPr>
        <p:spPr>
          <a:xfrm>
            <a:off x="3886200" y="3163824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892040" y="3163824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56" name="Text 54"/>
          <p:cNvSpPr/>
          <p:nvPr/>
        </p:nvSpPr>
        <p:spPr>
          <a:xfrm>
            <a:off x="4892040" y="3163824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897880" y="3163824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58" name="Shape 56"/>
          <p:cNvSpPr/>
          <p:nvPr/>
        </p:nvSpPr>
        <p:spPr>
          <a:xfrm>
            <a:off x="6903720" y="3163824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59" name="Text 57"/>
          <p:cNvSpPr/>
          <p:nvPr/>
        </p:nvSpPr>
        <p:spPr>
          <a:xfrm>
            <a:off x="6903720" y="3163824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7909560" y="3163824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61" name="Shape 59"/>
          <p:cNvSpPr/>
          <p:nvPr/>
        </p:nvSpPr>
        <p:spPr>
          <a:xfrm>
            <a:off x="8915400" y="3163824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62" name="Shape 60"/>
          <p:cNvSpPr/>
          <p:nvPr/>
        </p:nvSpPr>
        <p:spPr>
          <a:xfrm>
            <a:off x="9921240" y="3163824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63" name="Shape 61"/>
          <p:cNvSpPr/>
          <p:nvPr/>
        </p:nvSpPr>
        <p:spPr>
          <a:xfrm>
            <a:off x="10927080" y="3163824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64" name="Text 62"/>
          <p:cNvSpPr/>
          <p:nvPr/>
        </p:nvSpPr>
        <p:spPr>
          <a:xfrm>
            <a:off x="2578608" y="3511296"/>
            <a:ext cx="8887968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 Sewage Treatment Plant is critical path.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7200" y="3675888"/>
            <a:ext cx="137160" cy="804672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66" name="Text 64"/>
          <p:cNvSpPr/>
          <p:nvPr/>
        </p:nvSpPr>
        <p:spPr>
          <a:xfrm>
            <a:off x="594360" y="3767328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EASTBAY PH-2 TP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94360" y="3959352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ACTIVE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4360" y="4123944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START  SEP 01, 2026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880360" y="3968496"/>
            <a:ext cx="210312" cy="228600"/>
          </a:xfrm>
          <a:prstGeom prst="rect">
            <a:avLst/>
          </a:prstGeom>
          <a:solidFill>
            <a:srgbClr val="007DA7"/>
          </a:solidFill>
          <a:ln/>
        </p:spPr>
      </p:sp>
      <p:sp>
        <p:nvSpPr>
          <p:cNvPr id="70" name="Text 68"/>
          <p:cNvSpPr/>
          <p:nvPr/>
        </p:nvSpPr>
        <p:spPr>
          <a:xfrm>
            <a:off x="2880360" y="3968496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3886200" y="3968496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72" name="Text 70"/>
          <p:cNvSpPr/>
          <p:nvPr/>
        </p:nvSpPr>
        <p:spPr>
          <a:xfrm>
            <a:off x="3886200" y="3968496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4892040" y="3968496"/>
            <a:ext cx="210312" cy="228600"/>
          </a:xfrm>
          <a:prstGeom prst="rect">
            <a:avLst/>
          </a:prstGeom>
          <a:solidFill>
            <a:srgbClr val="169873"/>
          </a:solidFill>
          <a:ln/>
        </p:spPr>
      </p:sp>
      <p:sp>
        <p:nvSpPr>
          <p:cNvPr id="74" name="Text 72"/>
          <p:cNvSpPr/>
          <p:nvPr/>
        </p:nvSpPr>
        <p:spPr>
          <a:xfrm>
            <a:off x="4892040" y="3968496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5897880" y="3968496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76" name="Shape 74"/>
          <p:cNvSpPr/>
          <p:nvPr/>
        </p:nvSpPr>
        <p:spPr>
          <a:xfrm>
            <a:off x="6903720" y="3968496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77" name="Shape 75"/>
          <p:cNvSpPr/>
          <p:nvPr/>
        </p:nvSpPr>
        <p:spPr>
          <a:xfrm>
            <a:off x="7909560" y="3968496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78" name="Shape 76"/>
          <p:cNvSpPr/>
          <p:nvPr/>
        </p:nvSpPr>
        <p:spPr>
          <a:xfrm>
            <a:off x="8915400" y="3968496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79" name="Shape 77"/>
          <p:cNvSpPr/>
          <p:nvPr/>
        </p:nvSpPr>
        <p:spPr>
          <a:xfrm>
            <a:off x="9921240" y="3968496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80" name="Shape 78"/>
          <p:cNvSpPr/>
          <p:nvPr/>
        </p:nvSpPr>
        <p:spPr>
          <a:xfrm>
            <a:off x="10927080" y="3968496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81" name="Text 79"/>
          <p:cNvSpPr/>
          <p:nvPr/>
        </p:nvSpPr>
        <p:spPr>
          <a:xfrm>
            <a:off x="2578608" y="4315968"/>
            <a:ext cx="8887968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EASTBAY Phase 2 Treatment Plant is critical path.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57200" y="4480560"/>
            <a:ext cx="11274552" cy="804672"/>
          </a:xfrm>
          <a:prstGeom prst="rect">
            <a:avLst/>
          </a:prstGeom>
          <a:solidFill>
            <a:srgbClr val="DDEBF4"/>
          </a:solidFill>
          <a:ln/>
        </p:spPr>
      </p:sp>
      <p:sp>
        <p:nvSpPr>
          <p:cNvPr id="83" name="Shape 81"/>
          <p:cNvSpPr/>
          <p:nvPr/>
        </p:nvSpPr>
        <p:spPr>
          <a:xfrm>
            <a:off x="457200" y="4480560"/>
            <a:ext cx="137160" cy="804672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84" name="Text 82"/>
          <p:cNvSpPr/>
          <p:nvPr/>
        </p:nvSpPr>
        <p:spPr>
          <a:xfrm>
            <a:off x="594360" y="4572000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KAYSAKAT TP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594360" y="4764024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PRE-PPP • IN PROGRESS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94360" y="4928616"/>
            <a:ext cx="200253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START  SEP 01, 2026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880360" y="4773168"/>
            <a:ext cx="210312" cy="228600"/>
          </a:xfrm>
          <a:prstGeom prst="rect">
            <a:avLst/>
          </a:prstGeom>
          <a:solidFill>
            <a:srgbClr val="007DA7"/>
          </a:solidFill>
          <a:ln/>
        </p:spPr>
      </p:sp>
      <p:sp>
        <p:nvSpPr>
          <p:cNvPr id="88" name="Text 86"/>
          <p:cNvSpPr/>
          <p:nvPr/>
        </p:nvSpPr>
        <p:spPr>
          <a:xfrm>
            <a:off x="2880360" y="4773168"/>
            <a:ext cx="21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3886200" y="4773168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90" name="Shape 88"/>
          <p:cNvSpPr/>
          <p:nvPr/>
        </p:nvSpPr>
        <p:spPr>
          <a:xfrm>
            <a:off x="4892040" y="4773168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91" name="Shape 89"/>
          <p:cNvSpPr/>
          <p:nvPr/>
        </p:nvSpPr>
        <p:spPr>
          <a:xfrm>
            <a:off x="5897880" y="4773168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92" name="Shape 90"/>
          <p:cNvSpPr/>
          <p:nvPr/>
        </p:nvSpPr>
        <p:spPr>
          <a:xfrm>
            <a:off x="6903720" y="4773168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93" name="Shape 91"/>
          <p:cNvSpPr/>
          <p:nvPr/>
        </p:nvSpPr>
        <p:spPr>
          <a:xfrm>
            <a:off x="7909560" y="4773168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94" name="Shape 92"/>
          <p:cNvSpPr/>
          <p:nvPr/>
        </p:nvSpPr>
        <p:spPr>
          <a:xfrm>
            <a:off x="8915400" y="4773168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95" name="Shape 93"/>
          <p:cNvSpPr/>
          <p:nvPr/>
        </p:nvSpPr>
        <p:spPr>
          <a:xfrm>
            <a:off x="9921240" y="4773168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96" name="Shape 94"/>
          <p:cNvSpPr/>
          <p:nvPr/>
        </p:nvSpPr>
        <p:spPr>
          <a:xfrm>
            <a:off x="10927080" y="4773168"/>
            <a:ext cx="210312" cy="228600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97" name="Text 95"/>
          <p:cNvSpPr/>
          <p:nvPr/>
        </p:nvSpPr>
        <p:spPr>
          <a:xfrm>
            <a:off x="2578608" y="5120640"/>
            <a:ext cx="8887968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KAYSAKAT Treatment Plant is critical path.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2578608" y="5486400"/>
            <a:ext cx="88879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   Achieved as planned                          ✓      Achieved ahead of plan                          !       Planned by now—still open                          ✓      Upcoming milestone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57200" y="6025896"/>
            <a:ext cx="11274552" cy="329184"/>
          </a:xfrm>
          <a:prstGeom prst="rect">
            <a:avLst/>
          </a:prstGeom>
          <a:solidFill>
            <a:srgbClr val="FDECEF"/>
          </a:solidFill>
          <a:ln/>
        </p:spPr>
      </p:sp>
      <p:sp>
        <p:nvSpPr>
          <p:cNvPr id="100" name="Text 98"/>
          <p:cNvSpPr/>
          <p:nvPr/>
        </p:nvSpPr>
        <p:spPr>
          <a:xfrm>
            <a:off x="612648" y="6089904"/>
            <a:ext cx="123444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1773936" y="6025896"/>
            <a:ext cx="956462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facilities progressing through governance milestones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"/>
            <a:ext cx="1127455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position is explicit against every facility's PPP start date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71414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Calendar-based phase timeline | July 30,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978408"/>
            <a:ext cx="1335024" cy="283464"/>
          </a:xfrm>
          <a:prstGeom prst="rect">
            <a:avLst/>
          </a:prstGeom>
          <a:solidFill>
            <a:srgbClr val="DDEBF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96696"/>
            <a:ext cx="1335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7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PRE-PPP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83664" y="1014984"/>
            <a:ext cx="18470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 readiness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06824" y="978408"/>
            <a:ext cx="1335024" cy="283464"/>
          </a:xfrm>
          <a:prstGeom prst="rect">
            <a:avLst/>
          </a:prstGeom>
          <a:solidFill>
            <a:srgbClr val="DDF5F9"/>
          </a:solidFill>
          <a:ln/>
        </p:spPr>
      </p:sp>
      <p:sp>
        <p:nvSpPr>
          <p:cNvPr id="8" name="Text 6"/>
          <p:cNvSpPr/>
          <p:nvPr/>
        </p:nvSpPr>
        <p:spPr>
          <a:xfrm>
            <a:off x="4306824" y="996696"/>
            <a:ext cx="1335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96128" y="1014984"/>
            <a:ext cx="18470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and capability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19288" y="978408"/>
            <a:ext cx="1335024" cy="283464"/>
          </a:xfrm>
          <a:prstGeom prst="rect">
            <a:avLst/>
          </a:prstGeom>
          <a:solidFill>
            <a:srgbClr val="DFF3EC"/>
          </a:solidFill>
          <a:ln/>
        </p:spPr>
      </p:sp>
      <p:sp>
        <p:nvSpPr>
          <p:cNvPr id="11" name="Text 9"/>
          <p:cNvSpPr/>
          <p:nvPr/>
        </p:nvSpPr>
        <p:spPr>
          <a:xfrm>
            <a:off x="8019288" y="996696"/>
            <a:ext cx="1335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9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08592" y="1014984"/>
            <a:ext cx="18470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Sustainment and BAU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76272" y="5102352"/>
            <a:ext cx="804672" cy="173736"/>
          </a:xfrm>
          <a:prstGeom prst="rect">
            <a:avLst/>
          </a:prstGeom>
          <a:solidFill>
            <a:srgbClr val="D3DEE8"/>
          </a:solidFill>
          <a:ln/>
        </p:spPr>
      </p:sp>
      <p:sp>
        <p:nvSpPr>
          <p:cNvPr id="14" name="Text 12"/>
          <p:cNvSpPr/>
          <p:nvPr/>
        </p:nvSpPr>
        <p:spPr>
          <a:xfrm>
            <a:off x="2176272" y="510235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2025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48456" y="5102352"/>
            <a:ext cx="804672" cy="173736"/>
          </a:xfrm>
          <a:prstGeom prst="rect">
            <a:avLst/>
          </a:prstGeom>
          <a:solidFill>
            <a:srgbClr val="D3DEE8"/>
          </a:solidFill>
          <a:ln/>
        </p:spPr>
      </p:sp>
      <p:sp>
        <p:nvSpPr>
          <p:cNvPr id="16" name="Text 14"/>
          <p:cNvSpPr/>
          <p:nvPr/>
        </p:nvSpPr>
        <p:spPr>
          <a:xfrm>
            <a:off x="3648456" y="510235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20640" y="5102352"/>
            <a:ext cx="804672" cy="173736"/>
          </a:xfrm>
          <a:prstGeom prst="rect">
            <a:avLst/>
          </a:prstGeom>
          <a:solidFill>
            <a:srgbClr val="D3DEE8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510235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92824" y="5102352"/>
            <a:ext cx="804672" cy="173736"/>
          </a:xfrm>
          <a:prstGeom prst="rect">
            <a:avLst/>
          </a:prstGeom>
          <a:solidFill>
            <a:srgbClr val="D3DEE8"/>
          </a:solidFill>
          <a:ln/>
        </p:spPr>
      </p:sp>
      <p:sp>
        <p:nvSpPr>
          <p:cNvPr id="20" name="Text 18"/>
          <p:cNvSpPr/>
          <p:nvPr/>
        </p:nvSpPr>
        <p:spPr>
          <a:xfrm>
            <a:off x="6592824" y="510235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065008" y="5102352"/>
            <a:ext cx="804672" cy="173736"/>
          </a:xfrm>
          <a:prstGeom prst="rect">
            <a:avLst/>
          </a:prstGeom>
          <a:solidFill>
            <a:srgbClr val="D3DEE8"/>
          </a:solidFill>
          <a:ln/>
        </p:spPr>
      </p:sp>
      <p:sp>
        <p:nvSpPr>
          <p:cNvPr id="22" name="Text 20"/>
          <p:cNvSpPr/>
          <p:nvPr/>
        </p:nvSpPr>
        <p:spPr>
          <a:xfrm>
            <a:off x="8065008" y="510235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537192" y="5102352"/>
            <a:ext cx="804672" cy="173736"/>
          </a:xfrm>
          <a:prstGeom prst="rect">
            <a:avLst/>
          </a:prstGeom>
          <a:solidFill>
            <a:srgbClr val="D3DEE8"/>
          </a:solidFill>
          <a:ln/>
        </p:spPr>
      </p:sp>
      <p:sp>
        <p:nvSpPr>
          <p:cNvPr id="24" name="Text 22"/>
          <p:cNvSpPr/>
          <p:nvPr/>
        </p:nvSpPr>
        <p:spPr>
          <a:xfrm>
            <a:off x="9537192" y="510235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2028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009376" y="5102352"/>
            <a:ext cx="804672" cy="173736"/>
          </a:xfrm>
          <a:prstGeom prst="rect">
            <a:avLst/>
          </a:prstGeom>
          <a:solidFill>
            <a:srgbClr val="D3DEE8"/>
          </a:solidFill>
          <a:ln/>
        </p:spPr>
      </p:sp>
      <p:sp>
        <p:nvSpPr>
          <p:cNvPr id="26" name="Text 24"/>
          <p:cNvSpPr/>
          <p:nvPr/>
        </p:nvSpPr>
        <p:spPr>
          <a:xfrm>
            <a:off x="11009376" y="5102352"/>
            <a:ext cx="80467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2028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75504" y="1545336"/>
            <a:ext cx="1106424" cy="228600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28" name="Text 26"/>
          <p:cNvSpPr/>
          <p:nvPr/>
        </p:nvSpPr>
        <p:spPr>
          <a:xfrm>
            <a:off x="5175504" y="1545336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• JUL 30,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157984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AGLIPAY STP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2414016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PPP ACTIVE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40280" y="1865376"/>
            <a:ext cx="2286000" cy="22860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32" name="Text 30"/>
          <p:cNvSpPr/>
          <p:nvPr/>
        </p:nvSpPr>
        <p:spPr>
          <a:xfrm>
            <a:off x="2240280" y="186537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START • MAR 13, 2025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40280" y="2295144"/>
            <a:ext cx="2743200" cy="137160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926080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 STP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3182112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PPP ACTIVE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40280" y="2633472"/>
            <a:ext cx="2286000" cy="22860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37" name="Text 35"/>
          <p:cNvSpPr/>
          <p:nvPr/>
        </p:nvSpPr>
        <p:spPr>
          <a:xfrm>
            <a:off x="2240280" y="2633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START • MAR 13, 2025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40280" y="3063240"/>
            <a:ext cx="2743200" cy="137160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694176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EASTBAY PH-2 TP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3950208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PPP ACTIVE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08192" y="3401568"/>
            <a:ext cx="2286000" cy="22860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42" name="Text 40"/>
          <p:cNvSpPr/>
          <p:nvPr/>
        </p:nvSpPr>
        <p:spPr>
          <a:xfrm>
            <a:off x="6108192" y="34015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START • SEP 1, 2026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40280" y="3831336"/>
            <a:ext cx="2743200" cy="137160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462272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2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KAYSAKAT TP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718304"/>
            <a:ext cx="200253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A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PRE-PPP • IN PROGRESS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08192" y="4169664"/>
            <a:ext cx="2286000" cy="228600"/>
          </a:xfrm>
          <a:prstGeom prst="rect">
            <a:avLst/>
          </a:prstGeom>
          <a:solidFill>
            <a:srgbClr val="08264C"/>
          </a:solidFill>
          <a:ln/>
        </p:spPr>
      </p:sp>
      <p:sp>
        <p:nvSpPr>
          <p:cNvPr id="47" name="Text 45"/>
          <p:cNvSpPr/>
          <p:nvPr/>
        </p:nvSpPr>
        <p:spPr>
          <a:xfrm>
            <a:off x="6108192" y="41696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 START • SEP 1, 2026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40280" y="4599432"/>
            <a:ext cx="2743200" cy="137160"/>
          </a:xfrm>
          <a:prstGeom prst="rect">
            <a:avLst/>
          </a:prstGeom>
          <a:solidFill>
            <a:srgbClr val="00A9C5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5715000"/>
            <a:ext cx="11274552" cy="448056"/>
          </a:xfrm>
          <a:prstGeom prst="rect">
            <a:avLst/>
          </a:prstGeom>
          <a:solidFill>
            <a:srgbClr val="FDECEF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" y="5779008"/>
            <a:ext cx="1810512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IMPLICATION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359152" y="5715000"/>
            <a:ext cx="89154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Pre-PPP milestones before gate.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1047902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readiness is 13%; significant gaps remain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3504" y="740664"/>
            <a:ext cx="106710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acceptance requires a fully compliant O&amp;M Manual under the Standard Governance Framework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O&amp;M Manual Governance module • IOM dated Jul 30,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2064" y="10241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Submitted = at least one uploaded document for the TOC row    |    — Missing = no submitted documents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371600"/>
          <a:ext cx="5120640" cy="347472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097280"/>
              </a:tblGrid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AGLIPAY STP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 STP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EASTBAY PH-2 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KAYSAKAT 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F"/>
                    </a:solidFill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3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075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513064" y="1353312"/>
            <a:ext cx="3108960" cy="722376"/>
          </a:xfrm>
          <a:prstGeom prst="rect">
            <a:avLst/>
          </a:prstGeom>
          <a:solidFill>
            <a:srgbClr val="DDEBF4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04504" y="144475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04504" y="1673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64  •  13%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513064" y="2121408"/>
            <a:ext cx="3108960" cy="585216"/>
          </a:xfrm>
          <a:prstGeom prst="rect">
            <a:avLst/>
          </a:prstGeom>
          <a:solidFill>
            <a:srgbClr val="FDECEF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04504" y="21945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AGLIPAY STP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04504" y="23957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16  •  0%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13064" y="2752344"/>
            <a:ext cx="3108960" cy="585216"/>
          </a:xfrm>
          <a:prstGeom prst="rect">
            <a:avLst/>
          </a:prstGeom>
          <a:solidFill>
            <a:srgbClr val="FDECEF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04504" y="282549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 STP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604504" y="302666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  •  19%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13064" y="3383280"/>
            <a:ext cx="3108960" cy="585216"/>
          </a:xfrm>
          <a:prstGeom prst="rect">
            <a:avLst/>
          </a:prstGeom>
          <a:solidFill>
            <a:srgbClr val="FDECEF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04504" y="345643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EASTBAY PH-2 TP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04504" y="36576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  •  25%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13064" y="4014216"/>
            <a:ext cx="3108960" cy="585216"/>
          </a:xfrm>
          <a:prstGeom prst="rect">
            <a:avLst/>
          </a:prstGeom>
          <a:solidFill>
            <a:srgbClr val="FDECEF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04504" y="408736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KAYSAKAT TP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04504" y="428853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16  •  6%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513064" y="4956048"/>
            <a:ext cx="3108960" cy="932688"/>
          </a:xfrm>
          <a:prstGeom prst="rect">
            <a:avLst/>
          </a:prstGeom>
          <a:solidFill>
            <a:srgbClr val="DDEBF4"/>
          </a:solidFill>
          <a:ln w="12700">
            <a:solidFill>
              <a:srgbClr val="D3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04504" y="504748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OBSERVATION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7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AGLIPAY Sewage Treatment Plant requires acceleration.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Manila Water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 Status</dc:title>
  <dc:subject>O&amp;M Governance Onboarding Progress</dc:subject>
  <dc:creator>ODM Dashboard</dc:creator>
  <cp:lastModifiedBy>ODM Dashboard</cp:lastModifiedBy>
  <cp:revision>1</cp:revision>
  <dcterms:created xsi:type="dcterms:W3CDTF">2026-07-30T08:52:16Z</dcterms:created>
  <dcterms:modified xsi:type="dcterms:W3CDTF">2026-07-30T08:52:16Z</dcterms:modified>
</cp:coreProperties>
</file>