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147483000" r:id="rId10"/>
    <p:sldId id="2147483001" r:id="rId11"/>
    <p:sldId id="2147483002" r:id="rId12"/>
    <p:sldId id="21474830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18AEC-2E91-194C-84C3-A7E53F402E8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0DF2D-5C71-6D48-AB13-E369A011B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7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05A9-0D43-D7F4-FB0A-BEF24E3A9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FB538-9647-8571-6C2D-C71238175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795CA-BF6E-07DF-60D2-42CE4280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8AD73-96BF-9735-764F-7AC9E8C1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B8D92-8EF8-3F92-4CEA-CF9FFF5F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3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FD8E-F86F-344C-CC37-7CFDF767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0A0F-1E81-DB51-343F-2C1D203D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927F8-468D-78D9-06B6-C5327A81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3D6FB-F5F3-770A-3C2F-DC05EA1C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FCA4D-4158-A52F-C6B5-BB40B9CE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38BD-3C1B-B2E3-EF61-4EF226FE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02CB0-47DC-173E-E6EE-BDB6B589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33812-2589-4108-7AF4-40391B25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BD04-591E-9B4B-8C0D-D9453A2F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06657-6763-A068-3D48-6CC7EBF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5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7DA9-23D6-5C97-B554-9264602B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A9717-FC05-4ACB-AD45-5ADF1A643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CBB2E-CFD8-9575-890F-BE3B8AECB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5AF31-282B-CC2C-2B23-D28AAC4C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D5212-6C3F-5499-0E60-990468E2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A1AB3-5B04-5DED-741E-931C4146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3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7395-CD83-44C1-A73E-22A1C32D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D2CA1-CCF4-EA5B-5E3B-06B3715A2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40173-F84F-D172-6973-44A7BCFBA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E70F6-6FAF-6220-3641-C27C6398C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5E0A4-B8E6-C25C-7924-B4A569D58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0CD5C-6ABF-57F0-6537-A7495846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5DC1A-F765-8DDB-9188-A0C22B26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06453-2551-3BE2-FE54-00031AEE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9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232D-8586-C381-6D8A-F4A3B920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AA713-276D-8CBC-DA72-273FEF38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C28CB-96E2-152D-3312-004DF408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913D3-AF36-8D40-4D67-6033EF25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2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11A74-ACBD-DDAB-7346-E1A4730F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4D594-5B40-20D0-8589-4CA25E04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7B713-CB0D-C584-A0BB-4E741B03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F754-B12B-FA45-8496-90F3070D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3374-205B-CDD7-F65A-32FAE910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476DE-26C1-7E9C-6431-D0B76E519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4C8D8-0CB3-730A-444D-74C119BA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468C7-DBE4-06DA-3913-6440F2C0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2FB83-590E-0F60-B1A6-373F47F3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1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2FEA-962E-B770-46DC-9B745D4A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FE68A8-5E60-33E8-6923-44AF5C33D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561BC-B3F1-CEFE-55B7-F41CF27F4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94AEC-FDBE-3AE9-A7F3-05E7EDDC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4B50A-404D-8864-C9D8-2CABD814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92768-9F70-8AF0-9025-A1BC6655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8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630B-A3ED-3F06-40BC-3FE1E9E9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46E20-F366-30F5-5263-C978189FF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4D268-F14A-DEB8-3E2E-CC9692E0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38CD9-4AD8-A22E-BC85-2B0C965D8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35304-9B86-5A6D-28BB-7453BBD5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8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A7CAA-7512-0D24-61A5-2ED075A81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C2AE8-AEAC-B140-C1F2-F48EEA5BC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52C1A-F512-F3F0-C320-5DA8AC29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4E2C-1F39-75FD-AF96-1973FDCF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8695-433B-9DE9-C848-3E56F049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63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0E5B45-CD0C-061C-41C0-22D11504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627"/>
            <a:ext cx="10515600" cy="526798"/>
          </a:xfrm>
          <a:prstGeom prst="rect">
            <a:avLst/>
          </a:prstGeom>
        </p:spPr>
        <p:txBody>
          <a:bodyPr/>
          <a:lstStyle>
            <a:lvl1pPr>
              <a:defRPr lang="en-US" sz="3000" b="1" kern="1200" dirty="0" smtClean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701D1E2-8DE3-A499-494A-81699DC9AE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905425"/>
            <a:ext cx="10515599" cy="392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595959"/>
                </a:solidFill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  <a:endParaRPr lang="en-PH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D71BD1-F316-79C2-C63D-1B9BD13241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766662"/>
            <a:ext cx="10515600" cy="145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1600" smtClean="0">
                <a:solidFill>
                  <a:srgbClr val="595959"/>
                </a:solidFill>
                <a:latin typeface="+mn-lt"/>
              </a:defRPr>
            </a:lvl1pPr>
            <a:lvl2pPr>
              <a:defRPr lang="en-US" sz="1600" smtClean="0">
                <a:solidFill>
                  <a:srgbClr val="595959"/>
                </a:solidFill>
                <a:latin typeface="+mn-lt"/>
              </a:defRPr>
            </a:lvl2pPr>
            <a:lvl3pPr>
              <a:defRPr lang="en-US" sz="1600" smtClean="0">
                <a:solidFill>
                  <a:srgbClr val="595959"/>
                </a:solidFill>
                <a:latin typeface="+mn-lt"/>
              </a:defRPr>
            </a:lvl3pPr>
            <a:lvl4pPr>
              <a:defRPr lang="en-US" sz="1600" smtClean="0">
                <a:solidFill>
                  <a:srgbClr val="595959"/>
                </a:solidFill>
                <a:latin typeface="+mn-lt"/>
              </a:defRPr>
            </a:lvl4pPr>
            <a:lvl5pPr>
              <a:defRPr lang="en-PH" sz="1600">
                <a:solidFill>
                  <a:srgbClr val="595959"/>
                </a:solidFill>
                <a:latin typeface="+mn-lt"/>
              </a:defRPr>
            </a:lvl5pPr>
          </a:lstStyle>
          <a:p>
            <a:pPr marL="0" lvl="0" algn="just"/>
            <a:r>
              <a:rPr lang="en-US"/>
              <a:t>Click to edit Master text styles</a:t>
            </a:r>
          </a:p>
          <a:p>
            <a:pPr marL="457200" lvl="1"/>
            <a:r>
              <a:rPr lang="en-US"/>
              <a:t>Second level</a:t>
            </a:r>
          </a:p>
          <a:p>
            <a:pPr marL="914400" lvl="2"/>
            <a:r>
              <a:rPr lang="en-US"/>
              <a:t>Third level</a:t>
            </a:r>
          </a:p>
          <a:p>
            <a:pPr marL="1371600" lvl="3"/>
            <a:r>
              <a:rPr lang="en-US"/>
              <a:t>Fourth level</a:t>
            </a:r>
          </a:p>
          <a:p>
            <a:pPr marL="1828800"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5410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FC612-74C9-9176-1BDC-C8D4F5967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75549-38B2-3191-0912-CAAF070F8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6DE7D-27B2-DDA1-030E-705B1712F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EA58-A8CC-E952-349D-A287F5DFC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31077-3E38-D366-0712-207913BB1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5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75D3-3BD3-4147-D81F-14DDEF5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BED444-522A-AD3D-63BA-532E2EE00D8C}"/>
              </a:ext>
            </a:extLst>
          </p:cNvPr>
          <p:cNvSpPr txBox="1"/>
          <p:nvPr/>
        </p:nvSpPr>
        <p:spPr>
          <a:xfrm>
            <a:off x="0" y="86315"/>
            <a:ext cx="60960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AMD-EZ KPI – Jan–May 2026 (1/4)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A0A0FB-43D3-EE28-C91D-E46FAD5C84CE}"/>
              </a:ext>
            </a:extLst>
          </p:cNvPr>
          <p:cNvGraphicFramePr>
            <a:graphicFrameLocks noGrp="1"/>
          </p:cNvGraphicFramePr>
          <p:nvPr/>
        </p:nvGraphicFramePr>
        <p:xfrm>
          <a:off x="284310" y="788615"/>
          <a:ext cx="11578108" cy="34745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7260">
                  <a:extLst>
                    <a:ext uri="{9D8B030D-6E8A-4147-A177-3AD203B41FA5}">
                      <a16:colId xmlns:a16="http://schemas.microsoft.com/office/drawing/2014/main" val="1734682953"/>
                    </a:ext>
                  </a:extLst>
                </a:gridCol>
                <a:gridCol w="1452966">
                  <a:extLst>
                    <a:ext uri="{9D8B030D-6E8A-4147-A177-3AD203B41FA5}">
                      <a16:colId xmlns:a16="http://schemas.microsoft.com/office/drawing/2014/main" val="1340370668"/>
                    </a:ext>
                  </a:extLst>
                </a:gridCol>
                <a:gridCol w="1530456">
                  <a:extLst>
                    <a:ext uri="{9D8B030D-6E8A-4147-A177-3AD203B41FA5}">
                      <a16:colId xmlns:a16="http://schemas.microsoft.com/office/drawing/2014/main" val="3195347621"/>
                    </a:ext>
                  </a:extLst>
                </a:gridCol>
                <a:gridCol w="1821050">
                  <a:extLst>
                    <a:ext uri="{9D8B030D-6E8A-4147-A177-3AD203B41FA5}">
                      <a16:colId xmlns:a16="http://schemas.microsoft.com/office/drawing/2014/main" val="274928465"/>
                    </a:ext>
                  </a:extLst>
                </a:gridCol>
                <a:gridCol w="1801677">
                  <a:extLst>
                    <a:ext uri="{9D8B030D-6E8A-4147-A177-3AD203B41FA5}">
                      <a16:colId xmlns:a16="http://schemas.microsoft.com/office/drawing/2014/main" val="87360769"/>
                    </a:ext>
                  </a:extLst>
                </a:gridCol>
                <a:gridCol w="1259226">
                  <a:extLst>
                    <a:ext uri="{9D8B030D-6E8A-4147-A177-3AD203B41FA5}">
                      <a16:colId xmlns:a16="http://schemas.microsoft.com/office/drawing/2014/main" val="2588546732"/>
                    </a:ext>
                  </a:extLst>
                </a:gridCol>
                <a:gridCol w="1073462">
                  <a:extLst>
                    <a:ext uri="{9D8B030D-6E8A-4147-A177-3AD203B41FA5}">
                      <a16:colId xmlns:a16="http://schemas.microsoft.com/office/drawing/2014/main" val="4106390431"/>
                    </a:ext>
                  </a:extLst>
                </a:gridCol>
                <a:gridCol w="1312011">
                  <a:extLst>
                    <a:ext uri="{9D8B030D-6E8A-4147-A177-3AD203B41FA5}">
                      <a16:colId xmlns:a16="http://schemas.microsoft.com/office/drawing/2014/main" val="3650363018"/>
                    </a:ext>
                  </a:extLst>
                </a:gridCol>
              </a:tblGrid>
              <a:tr h="51252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Month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Compliance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Budget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Spend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(# of WO's)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 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(Cost)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MTTR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(days)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Facility Uptime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Notifications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87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Jan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92.00%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95.00%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81.00% (4.3:1)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56.00% (1.3:1)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99.93%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60358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Feb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93.00%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96.00%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82.00% (4.6:1)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57.00% (1.3:1)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2.20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99.96%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43782"/>
                  </a:ext>
                </a:extLst>
              </a:tr>
              <a:tr h="40648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Mar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94.00%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97.00%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83.00% (4.9:1)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58.00% (1.4:1)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2.50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528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Apr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95.00%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98.00%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84.00% (5.3:1)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59.00% (1.4:1)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2032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May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96.00%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85.00% (5.7:1)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60.00%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3.20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99.96%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0779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YTD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94.00%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97.00%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83.00% (4.9:1)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58.00% (1.4:1)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2.50 days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99.95%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rtl="0">
                        <a:buNone/>
                      </a:pPr>
                      <a:r>
                        <a:rPr lang="en-GB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50208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BASELINE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GB" sz="1600" b="0" i="0" kern="1200">
                        <a:solidFill>
                          <a:schemeClr val="tx1"/>
                        </a:solidFill>
                        <a:effectLst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02209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endParaRPr kumimoji="0" lang="en-GB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kumimoji="0" lang="en-US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2586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1E0100-9773-CFF7-1FD4-AE6753318FC1}"/>
              </a:ext>
            </a:extLst>
          </p:cNvPr>
          <p:cNvSpPr txBox="1"/>
          <p:nvPr/>
        </p:nvSpPr>
        <p:spPr>
          <a:xfrm>
            <a:off x="283243" y="4178240"/>
            <a:ext cx="1155593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GB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1 of 1 business units are meeting PM compliance target.</a:t>
            </a:r>
            <a:endParaRPr lang="en-US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0 of 1 business units are meeting facility uptime target.</a:t>
            </a:r>
            <a:endParaRPr lang="en-GB"/>
          </a:p>
          <a:p>
            <a:pPr marL="285750" indent="-285750">
              <a:buFont typeface="Arial,Sans-Serif"/>
              <a:buChar char="•"/>
            </a:pPr>
            <a:r>
              <a:rPr lang="en-GB" sz="1600"/>
              <a:t>Completed the preventive-maintenance backlog review and assigned owners for every overdue work order.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 sz="1600"/>
              <a:t>Validated the uptime recovery plan with operations, maintenance, and supply-chain representatives.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Extended lead times for critical rotating-equipment spares could delay permanent corrective work.</a:t>
            </a:r>
            <a:r>
              <a:rPr lang="en-GB" sz="1600" err="1"/>
              <a:t/>
            </a:r>
            <a:r>
              <a:rPr lang="en-GB" sz="1600"/>
              <a:t/>
            </a:r>
            <a:endParaRPr lang="en-US"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168F3-27F3-744B-1540-62EA3682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33197"/>
      </p:ext>
    </p:extLst>
  </p:cSld>
  <p:clrMapOvr>
    <a:masterClrMapping/>
  </p:clrMapOvr>
  <p:extLst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75D3-3BD3-4147-D81F-14DDEF5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BED444-522A-AD3D-63BA-532E2EE00D8C}"/>
              </a:ext>
            </a:extLst>
          </p:cNvPr>
          <p:cNvSpPr txBox="1"/>
          <p:nvPr/>
        </p:nvSpPr>
        <p:spPr>
          <a:xfrm>
            <a:off x="0" y="86315"/>
            <a:ext cx="60960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AMD-EZ Notes – May 2026 (2/4)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A0A0FB-43D3-EE28-C91D-E46FAD5C84CE}"/>
              </a:ext>
            </a:extLst>
          </p:cNvPr>
          <p:cNvGraphicFramePr>
            <a:graphicFrameLocks noGrp="1"/>
          </p:cNvGraphicFramePr>
          <p:nvPr/>
        </p:nvGraphicFramePr>
        <p:xfrm>
          <a:off x="284310" y="788615"/>
          <a:ext cx="11578108" cy="34745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7260">
                  <a:extLst>
                    <a:ext uri="{9D8B030D-6E8A-4147-A177-3AD203B41FA5}">
                      <a16:colId xmlns:a16="http://schemas.microsoft.com/office/drawing/2014/main" val="1734682953"/>
                    </a:ext>
                  </a:extLst>
                </a:gridCol>
                <a:gridCol w="1452966">
                  <a:extLst>
                    <a:ext uri="{9D8B030D-6E8A-4147-A177-3AD203B41FA5}">
                      <a16:colId xmlns:a16="http://schemas.microsoft.com/office/drawing/2014/main" val="1340370668"/>
                    </a:ext>
                  </a:extLst>
                </a:gridCol>
                <a:gridCol w="1530456">
                  <a:extLst>
                    <a:ext uri="{9D8B030D-6E8A-4147-A177-3AD203B41FA5}">
                      <a16:colId xmlns:a16="http://schemas.microsoft.com/office/drawing/2014/main" val="3195347621"/>
                    </a:ext>
                  </a:extLst>
                </a:gridCol>
                <a:gridCol w="1821050">
                  <a:extLst>
                    <a:ext uri="{9D8B030D-6E8A-4147-A177-3AD203B41FA5}">
                      <a16:colId xmlns:a16="http://schemas.microsoft.com/office/drawing/2014/main" val="274928465"/>
                    </a:ext>
                  </a:extLst>
                </a:gridCol>
                <a:gridCol w="1801677">
                  <a:extLst>
                    <a:ext uri="{9D8B030D-6E8A-4147-A177-3AD203B41FA5}">
                      <a16:colId xmlns:a16="http://schemas.microsoft.com/office/drawing/2014/main" val="87360769"/>
                    </a:ext>
                  </a:extLst>
                </a:gridCol>
                <a:gridCol w="1259226">
                  <a:extLst>
                    <a:ext uri="{9D8B030D-6E8A-4147-A177-3AD203B41FA5}">
                      <a16:colId xmlns:a16="http://schemas.microsoft.com/office/drawing/2014/main" val="2588546732"/>
                    </a:ext>
                  </a:extLst>
                </a:gridCol>
                <a:gridCol w="1073462">
                  <a:extLst>
                    <a:ext uri="{9D8B030D-6E8A-4147-A177-3AD203B41FA5}">
                      <a16:colId xmlns:a16="http://schemas.microsoft.com/office/drawing/2014/main" val="4106390431"/>
                    </a:ext>
                  </a:extLst>
                </a:gridCol>
                <a:gridCol w="1312011">
                  <a:extLst>
                    <a:ext uri="{9D8B030D-6E8A-4147-A177-3AD203B41FA5}">
                      <a16:colId xmlns:a16="http://schemas.microsoft.com/office/drawing/2014/main" val="3650363018"/>
                    </a:ext>
                  </a:extLst>
                </a:gridCol>
              </a:tblGrid>
              <a:tr h="51252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Month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Compliance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Budget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Spend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(# of WO's)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 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(Cost)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MTTR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(days)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Facility Uptime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Notifications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87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60358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43782"/>
                  </a:ext>
                </a:extLst>
              </a:tr>
              <a:tr h="40648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528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2032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0779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rtl="0">
                        <a:buNone/>
                      </a:pPr>
                      <a:r>
                        <a:rPr lang="en-GB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50208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BASELINE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GB" sz="1600" b="0" i="0" kern="1200">
                        <a:solidFill>
                          <a:schemeClr val="tx1"/>
                        </a:solidFill>
                        <a:effectLst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02209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endParaRPr kumimoji="0" lang="en-GB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kumimoji="0" lang="en-US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2586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1E0100-9773-CFF7-1FD4-AE6753318FC1}"/>
              </a:ext>
            </a:extLst>
          </p:cNvPr>
          <p:cNvSpPr txBox="1"/>
          <p:nvPr/>
        </p:nvSpPr>
        <p:spPr>
          <a:xfrm>
            <a:off x="283243" y="4178240"/>
            <a:ext cx="1155593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GB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Repeated short-duration interruptions require trend review before the next reporting cutoff.</a:t>
            </a:r>
            <a:endParaRPr lang="en-US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First paragraph: the maintenance team documented a detailed sequence of inspection findings, corrective work,</a:t>
            </a:r>
            <a:endParaRPr lang="en-GB"/>
          </a:p>
          <a:p>
            <a:pPr marL="285750" indent="-285750">
              <a:buFont typeface="Arial,Sans-Serif"/>
              <a:buChar char="•"/>
            </a:pPr>
            <a:r>
              <a:rPr lang="en-GB" sz="1600"/>
              <a:t>(continued) spare-parts constraints, and follow-up ownership so the complete operational context remains available to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 sz="1600"/>
              <a:t>(continued) reviewers.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(continued) Second paragraph: UNBROKEN-COMMENTARY-UNBROKEN-COMMENTARY-UNBROKEN-COMMENTARY-UNBR</a:t>
            </a:r>
            <a:r>
              <a:rPr lang="en-GB" sz="1600" err="1"/>
              <a:t/>
            </a:r>
            <a:r>
              <a:rPr lang="en-GB" sz="1600"/>
              <a:t/>
            </a:r>
            <a:endParaRPr lang="en-US"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168F3-27F3-744B-1540-62EA3682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33197"/>
      </p:ext>
    </p:extLst>
  </p:cSld>
  <p:clrMapOvr>
    <a:masterClrMapping/>
  </p:clrMapOvr>
  <p:extLst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75D3-3BD3-4147-D81F-14DDEF5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BED444-522A-AD3D-63BA-532E2EE00D8C}"/>
              </a:ext>
            </a:extLst>
          </p:cNvPr>
          <p:cNvSpPr txBox="1"/>
          <p:nvPr/>
        </p:nvSpPr>
        <p:spPr>
          <a:xfrm>
            <a:off x="0" y="86315"/>
            <a:ext cx="60960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AMD-EZ Notes – May 2026 (3/4)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A0A0FB-43D3-EE28-C91D-E46FAD5C84CE}"/>
              </a:ext>
            </a:extLst>
          </p:cNvPr>
          <p:cNvGraphicFramePr>
            <a:graphicFrameLocks noGrp="1"/>
          </p:cNvGraphicFramePr>
          <p:nvPr/>
        </p:nvGraphicFramePr>
        <p:xfrm>
          <a:off x="284310" y="788615"/>
          <a:ext cx="11578108" cy="34745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7260">
                  <a:extLst>
                    <a:ext uri="{9D8B030D-6E8A-4147-A177-3AD203B41FA5}">
                      <a16:colId xmlns:a16="http://schemas.microsoft.com/office/drawing/2014/main" val="1734682953"/>
                    </a:ext>
                  </a:extLst>
                </a:gridCol>
                <a:gridCol w="1452966">
                  <a:extLst>
                    <a:ext uri="{9D8B030D-6E8A-4147-A177-3AD203B41FA5}">
                      <a16:colId xmlns:a16="http://schemas.microsoft.com/office/drawing/2014/main" val="1340370668"/>
                    </a:ext>
                  </a:extLst>
                </a:gridCol>
                <a:gridCol w="1530456">
                  <a:extLst>
                    <a:ext uri="{9D8B030D-6E8A-4147-A177-3AD203B41FA5}">
                      <a16:colId xmlns:a16="http://schemas.microsoft.com/office/drawing/2014/main" val="3195347621"/>
                    </a:ext>
                  </a:extLst>
                </a:gridCol>
                <a:gridCol w="1821050">
                  <a:extLst>
                    <a:ext uri="{9D8B030D-6E8A-4147-A177-3AD203B41FA5}">
                      <a16:colId xmlns:a16="http://schemas.microsoft.com/office/drawing/2014/main" val="274928465"/>
                    </a:ext>
                  </a:extLst>
                </a:gridCol>
                <a:gridCol w="1801677">
                  <a:extLst>
                    <a:ext uri="{9D8B030D-6E8A-4147-A177-3AD203B41FA5}">
                      <a16:colId xmlns:a16="http://schemas.microsoft.com/office/drawing/2014/main" val="87360769"/>
                    </a:ext>
                  </a:extLst>
                </a:gridCol>
                <a:gridCol w="1259226">
                  <a:extLst>
                    <a:ext uri="{9D8B030D-6E8A-4147-A177-3AD203B41FA5}">
                      <a16:colId xmlns:a16="http://schemas.microsoft.com/office/drawing/2014/main" val="2588546732"/>
                    </a:ext>
                  </a:extLst>
                </a:gridCol>
                <a:gridCol w="1073462">
                  <a:extLst>
                    <a:ext uri="{9D8B030D-6E8A-4147-A177-3AD203B41FA5}">
                      <a16:colId xmlns:a16="http://schemas.microsoft.com/office/drawing/2014/main" val="4106390431"/>
                    </a:ext>
                  </a:extLst>
                </a:gridCol>
                <a:gridCol w="1312011">
                  <a:extLst>
                    <a:ext uri="{9D8B030D-6E8A-4147-A177-3AD203B41FA5}">
                      <a16:colId xmlns:a16="http://schemas.microsoft.com/office/drawing/2014/main" val="3650363018"/>
                    </a:ext>
                  </a:extLst>
                </a:gridCol>
              </a:tblGrid>
              <a:tr h="51252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Month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Compliance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Budget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Spend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(# of WO's)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 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(Cost)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MTTR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(days)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Facility Uptime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Notifications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87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60358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43782"/>
                  </a:ext>
                </a:extLst>
              </a:tr>
              <a:tr h="40648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528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2032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0779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rtl="0">
                        <a:buNone/>
                      </a:pPr>
                      <a:r>
                        <a:rPr lang="en-GB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50208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BASELINE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GB" sz="1600" b="0" i="0" kern="1200">
                        <a:solidFill>
                          <a:schemeClr val="tx1"/>
                        </a:solidFill>
                        <a:effectLst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02209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endParaRPr kumimoji="0" lang="en-GB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kumimoji="0" lang="en-US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2586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1E0100-9773-CFF7-1FD4-AE6753318FC1}"/>
              </a:ext>
            </a:extLst>
          </p:cNvPr>
          <p:cNvSpPr txBox="1"/>
          <p:nvPr/>
        </p:nvSpPr>
        <p:spPr>
          <a:xfrm>
            <a:off x="283243" y="4178240"/>
            <a:ext cx="1155593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GB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(continued) OKEN-COMMENTARY-UNBROKEN-COMMENTARY-UNBROKEN-COMMENTARY-UNBROKEN</a:t>
            </a:r>
            <a:endParaRPr lang="en-US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(continued) -COMMENTARY-UNBROKEN-COMMENTARY-UNBROKEN-COMMENTARY-UNBROKEN-COM</a:t>
            </a:r>
            <a:endParaRPr lang="en-GB"/>
          </a:p>
          <a:p>
            <a:pPr marL="285750" indent="-285750">
              <a:buFont typeface="Arial,Sans-Serif"/>
              <a:buChar char="•"/>
            </a:pPr>
            <a:r>
              <a:rPr lang="en-GB" sz="1600"/>
              <a:t>(continued) MENTARY-UNBROKEN-COMMENTARY-UNBROKEN-COMMENTARY-UNBROKEN-COMMENT ARY-UNBROKEN-COMMENTARY-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 sz="1600"/>
              <a:t>(continued) Third paragraph: the team will verify completion evidence at the next monthly review and retain the original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(continued) wording across continuation slides.</a:t>
            </a:r>
            <a:r>
              <a:rPr lang="en-GB" sz="1600" err="1"/>
              <a:t/>
            </a:r>
            <a:r>
              <a:rPr lang="en-GB" sz="1600"/>
              <a:t/>
            </a:r>
            <a:endParaRPr lang="en-US"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168F3-27F3-744B-1540-62EA3682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33197"/>
      </p:ext>
    </p:extLst>
  </p:cSld>
  <p:clrMapOvr>
    <a:masterClrMapping/>
  </p:clrMapOvr>
  <p:extLst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75D3-3BD3-4147-D81F-14DDEF5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BED444-522A-AD3D-63BA-532E2EE00D8C}"/>
              </a:ext>
            </a:extLst>
          </p:cNvPr>
          <p:cNvSpPr txBox="1"/>
          <p:nvPr/>
        </p:nvSpPr>
        <p:spPr>
          <a:xfrm>
            <a:off x="0" y="86315"/>
            <a:ext cx="60960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AMD-EZ Notes – May 2026 (4/4)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A0A0FB-43D3-EE28-C91D-E46FAD5C84CE}"/>
              </a:ext>
            </a:extLst>
          </p:cNvPr>
          <p:cNvGraphicFramePr>
            <a:graphicFrameLocks noGrp="1"/>
          </p:cNvGraphicFramePr>
          <p:nvPr/>
        </p:nvGraphicFramePr>
        <p:xfrm>
          <a:off x="284310" y="788615"/>
          <a:ext cx="11578108" cy="34745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7260">
                  <a:extLst>
                    <a:ext uri="{9D8B030D-6E8A-4147-A177-3AD203B41FA5}">
                      <a16:colId xmlns:a16="http://schemas.microsoft.com/office/drawing/2014/main" val="1734682953"/>
                    </a:ext>
                  </a:extLst>
                </a:gridCol>
                <a:gridCol w="1452966">
                  <a:extLst>
                    <a:ext uri="{9D8B030D-6E8A-4147-A177-3AD203B41FA5}">
                      <a16:colId xmlns:a16="http://schemas.microsoft.com/office/drawing/2014/main" val="1340370668"/>
                    </a:ext>
                  </a:extLst>
                </a:gridCol>
                <a:gridCol w="1530456">
                  <a:extLst>
                    <a:ext uri="{9D8B030D-6E8A-4147-A177-3AD203B41FA5}">
                      <a16:colId xmlns:a16="http://schemas.microsoft.com/office/drawing/2014/main" val="3195347621"/>
                    </a:ext>
                  </a:extLst>
                </a:gridCol>
                <a:gridCol w="1821050">
                  <a:extLst>
                    <a:ext uri="{9D8B030D-6E8A-4147-A177-3AD203B41FA5}">
                      <a16:colId xmlns:a16="http://schemas.microsoft.com/office/drawing/2014/main" val="274928465"/>
                    </a:ext>
                  </a:extLst>
                </a:gridCol>
                <a:gridCol w="1801677">
                  <a:extLst>
                    <a:ext uri="{9D8B030D-6E8A-4147-A177-3AD203B41FA5}">
                      <a16:colId xmlns:a16="http://schemas.microsoft.com/office/drawing/2014/main" val="87360769"/>
                    </a:ext>
                  </a:extLst>
                </a:gridCol>
                <a:gridCol w="1259226">
                  <a:extLst>
                    <a:ext uri="{9D8B030D-6E8A-4147-A177-3AD203B41FA5}">
                      <a16:colId xmlns:a16="http://schemas.microsoft.com/office/drawing/2014/main" val="2588546732"/>
                    </a:ext>
                  </a:extLst>
                </a:gridCol>
                <a:gridCol w="1073462">
                  <a:extLst>
                    <a:ext uri="{9D8B030D-6E8A-4147-A177-3AD203B41FA5}">
                      <a16:colId xmlns:a16="http://schemas.microsoft.com/office/drawing/2014/main" val="4106390431"/>
                    </a:ext>
                  </a:extLst>
                </a:gridCol>
                <a:gridCol w="1312011">
                  <a:extLst>
                    <a:ext uri="{9D8B030D-6E8A-4147-A177-3AD203B41FA5}">
                      <a16:colId xmlns:a16="http://schemas.microsoft.com/office/drawing/2014/main" val="3650363018"/>
                    </a:ext>
                  </a:extLst>
                </a:gridCol>
              </a:tblGrid>
              <a:tr h="51252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Month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Compliance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Budget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Spend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(# of WO's)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 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(Cost)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MTTR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(days)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Facility Uptime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Notifications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87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60358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43782"/>
                  </a:ext>
                </a:extLst>
              </a:tr>
              <a:tr h="40648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528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2032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/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0779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/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rtl="0">
                        <a:buNone/>
                      </a:pPr>
                      <a:r>
                        <a:rPr lang="en-GB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50208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BASELINE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GB" sz="1600" b="0" i="0" kern="1200">
                        <a:solidFill>
                          <a:schemeClr val="tx1"/>
                        </a:solidFill>
                        <a:effectLst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02209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endParaRPr kumimoji="0" lang="en-GB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kumimoji="0" lang="en-US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2586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1E0100-9773-CFF7-1FD4-AE6753318FC1}"/>
              </a:ext>
            </a:extLst>
          </p:cNvPr>
          <p:cNvSpPr txBox="1"/>
          <p:nvPr/>
        </p:nvSpPr>
        <p:spPr>
          <a:xfrm>
            <a:off x="283243" y="4178240"/>
            <a:ext cx="1155593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GB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Confirm purchase-order dates, responsible owners, and escalation paths for every constrained spare.</a:t>
            </a:r>
            <a:endParaRPr lang="en-US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Attach inspection evidence and closure notes to the related maintenance work orders.</a:t>
            </a:r>
            <a:endParaRPr lang="en-GB"/>
          </a:p>
          <a:p>
            <a:pPr marL="285750" indent="-285750">
              <a:buFont typeface="Arial,Sans-Serif"/>
              <a:buChar char="•"/>
            </a:pPr>
            <a:r>
              <a:rPr lang="en-GB" sz="1600"/>
              <a:t>Review the full risk register with the business-unit leadership team before month end.</a:t>
            </a:r>
            <a:endParaRPr lang="en-GB"/>
          </a:p>
          <a:p>
            <a:pPr marL="285750" indent="-285750">
              <a:buFont typeface="Arial"/>
              <a:buNone/>
            </a:pPr>
            <a:r>
              <a:rPr lang="en-US" sz="1600"/>
              <a:t/>
            </a:r>
          </a:p>
          <a:p>
            <a:pPr marL="285750" indent="-285750">
              <a:buFont typeface="Arial"/>
              <a:buNone/>
            </a:pPr>
            <a:r>
              <a:rPr lang="en-GB" sz="1600"/>
              <a:t/>
            </a:r>
            <a:r>
              <a:rPr lang="en-GB" sz="1600" err="1"/>
              <a:t/>
            </a:r>
            <a:r>
              <a:rPr lang="en-GB" sz="1600"/>
              <a:t/>
            </a:r>
            <a:endParaRPr lang="en-US"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168F3-27F3-744B-1540-62EA3682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33197"/>
      </p:ext>
    </p:extLst>
  </p:cSld>
  <p:clrMapOvr>
    <a:masterClrMapping/>
  </p:clrMapOvr>
  <p:extLst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orecard template" id="{DA736920-3AB9-2C4D-8382-13E1D0162CFB}" vid="{A7DEB196-B8FF-D949-9525-5A339A986F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478</Words>
  <Application>Microsoft Macintosh PowerPoint</Application>
  <PresentationFormat>Widescreen</PresentationFormat>
  <Paragraphs>146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Arial,Sans-Serif</vt:lpstr>
      <vt:lpstr>Calibri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 Balucan</dc:creator>
  <cp:lastModifiedBy>Gerald Balucan</cp:lastModifiedBy>
  <cp:revision>1</cp:revision>
  <dcterms:created xsi:type="dcterms:W3CDTF">2026-07-14T06:28:58Z</dcterms:created>
  <dcterms:modified xsi:type="dcterms:W3CDTF">2026-07-14T06:29:52Z</dcterms:modified>
</cp:coreProperties>
</file>