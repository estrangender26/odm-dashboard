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  <p:sldId id="214748300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7F1A-1226-7918-8368-365C6AF3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DADE3-BAB7-D052-C582-9EFF25009655}"/>
              </a:ext>
            </a:extLst>
          </p:cNvPr>
          <p:cNvSpPr txBox="1"/>
          <p:nvPr/>
        </p:nvSpPr>
        <p:spPr>
          <a:xfrm>
            <a:off x="9224" y="75180"/>
            <a:ext cx="11887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All BUs KPI Scorecard – May 2026 (1/2)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3751899-7E82-A2E4-95ED-5588EB0A5AE0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766356"/>
          <a:ext cx="11384262" cy="3550686"/>
        </p:xfrm>
        <a:graphic>
          <a:graphicData uri="http://schemas.openxmlformats.org/drawingml/2006/table">
            <a:tbl>
              <a:tblPr/>
              <a:tblGrid>
                <a:gridCol w="19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Business Unit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PM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Compliance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Budget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Spend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(# of WO's)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(Cost)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MTTR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(days)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Facility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Uptime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AMD-EZ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96.00%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85.00% (5.7:1)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60.00% (1.5:1)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3.20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99.96%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Laguna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97.00%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86.00% (6.1:1)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61.00% (1.6:1)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3.50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Clark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101.00%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87.00% (6.7:1)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62.00% (1.6:1)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3.80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99.93%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Tagum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102.00%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88.00% (7.3:1)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63.00% (1.7:1)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4.20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Estate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91.00%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103.00%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89.00% (8.1:1)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64.00% (1.8:1)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4.50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97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1393924-6A44-A95B-E44A-9D8F4401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2703"/>
      </p:ext>
    </p:extLst>
  </p:cSld>
  <p:clrMapOvr>
    <a:masterClrMapping/>
  </p:clrMapOvr>
  <p:extLst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7F1A-1226-7918-8368-365C6AF3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DADE3-BAB7-D052-C582-9EFF25009655}"/>
              </a:ext>
            </a:extLst>
          </p:cNvPr>
          <p:cNvSpPr txBox="1"/>
          <p:nvPr/>
        </p:nvSpPr>
        <p:spPr>
          <a:xfrm>
            <a:off x="9224" y="75180"/>
            <a:ext cx="11887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All BUs KPI Scorecard – May 2026 (2/2)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3751899-7E82-A2E4-95ED-5588EB0A5AE0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766356"/>
          <a:ext cx="11384262" cy="3550686"/>
        </p:xfrm>
        <a:graphic>
          <a:graphicData uri="http://schemas.openxmlformats.org/drawingml/2006/table">
            <a:tbl>
              <a:tblPr/>
              <a:tblGrid>
                <a:gridCol w="19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Business Unit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PM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Compliance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Budget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Spend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(# of WO's)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(Cost)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MTTR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(days)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Facility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Uptime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LARC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92.00%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104.00%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90.00% (9.0:1)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65.00% (1.9:1)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4.80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99.93%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97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1393924-6A44-A95B-E44A-9D8F4401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2703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