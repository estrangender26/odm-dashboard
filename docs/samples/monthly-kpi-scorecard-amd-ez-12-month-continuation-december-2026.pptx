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147483000" r:id="rId10"/>
    <p:sldId id="2147483001" r:id="rId11"/>
    <p:sldId id="2147483002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30"/>
  </p:normalViewPr>
  <p:slideViewPr>
    <p:cSldViewPr snapToGrid="0">
      <p:cViewPr varScale="1">
        <p:scale>
          <a:sx n="95" d="100"/>
          <a:sy n="95" d="100"/>
        </p:scale>
        <p:origin x="200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518AEC-2E91-194C-84C3-A7E53F402E82}" type="datetimeFigureOut">
              <a:rPr lang="en-US" smtClean="0"/>
              <a:t>7/14/26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E0DF2D-5C71-6D48-AB13-E369A011B0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1740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205A9-0D43-D7F4-FB0A-BEF24E3A97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8FB538-9647-8571-6C2D-C712381754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6795CA-BF6E-07DF-60D2-42CE4280D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EAAFE-CC61-794B-B699-700AC055E6D2}" type="datetimeFigureOut">
              <a:rPr lang="en-US" smtClean="0"/>
              <a:t>7/14/26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B8AD73-96BF-9735-764F-7AC9E8C16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1B8D92-8EF8-3F92-4CEA-CF9FFF5F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28E43-8BEF-C24F-B7B6-5BEBD6678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3349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DFD8E-F86F-344C-CC37-7CFDF7679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F00A0F-1E81-DB51-343F-2C1D203DB2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D927F8-468D-78D9-06B6-C5327A81A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EAAFE-CC61-794B-B699-700AC055E6D2}" type="datetimeFigureOut">
              <a:rPr lang="en-US" smtClean="0"/>
              <a:t>7/14/26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63D6FB-F5F3-770A-3C2F-DC05EA1CD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AFCA4D-4158-A52F-C6B5-BB40B9CEC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28E43-8BEF-C24F-B7B6-5BEBD6678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205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138BD-3C1B-B2E3-EF61-4EF226FEF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902CB0-47DC-173E-E6EE-BDB6B5891E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933812-2589-4108-7AF4-40391B25E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EAAFE-CC61-794B-B699-700AC055E6D2}" type="datetimeFigureOut">
              <a:rPr lang="en-US" smtClean="0"/>
              <a:t>7/14/26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DBD04-591E-9B4B-8C0D-D9453A2F0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406657-6763-A068-3D48-6CC7EBF7D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28E43-8BEF-C24F-B7B6-5BEBD6678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3554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17DA9-23D6-5C97-B554-9264602B67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9A9717-FC05-4ACB-AD45-5ADF1A6431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7CBB2E-CFD8-9575-890F-BE3B8AECB9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05AF31-282B-CC2C-2B23-D28AAC4C8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EAAFE-CC61-794B-B699-700AC055E6D2}" type="datetimeFigureOut">
              <a:rPr lang="en-US" smtClean="0"/>
              <a:t>7/14/26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0D5212-6C3F-5499-0E60-990468E23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DA1AB3-5B04-5DED-741E-931C4146E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28E43-8BEF-C24F-B7B6-5BEBD6678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939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F7395-CD83-44C1-A73E-22A1C32D9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DD2CA1-CCF4-EA5B-5E3B-06B3715A21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940173-F84F-D172-6973-44A7BCFBA2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1E70F6-6FAF-6220-3641-C27C6398C6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55E0A4-B8E6-C25C-7924-B4A569D58D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B50CD5C-6ABF-57F0-6537-A74958462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EAAFE-CC61-794B-B699-700AC055E6D2}" type="datetimeFigureOut">
              <a:rPr lang="en-US" smtClean="0"/>
              <a:t>7/14/26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F5DC1A-F765-8DDB-9188-A0C22B26C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906453-2551-3BE2-FE54-00031AEEA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28E43-8BEF-C24F-B7B6-5BEBD6678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1976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8232D-8586-C381-6D8A-F4A3B9207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F6AA713-276D-8CBC-DA72-273FEF384E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EAAFE-CC61-794B-B699-700AC055E6D2}" type="datetimeFigureOut">
              <a:rPr lang="en-US" smtClean="0"/>
              <a:t>7/14/26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BC28CB-96E2-152D-3312-004DF408F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D913D3-AF36-8D40-4D67-6033EF25A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28E43-8BEF-C24F-B7B6-5BEBD6678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928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511A74-ACBD-DDAB-7346-E1A4730FF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EAAFE-CC61-794B-B699-700AC055E6D2}" type="datetimeFigureOut">
              <a:rPr lang="en-US" smtClean="0"/>
              <a:t>7/14/26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84D594-5B40-20D0-8589-4CA25E04F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97B713-CB0D-C584-A0BB-4E741B03C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28E43-8BEF-C24F-B7B6-5BEBD6678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9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AF754-B12B-FA45-8496-90F3070DED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683374-205B-CDD7-F65A-32FAE910DC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A476DE-26C1-7E9C-6431-D0B76E519F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B4C8D8-0CB3-730A-444D-74C119BAF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EAAFE-CC61-794B-B699-700AC055E6D2}" type="datetimeFigureOut">
              <a:rPr lang="en-US" smtClean="0"/>
              <a:t>7/14/26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6468C7-DBE4-06DA-3913-6440F2C03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E2FB83-590E-0F60-B1A6-373F47F32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28E43-8BEF-C24F-B7B6-5BEBD6678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2122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12FEA-962E-B770-46DC-9B745D4AD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FE68A8-5E60-33E8-6923-44AF5C33DD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2561BC-B3F1-CEFE-55B7-F41CF27F4C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094AEC-FDBE-3AE9-A7F3-05E7EDDC79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EAAFE-CC61-794B-B699-700AC055E6D2}" type="datetimeFigureOut">
              <a:rPr lang="en-US" smtClean="0"/>
              <a:t>7/14/26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84B50A-404D-8864-C9D8-2CABD8140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892768-9F70-8AF0-9025-A1BC6655B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28E43-8BEF-C24F-B7B6-5BEBD6678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6822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6630B-A3ED-3F06-40BC-3FE1E9E9E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746E20-F366-30F5-5263-C978189FF6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34D268-F14A-DEB8-3E2E-CC9692E02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EAAFE-CC61-794B-B699-700AC055E6D2}" type="datetimeFigureOut">
              <a:rPr lang="en-US" smtClean="0"/>
              <a:t>7/14/26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C38CD9-4AD8-A22E-BC85-2B0C965D8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435304-9B86-5A6D-28BB-7453BBD54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28E43-8BEF-C24F-B7B6-5BEBD6678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1804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A5A7CAA-7512-0D24-61A5-2ED075A81A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FC2AE8-AEAC-B140-C1F2-F48EEA5BCB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B52C1A-F512-F3F0-C320-5DA8AC29C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EAAFE-CC61-794B-B699-700AC055E6D2}" type="datetimeFigureOut">
              <a:rPr lang="en-US" smtClean="0"/>
              <a:t>7/14/26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6A4E2C-1F39-75FD-AF96-1973FDCF9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838695-433B-9DE9-C848-3E56F0499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28E43-8BEF-C24F-B7B6-5BEBD6678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4639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D0E5B45-CD0C-061C-41C0-22D11504D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8627"/>
            <a:ext cx="10515600" cy="526798"/>
          </a:xfrm>
          <a:prstGeom prst="rect">
            <a:avLst/>
          </a:prstGeom>
        </p:spPr>
        <p:txBody>
          <a:bodyPr/>
          <a:lstStyle>
            <a:lvl1pPr>
              <a:defRPr lang="en-US" sz="3000" b="1" kern="1200" dirty="0" smtClean="0">
                <a:solidFill>
                  <a:srgbClr val="595959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F701D1E2-8DE3-A499-494A-81699DC9AE8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199" y="905425"/>
            <a:ext cx="10515599" cy="39296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rgbClr val="595959"/>
                </a:solidFill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  <a:endParaRPr lang="en-PH"/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6CD71BD1-F316-79C2-C63D-1B9BD13241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8200" y="1766662"/>
            <a:ext cx="10515600" cy="14582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1600" smtClean="0">
                <a:solidFill>
                  <a:srgbClr val="595959"/>
                </a:solidFill>
                <a:latin typeface="+mn-lt"/>
              </a:defRPr>
            </a:lvl1pPr>
            <a:lvl2pPr>
              <a:defRPr lang="en-US" sz="1600" smtClean="0">
                <a:solidFill>
                  <a:srgbClr val="595959"/>
                </a:solidFill>
                <a:latin typeface="+mn-lt"/>
              </a:defRPr>
            </a:lvl2pPr>
            <a:lvl3pPr>
              <a:defRPr lang="en-US" sz="1600" smtClean="0">
                <a:solidFill>
                  <a:srgbClr val="595959"/>
                </a:solidFill>
                <a:latin typeface="+mn-lt"/>
              </a:defRPr>
            </a:lvl3pPr>
            <a:lvl4pPr>
              <a:defRPr lang="en-US" sz="1600" smtClean="0">
                <a:solidFill>
                  <a:srgbClr val="595959"/>
                </a:solidFill>
                <a:latin typeface="+mn-lt"/>
              </a:defRPr>
            </a:lvl4pPr>
            <a:lvl5pPr>
              <a:defRPr lang="en-PH" sz="1600">
                <a:solidFill>
                  <a:srgbClr val="595959"/>
                </a:solidFill>
                <a:latin typeface="+mn-lt"/>
              </a:defRPr>
            </a:lvl5pPr>
          </a:lstStyle>
          <a:p>
            <a:pPr marL="0" lvl="0" algn="just"/>
            <a:r>
              <a:rPr lang="en-US"/>
              <a:t>Click to edit Master text styles</a:t>
            </a:r>
          </a:p>
          <a:p>
            <a:pPr marL="457200" lvl="1"/>
            <a:r>
              <a:rPr lang="en-US"/>
              <a:t>Second level</a:t>
            </a:r>
          </a:p>
          <a:p>
            <a:pPr marL="914400" lvl="2"/>
            <a:r>
              <a:rPr lang="en-US"/>
              <a:t>Third level</a:t>
            </a:r>
          </a:p>
          <a:p>
            <a:pPr marL="1371600" lvl="3"/>
            <a:r>
              <a:rPr lang="en-US"/>
              <a:t>Fourth level</a:t>
            </a:r>
          </a:p>
          <a:p>
            <a:pPr marL="1828800" lvl="4"/>
            <a:r>
              <a:rPr lang="en-US"/>
              <a:t>Fifth level</a:t>
            </a:r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3541062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9FC612-74C9-9176-1BDC-C8D4F59670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D75549-38B2-3191-0912-CAAF070F87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96DE7D-27B2-DDA1-030E-705B1712F6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5EAAFE-CC61-794B-B699-700AC055E6D2}" type="datetimeFigureOut">
              <a:rPr lang="en-US" smtClean="0"/>
              <a:t>7/14/26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19EA58-A8CC-E952-349D-A287F5DFCB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931077-3E38-D366-0712-207913BB10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A28E43-8BEF-C24F-B7B6-5BEBD6678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7541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DA75D3-3BD3-4147-D81F-14DDEF5F2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9BED444-522A-AD3D-63BA-532E2EE00D8C}"/>
              </a:ext>
            </a:extLst>
          </p:cNvPr>
          <p:cNvSpPr txBox="1"/>
          <p:nvPr/>
        </p:nvSpPr>
        <p:spPr>
          <a:xfrm>
            <a:off x="0" y="86315"/>
            <a:ext cx="6096000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n-US" sz="2800" b="1">
                <a:solidFill>
                  <a:srgbClr val="0070C0"/>
                </a:solidFill>
                <a:latin typeface="Calibri" panose="020F0502020204030204"/>
                <a:ea typeface="MS PGothic"/>
                <a:cs typeface="Arial"/>
              </a:rPr>
              <a:t>AMD-EZ KPI – Jan–May 2026 (1/3)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AA0A0FB-43D3-EE28-C91D-E46FAD5C84CE}"/>
              </a:ext>
            </a:extLst>
          </p:cNvPr>
          <p:cNvGraphicFramePr>
            <a:graphicFrameLocks noGrp="1"/>
          </p:cNvGraphicFramePr>
          <p:nvPr/>
        </p:nvGraphicFramePr>
        <p:xfrm>
          <a:off x="284310" y="788615"/>
          <a:ext cx="11578108" cy="347455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327260">
                  <a:extLst>
                    <a:ext uri="{9D8B030D-6E8A-4147-A177-3AD203B41FA5}">
                      <a16:colId xmlns:a16="http://schemas.microsoft.com/office/drawing/2014/main" val="1734682953"/>
                    </a:ext>
                  </a:extLst>
                </a:gridCol>
                <a:gridCol w="1452966">
                  <a:extLst>
                    <a:ext uri="{9D8B030D-6E8A-4147-A177-3AD203B41FA5}">
                      <a16:colId xmlns:a16="http://schemas.microsoft.com/office/drawing/2014/main" val="1340370668"/>
                    </a:ext>
                  </a:extLst>
                </a:gridCol>
                <a:gridCol w="1530456">
                  <a:extLst>
                    <a:ext uri="{9D8B030D-6E8A-4147-A177-3AD203B41FA5}">
                      <a16:colId xmlns:a16="http://schemas.microsoft.com/office/drawing/2014/main" val="3195347621"/>
                    </a:ext>
                  </a:extLst>
                </a:gridCol>
                <a:gridCol w="1821050">
                  <a:extLst>
                    <a:ext uri="{9D8B030D-6E8A-4147-A177-3AD203B41FA5}">
                      <a16:colId xmlns:a16="http://schemas.microsoft.com/office/drawing/2014/main" val="274928465"/>
                    </a:ext>
                  </a:extLst>
                </a:gridCol>
                <a:gridCol w="1801677">
                  <a:extLst>
                    <a:ext uri="{9D8B030D-6E8A-4147-A177-3AD203B41FA5}">
                      <a16:colId xmlns:a16="http://schemas.microsoft.com/office/drawing/2014/main" val="87360769"/>
                    </a:ext>
                  </a:extLst>
                </a:gridCol>
                <a:gridCol w="1259226">
                  <a:extLst>
                    <a:ext uri="{9D8B030D-6E8A-4147-A177-3AD203B41FA5}">
                      <a16:colId xmlns:a16="http://schemas.microsoft.com/office/drawing/2014/main" val="2588546732"/>
                    </a:ext>
                  </a:extLst>
                </a:gridCol>
                <a:gridCol w="1073462">
                  <a:extLst>
                    <a:ext uri="{9D8B030D-6E8A-4147-A177-3AD203B41FA5}">
                      <a16:colId xmlns:a16="http://schemas.microsoft.com/office/drawing/2014/main" val="4106390431"/>
                    </a:ext>
                  </a:extLst>
                </a:gridCol>
                <a:gridCol w="1312011">
                  <a:extLst>
                    <a:ext uri="{9D8B030D-6E8A-4147-A177-3AD203B41FA5}">
                      <a16:colId xmlns:a16="http://schemas.microsoft.com/office/drawing/2014/main" val="3650363018"/>
                    </a:ext>
                  </a:extLst>
                </a:gridCol>
              </a:tblGrid>
              <a:tr h="512524"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 b="1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Month</a:t>
                      </a:r>
                      <a:endParaRPr lang="en-GB" sz="1600">
                        <a:solidFill>
                          <a:schemeClr val="tx1"/>
                        </a:solidFill>
                        <a:effectLst/>
                        <a:latin typeface="Aptos Display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 b="1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PM</a:t>
                      </a:r>
                      <a:endParaRPr lang="en-US"/>
                    </a:p>
                    <a:p>
                      <a:pPr marL="0" lvl="0" indent="0" algn="ctr">
                        <a:buNone/>
                      </a:pPr>
                      <a:r>
                        <a:rPr lang="en-GB" sz="1600" b="1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Compliance</a:t>
                      </a:r>
                      <a:endParaRPr lang="en-GB"/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 b="1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Budget</a:t>
                      </a:r>
                      <a:endParaRPr lang="en-US"/>
                    </a:p>
                    <a:p>
                      <a:pPr marL="0" lvl="0" indent="0" algn="ctr">
                        <a:buNone/>
                      </a:pPr>
                      <a:r>
                        <a:rPr lang="en-GB" sz="1600" b="1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Spend</a:t>
                      </a:r>
                      <a:endParaRPr lang="en-GB"/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 b="1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PM:CM Ratio</a:t>
                      </a:r>
                      <a:endParaRPr lang="en-US"/>
                    </a:p>
                    <a:p>
                      <a:pPr marL="0" lvl="0" indent="0" algn="ctr">
                        <a:buNone/>
                      </a:pPr>
                      <a:r>
                        <a:rPr lang="en-GB" sz="1600" b="1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(# of WO's)</a:t>
                      </a:r>
                      <a:endParaRPr lang="en-GB"/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 b="1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PM:CM Ratio </a:t>
                      </a:r>
                      <a:endParaRPr lang="en-GB" sz="1600">
                        <a:solidFill>
                          <a:schemeClr val="tx1"/>
                        </a:solidFill>
                        <a:effectLst/>
                        <a:latin typeface="Aptos Display"/>
                      </a:endParaRPr>
                    </a:p>
                    <a:p>
                      <a:pPr marL="0" lvl="0" indent="0" algn="ctr">
                        <a:buNone/>
                      </a:pPr>
                      <a:r>
                        <a:rPr lang="en-GB" sz="1600" b="1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(Cost)</a:t>
                      </a:r>
                      <a:endParaRPr lang="en-GB" sz="1600">
                        <a:solidFill>
                          <a:schemeClr val="tx1"/>
                        </a:solidFill>
                        <a:effectLst/>
                        <a:latin typeface="Aptos Display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 b="1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MTTR</a:t>
                      </a:r>
                      <a:endParaRPr lang="en-GB" sz="1600">
                        <a:solidFill>
                          <a:schemeClr val="tx1"/>
                        </a:solidFill>
                        <a:effectLst/>
                        <a:latin typeface="Aptos Display"/>
                      </a:endParaRPr>
                    </a:p>
                    <a:p>
                      <a:pPr marL="0" lvl="0" indent="0" algn="ctr">
                        <a:buNone/>
                      </a:pPr>
                      <a:r>
                        <a:rPr lang="en-GB" sz="1600" b="1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(days)</a:t>
                      </a:r>
                      <a:endParaRPr lang="en-GB" sz="1600">
                        <a:solidFill>
                          <a:schemeClr val="tx1"/>
                        </a:solidFill>
                        <a:effectLst/>
                        <a:latin typeface="Aptos Display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 b="1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Facility Uptime</a:t>
                      </a:r>
                      <a:endParaRPr lang="en-GB" sz="1600">
                        <a:solidFill>
                          <a:schemeClr val="tx1"/>
                        </a:solidFill>
                        <a:effectLst/>
                        <a:latin typeface="Aptos Display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buNone/>
                      </a:pPr>
                      <a:r>
                        <a:rPr lang="en-GB" sz="1600" b="1" kern="1200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>Notifications</a:t>
                      </a:r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4787731"/>
                  </a:ext>
                </a:extLst>
              </a:tr>
              <a:tr h="335791"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 b="1">
                          <a:solidFill>
                            <a:srgbClr val="0C0C0C"/>
                          </a:solidFill>
                          <a:effectLst/>
                          <a:latin typeface="Aptos Display"/>
                        </a:rPr>
                        <a:t>Jan</a:t>
                      </a:r>
                      <a:endParaRPr lang="en-GB" sz="1600">
                        <a:solidFill>
                          <a:srgbClr val="000000"/>
                        </a:solidFill>
                        <a:effectLst/>
                        <a:latin typeface="Aptos Display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92.00%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95.00%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81.00% (4.3:1)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56.00% (1.3:1)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1.80 days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99.93%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buNone/>
                      </a:pPr>
                      <a:r>
                        <a:rPr lang="en-GB" sz="1600" kern="1200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>No Data</a:t>
                      </a:r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5660358"/>
                  </a:ext>
                </a:extLst>
              </a:tr>
              <a:tr h="335791"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 b="1">
                          <a:solidFill>
                            <a:srgbClr val="0C0C0C"/>
                          </a:solidFill>
                          <a:effectLst/>
                          <a:latin typeface="Aptos Display"/>
                        </a:rPr>
                        <a:t>Feb</a:t>
                      </a:r>
                      <a:endParaRPr lang="en-GB" sz="1600">
                        <a:solidFill>
                          <a:srgbClr val="000000"/>
                        </a:solidFill>
                        <a:effectLst/>
                        <a:latin typeface="Aptos Display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93.00%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96.00%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82.00% (4.6:1)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57.00% (1.3:1)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2.20 days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99.96%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buNone/>
                      </a:pPr>
                      <a:r>
                        <a:rPr lang="en-GB" sz="1600" kern="1200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>No Data</a:t>
                      </a:r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7243782"/>
                  </a:ext>
                </a:extLst>
              </a:tr>
              <a:tr h="406484"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 b="1">
                          <a:solidFill>
                            <a:srgbClr val="0C0C0C"/>
                          </a:solidFill>
                          <a:effectLst/>
                          <a:latin typeface="Aptos Display"/>
                        </a:rPr>
                        <a:t>Mar</a:t>
                      </a:r>
                      <a:endParaRPr lang="en-GB" sz="1600">
                        <a:solidFill>
                          <a:srgbClr val="000000"/>
                        </a:solidFill>
                        <a:effectLst/>
                        <a:latin typeface="Aptos Display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94.00%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97.00%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83.00% (4.9:1)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58.00% (1.4:1)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2.50 days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99.90%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buNone/>
                      </a:pPr>
                      <a:r>
                        <a:rPr lang="en-GB" sz="1600" kern="1200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>No Data</a:t>
                      </a:r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6528731"/>
                  </a:ext>
                </a:extLst>
              </a:tr>
              <a:tr h="335791"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 b="1">
                          <a:solidFill>
                            <a:srgbClr val="0C0C0C"/>
                          </a:solidFill>
                          <a:effectLst/>
                          <a:latin typeface="Aptos Display"/>
                        </a:rPr>
                        <a:t>Apr</a:t>
                      </a:r>
                      <a:endParaRPr lang="en-GB" sz="1600">
                        <a:solidFill>
                          <a:srgbClr val="000000"/>
                        </a:solidFill>
                        <a:effectLst/>
                        <a:latin typeface="Aptos Display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95.00%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98.00%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84.00% (5.3:1)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59.00% (1.4:1)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2.80 days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100.00%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buNone/>
                      </a:pPr>
                      <a:r>
                        <a:rPr lang="en-GB" sz="1600" kern="1200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>No Data</a:t>
                      </a:r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4020321"/>
                  </a:ext>
                </a:extLst>
              </a:tr>
              <a:tr h="335791"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 b="1">
                          <a:solidFill>
                            <a:srgbClr val="0C0C0C"/>
                          </a:solidFill>
                          <a:effectLst/>
                          <a:latin typeface="Aptos Display"/>
                        </a:rPr>
                        <a:t>May</a:t>
                      </a:r>
                      <a:endParaRPr lang="en-GB" sz="1600">
                        <a:solidFill>
                          <a:srgbClr val="000000"/>
                        </a:solidFill>
                        <a:effectLst/>
                        <a:latin typeface="Aptos Display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96.00%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99.00%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85.00% (5.7:1)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60.00% (1.5:1)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3.20 days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99.96%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buNone/>
                      </a:pPr>
                      <a:r>
                        <a:rPr lang="en-GB" sz="1600" kern="1200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>No Data</a:t>
                      </a:r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8110779"/>
                  </a:ext>
                </a:extLst>
              </a:tr>
              <a:tr h="441830"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GB" sz="1600" b="1" kern="1200">
                          <a:solidFill>
                            <a:srgbClr val="0C0C0C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>YTD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GB" sz="1600" b="0" i="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94.50%</a:t>
                      </a:r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GB" sz="1600" b="0" i="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100.50%</a:t>
                      </a:r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GB" sz="1600" b="0" i="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86.50% (6.4:1)</a:t>
                      </a:r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GB" sz="1600" b="0" i="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61.50% (1.6:1)</a:t>
                      </a:r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GB" sz="1600" b="0" i="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3.67 days</a:t>
                      </a:r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GB" sz="1600" b="0" i="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99.95%</a:t>
                      </a:r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ctr" rtl="0">
                        <a:buNone/>
                      </a:pPr>
                      <a:r>
                        <a:rPr lang="en-GB" sz="1600" b="0" i="0" kern="1200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>No Data</a:t>
                      </a:r>
                      <a:endParaRPr lang="en-US"/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4250208"/>
                  </a:ext>
                </a:extLst>
              </a:tr>
              <a:tr h="441830"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GB" sz="1600" b="1" kern="1200">
                          <a:solidFill>
                            <a:srgbClr val="0C0C0C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>BASELINE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kern="1200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>No Data</a:t>
                      </a:r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 b="0" i="0" kern="1200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>No Data</a:t>
                      </a:r>
                      <a:endParaRPr lang="en-GB" sz="1600" b="0" i="0" kern="1200">
                        <a:solidFill>
                          <a:schemeClr val="tx1"/>
                        </a:solidFill>
                        <a:effectLst/>
                        <a:latin typeface="Aptos Display"/>
                        <a:ea typeface="+mn-ea"/>
                        <a:cs typeface="+mn-cs"/>
                      </a:endParaRPr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kern="1200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>No Data</a:t>
                      </a:r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kern="1200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>No Data</a:t>
                      </a:r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GB" sz="1600" b="0" i="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No Data</a:t>
                      </a:r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GB" sz="1600" b="0" i="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No Data</a:t>
                      </a:r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600" b="0" i="0" kern="1200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>No Data</a:t>
                      </a:r>
                      <a:endParaRPr lang="en-US"/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5802209"/>
                  </a:ext>
                </a:extLst>
              </a:tr>
              <a:tr h="247425"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TARGET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 Display"/>
                          <a:ea typeface="+mn-ea"/>
                          <a:cs typeface="+mn-cs"/>
                        </a:rPr>
                        <a:t>95.00%</a:t>
                      </a:r>
                      <a:endParaRPr kumimoji="0" lang="en-GB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ptos Display"/>
                        <a:ea typeface="+mn-ea"/>
                        <a:cs typeface="+mn-cs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 Display"/>
                          <a:ea typeface="+mn-ea"/>
                          <a:cs typeface="+mn-cs"/>
                        </a:rPr>
                        <a:t>95%–105%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 Display"/>
                          <a:ea typeface="+mn-ea"/>
                          <a:cs typeface="+mn-cs"/>
                        </a:rPr>
                        <a:t>≥86% (6:1)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 Display"/>
                          <a:ea typeface="+mn-ea"/>
                          <a:cs typeface="+mn-cs"/>
                        </a:rPr>
                        <a:t>≥60% (1.5:1)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 Display"/>
                          <a:ea typeface="+mn-ea"/>
                          <a:cs typeface="+mn-cs"/>
                        </a:rPr>
                        <a:t>DOWNWARD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 Display"/>
                          <a:ea typeface="+mn-ea"/>
                          <a:cs typeface="+mn-cs"/>
                        </a:rPr>
                        <a:t>=100%</a:t>
                      </a: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 Display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 Display"/>
                          <a:ea typeface="+mn-ea"/>
                          <a:cs typeface="+mn-cs"/>
                        </a:rPr>
                        <a:t>No Data</a:t>
                      </a:r>
                      <a:endParaRPr kumimoji="0" lang="en-US"/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925866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FC1E0100-9773-CFF7-1FD4-AE6753318FC1}"/>
              </a:ext>
            </a:extLst>
          </p:cNvPr>
          <p:cNvSpPr txBox="1"/>
          <p:nvPr/>
        </p:nvSpPr>
        <p:spPr>
          <a:xfrm>
            <a:off x="283243" y="4178240"/>
            <a:ext cx="11555932" cy="181588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endParaRPr lang="en-GB" sz="1600"/>
          </a:p>
          <a:p>
            <a:pPr marL="285750" lvl="1" indent="-285750">
              <a:buFont typeface="Arial"/>
              <a:buChar char="•"/>
            </a:pPr>
            <a:r>
              <a:rPr lang="en-GB" sz="1600"/>
              <a:t>0 of 1 business units are meeting PM compliance target.</a:t>
            </a:r>
            <a:endParaRPr lang="en-US" sz="1600"/>
          </a:p>
          <a:p>
            <a:pPr marL="285750" lvl="1" indent="-285750">
              <a:buFont typeface="Arial"/>
              <a:buChar char="•"/>
            </a:pPr>
            <a:r>
              <a:rPr lang="en-GB" sz="1600"/>
              <a:t>1 of 1 business units are meeting facility uptime target.</a:t>
            </a:r>
            <a:endParaRPr lang="en-GB"/>
          </a:p>
          <a:p>
            <a:pPr marL="285750" indent="-285750">
              <a:buFont typeface="Arial,Sans-Serif"/>
              <a:buChar char="•"/>
            </a:pPr>
            <a:r>
              <a:rPr lang="en-GB" sz="1600"/>
              <a:t>AMD-EZ December 2026 acceptance fixture commentary.</a:t>
            </a:r>
            <a:endParaRPr lang="en-GB"/>
          </a:p>
          <a:p>
            <a:pPr marL="285750" indent="-285750">
              <a:buFont typeface="Arial"/>
              <a:buChar char="•"/>
            </a:pPr>
            <a:r>
              <a:rPr lang="en-US" sz="1600"/>
              <a:t>No additional KPI highlights were recorded for this period.</a:t>
            </a:r>
          </a:p>
          <a:p>
            <a:pPr marL="285750" indent="-285750">
              <a:buFont typeface="Arial"/>
              <a:buChar char="•"/>
            </a:pPr>
            <a:r>
              <a:rPr lang="en-GB" sz="1600"/>
              <a:t>No additional major wins were recorded for this period.</a:t>
            </a:r>
            <a:r>
              <a:rPr lang="en-GB" sz="1600" err="1"/>
              <a:t/>
            </a:r>
            <a:r>
              <a:rPr lang="en-GB" sz="1600"/>
              <a:t/>
            </a:r>
            <a:endParaRPr lang="en-US" sz="160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49168F3-27F3-744B-1540-62EA368203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6233815"/>
            <a:ext cx="7772400" cy="333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0733197"/>
      </p:ext>
    </p:extLst>
  </p:cSld>
  <p:clrMapOvr>
    <a:masterClrMapping/>
  </p:clrMapOvr>
  <p:extLst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DA75D3-3BD3-4147-D81F-14DDEF5F2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9BED444-522A-AD3D-63BA-532E2EE00D8C}"/>
              </a:ext>
            </a:extLst>
          </p:cNvPr>
          <p:cNvSpPr txBox="1"/>
          <p:nvPr/>
        </p:nvSpPr>
        <p:spPr>
          <a:xfrm>
            <a:off x="0" y="86315"/>
            <a:ext cx="6096000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n-US" sz="2800" b="1">
                <a:solidFill>
                  <a:srgbClr val="0070C0"/>
                </a:solidFill>
                <a:latin typeface="Calibri" panose="020F0502020204030204"/>
                <a:ea typeface="MS PGothic"/>
                <a:cs typeface="Arial"/>
              </a:rPr>
              <a:t>AMD-EZ KPI – Jun–Oct 2026 (2/3)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AA0A0FB-43D3-EE28-C91D-E46FAD5C84CE}"/>
              </a:ext>
            </a:extLst>
          </p:cNvPr>
          <p:cNvGraphicFramePr>
            <a:graphicFrameLocks noGrp="1"/>
          </p:cNvGraphicFramePr>
          <p:nvPr/>
        </p:nvGraphicFramePr>
        <p:xfrm>
          <a:off x="284310" y="788615"/>
          <a:ext cx="11578108" cy="347455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327260">
                  <a:extLst>
                    <a:ext uri="{9D8B030D-6E8A-4147-A177-3AD203B41FA5}">
                      <a16:colId xmlns:a16="http://schemas.microsoft.com/office/drawing/2014/main" val="1734682953"/>
                    </a:ext>
                  </a:extLst>
                </a:gridCol>
                <a:gridCol w="1452966">
                  <a:extLst>
                    <a:ext uri="{9D8B030D-6E8A-4147-A177-3AD203B41FA5}">
                      <a16:colId xmlns:a16="http://schemas.microsoft.com/office/drawing/2014/main" val="1340370668"/>
                    </a:ext>
                  </a:extLst>
                </a:gridCol>
                <a:gridCol w="1530456">
                  <a:extLst>
                    <a:ext uri="{9D8B030D-6E8A-4147-A177-3AD203B41FA5}">
                      <a16:colId xmlns:a16="http://schemas.microsoft.com/office/drawing/2014/main" val="3195347621"/>
                    </a:ext>
                  </a:extLst>
                </a:gridCol>
                <a:gridCol w="1821050">
                  <a:extLst>
                    <a:ext uri="{9D8B030D-6E8A-4147-A177-3AD203B41FA5}">
                      <a16:colId xmlns:a16="http://schemas.microsoft.com/office/drawing/2014/main" val="274928465"/>
                    </a:ext>
                  </a:extLst>
                </a:gridCol>
                <a:gridCol w="1801677">
                  <a:extLst>
                    <a:ext uri="{9D8B030D-6E8A-4147-A177-3AD203B41FA5}">
                      <a16:colId xmlns:a16="http://schemas.microsoft.com/office/drawing/2014/main" val="87360769"/>
                    </a:ext>
                  </a:extLst>
                </a:gridCol>
                <a:gridCol w="1259226">
                  <a:extLst>
                    <a:ext uri="{9D8B030D-6E8A-4147-A177-3AD203B41FA5}">
                      <a16:colId xmlns:a16="http://schemas.microsoft.com/office/drawing/2014/main" val="2588546732"/>
                    </a:ext>
                  </a:extLst>
                </a:gridCol>
                <a:gridCol w="1073462">
                  <a:extLst>
                    <a:ext uri="{9D8B030D-6E8A-4147-A177-3AD203B41FA5}">
                      <a16:colId xmlns:a16="http://schemas.microsoft.com/office/drawing/2014/main" val="4106390431"/>
                    </a:ext>
                  </a:extLst>
                </a:gridCol>
                <a:gridCol w="1312011">
                  <a:extLst>
                    <a:ext uri="{9D8B030D-6E8A-4147-A177-3AD203B41FA5}">
                      <a16:colId xmlns:a16="http://schemas.microsoft.com/office/drawing/2014/main" val="3650363018"/>
                    </a:ext>
                  </a:extLst>
                </a:gridCol>
              </a:tblGrid>
              <a:tr h="512524"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 b="1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Month</a:t>
                      </a:r>
                      <a:endParaRPr lang="en-GB" sz="1600">
                        <a:solidFill>
                          <a:schemeClr val="tx1"/>
                        </a:solidFill>
                        <a:effectLst/>
                        <a:latin typeface="Aptos Display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 b="1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PM</a:t>
                      </a:r>
                      <a:endParaRPr lang="en-US"/>
                    </a:p>
                    <a:p>
                      <a:pPr marL="0" lvl="0" indent="0" algn="ctr">
                        <a:buNone/>
                      </a:pPr>
                      <a:r>
                        <a:rPr lang="en-GB" sz="1600" b="1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Compliance</a:t>
                      </a:r>
                      <a:endParaRPr lang="en-GB"/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 b="1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Budget</a:t>
                      </a:r>
                      <a:endParaRPr lang="en-US"/>
                    </a:p>
                    <a:p>
                      <a:pPr marL="0" lvl="0" indent="0" algn="ctr">
                        <a:buNone/>
                      </a:pPr>
                      <a:r>
                        <a:rPr lang="en-GB" sz="1600" b="1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Spend</a:t>
                      </a:r>
                      <a:endParaRPr lang="en-GB"/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 b="1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PM:CM Ratio</a:t>
                      </a:r>
                      <a:endParaRPr lang="en-US"/>
                    </a:p>
                    <a:p>
                      <a:pPr marL="0" lvl="0" indent="0" algn="ctr">
                        <a:buNone/>
                      </a:pPr>
                      <a:r>
                        <a:rPr lang="en-GB" sz="1600" b="1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(# of WO's)</a:t>
                      </a:r>
                      <a:endParaRPr lang="en-GB"/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 b="1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PM:CM Ratio </a:t>
                      </a:r>
                      <a:endParaRPr lang="en-GB" sz="1600">
                        <a:solidFill>
                          <a:schemeClr val="tx1"/>
                        </a:solidFill>
                        <a:effectLst/>
                        <a:latin typeface="Aptos Display"/>
                      </a:endParaRPr>
                    </a:p>
                    <a:p>
                      <a:pPr marL="0" lvl="0" indent="0" algn="ctr">
                        <a:buNone/>
                      </a:pPr>
                      <a:r>
                        <a:rPr lang="en-GB" sz="1600" b="1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(Cost)</a:t>
                      </a:r>
                      <a:endParaRPr lang="en-GB" sz="1600">
                        <a:solidFill>
                          <a:schemeClr val="tx1"/>
                        </a:solidFill>
                        <a:effectLst/>
                        <a:latin typeface="Aptos Display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 b="1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MTTR</a:t>
                      </a:r>
                      <a:endParaRPr lang="en-GB" sz="1600">
                        <a:solidFill>
                          <a:schemeClr val="tx1"/>
                        </a:solidFill>
                        <a:effectLst/>
                        <a:latin typeface="Aptos Display"/>
                      </a:endParaRPr>
                    </a:p>
                    <a:p>
                      <a:pPr marL="0" lvl="0" indent="0" algn="ctr">
                        <a:buNone/>
                      </a:pPr>
                      <a:r>
                        <a:rPr lang="en-GB" sz="1600" b="1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(days)</a:t>
                      </a:r>
                      <a:endParaRPr lang="en-GB" sz="1600">
                        <a:solidFill>
                          <a:schemeClr val="tx1"/>
                        </a:solidFill>
                        <a:effectLst/>
                        <a:latin typeface="Aptos Display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 b="1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Facility Uptime</a:t>
                      </a:r>
                      <a:endParaRPr lang="en-GB" sz="1600">
                        <a:solidFill>
                          <a:schemeClr val="tx1"/>
                        </a:solidFill>
                        <a:effectLst/>
                        <a:latin typeface="Aptos Display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buNone/>
                      </a:pPr>
                      <a:r>
                        <a:rPr lang="en-GB" sz="1600" b="1" kern="1200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>Notifications</a:t>
                      </a:r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4787731"/>
                  </a:ext>
                </a:extLst>
              </a:tr>
              <a:tr h="335791"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 b="1">
                          <a:solidFill>
                            <a:srgbClr val="0C0C0C"/>
                          </a:solidFill>
                          <a:effectLst/>
                          <a:latin typeface="Aptos Display"/>
                        </a:rPr>
                        <a:t>Jun</a:t>
                      </a:r>
                      <a:endParaRPr lang="en-GB" sz="1600">
                        <a:solidFill>
                          <a:srgbClr val="000000"/>
                        </a:solidFill>
                        <a:effectLst/>
                        <a:latin typeface="Aptos Display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97.00%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100.00%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86.00% (6.1:1)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61.00% (1.6:1)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3.50 days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99.90%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buNone/>
                      </a:pPr>
                      <a:r>
                        <a:rPr lang="en-GB" sz="1600" kern="1200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>No Data</a:t>
                      </a:r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5660358"/>
                  </a:ext>
                </a:extLst>
              </a:tr>
              <a:tr h="335791"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 b="1">
                          <a:solidFill>
                            <a:srgbClr val="0C0C0C"/>
                          </a:solidFill>
                          <a:effectLst/>
                          <a:latin typeface="Aptos Display"/>
                        </a:rPr>
                        <a:t>Jul</a:t>
                      </a:r>
                      <a:endParaRPr lang="en-GB" sz="1600">
                        <a:solidFill>
                          <a:srgbClr val="000000"/>
                        </a:solidFill>
                        <a:effectLst/>
                        <a:latin typeface="Aptos Display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98.00%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101.00%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87.00% (6.7:1)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62.00% (1.6:1)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3.80 days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99.93%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buNone/>
                      </a:pPr>
                      <a:r>
                        <a:rPr lang="en-GB" sz="1600" kern="1200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>No Data</a:t>
                      </a:r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7243782"/>
                  </a:ext>
                </a:extLst>
              </a:tr>
              <a:tr h="406484"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 b="1">
                          <a:solidFill>
                            <a:srgbClr val="0C0C0C"/>
                          </a:solidFill>
                          <a:effectLst/>
                          <a:latin typeface="Aptos Display"/>
                        </a:rPr>
                        <a:t>Aug</a:t>
                      </a:r>
                      <a:endParaRPr lang="en-GB" sz="1600">
                        <a:solidFill>
                          <a:srgbClr val="000000"/>
                        </a:solidFill>
                        <a:effectLst/>
                        <a:latin typeface="Aptos Display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99.00%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102.00%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88.00% (7.3:1)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63.00% (1.7:1)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4.20 days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100.00%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buNone/>
                      </a:pPr>
                      <a:r>
                        <a:rPr lang="en-GB" sz="1600" kern="1200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>No Data</a:t>
                      </a:r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6528731"/>
                  </a:ext>
                </a:extLst>
              </a:tr>
              <a:tr h="335791"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 b="1">
                          <a:solidFill>
                            <a:srgbClr val="0C0C0C"/>
                          </a:solidFill>
                          <a:effectLst/>
                          <a:latin typeface="Aptos Display"/>
                        </a:rPr>
                        <a:t>Sep</a:t>
                      </a:r>
                      <a:endParaRPr lang="en-GB" sz="1600">
                        <a:solidFill>
                          <a:srgbClr val="000000"/>
                        </a:solidFill>
                        <a:effectLst/>
                        <a:latin typeface="Aptos Display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91.00%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103.00%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89.00% (8.1:1)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64.00% (1.8:1)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4.50 days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99.90%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buNone/>
                      </a:pPr>
                      <a:r>
                        <a:rPr lang="en-GB" sz="1600" kern="1200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>No Data</a:t>
                      </a:r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4020321"/>
                  </a:ext>
                </a:extLst>
              </a:tr>
              <a:tr h="335791"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 b="1">
                          <a:solidFill>
                            <a:srgbClr val="0C0C0C"/>
                          </a:solidFill>
                          <a:effectLst/>
                          <a:latin typeface="Aptos Display"/>
                        </a:rPr>
                        <a:t>Oct</a:t>
                      </a:r>
                      <a:endParaRPr lang="en-GB" sz="1600">
                        <a:solidFill>
                          <a:srgbClr val="000000"/>
                        </a:solidFill>
                        <a:effectLst/>
                        <a:latin typeface="Aptos Display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92.00%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104.00%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90.00% (9.0:1)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65.00% (1.9:1)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4.80 days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99.93%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buNone/>
                      </a:pPr>
                      <a:r>
                        <a:rPr lang="en-GB" sz="1600" kern="1200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>No Data</a:t>
                      </a:r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8110779"/>
                  </a:ext>
                </a:extLst>
              </a:tr>
              <a:tr h="441830"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GB" sz="1600" b="1" kern="1200">
                          <a:solidFill>
                            <a:srgbClr val="0C0C0C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>YTD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GB" sz="1600" b="0" i="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94.50%</a:t>
                      </a:r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GB" sz="1600" b="0" i="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100.50%</a:t>
                      </a:r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GB" sz="1600" b="0" i="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86.50% (6.4:1)</a:t>
                      </a:r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GB" sz="1600" b="0" i="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61.50% (1.6:1)</a:t>
                      </a:r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GB" sz="1600" b="0" i="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3.67 days</a:t>
                      </a:r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GB" sz="1600" b="0" i="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99.95%</a:t>
                      </a:r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ctr" rtl="0">
                        <a:buNone/>
                      </a:pPr>
                      <a:r>
                        <a:rPr lang="en-GB" sz="1600" b="0" i="0" kern="1200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>No Data</a:t>
                      </a:r>
                      <a:endParaRPr lang="en-US"/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4250208"/>
                  </a:ext>
                </a:extLst>
              </a:tr>
              <a:tr h="441830"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GB" sz="1600" b="1" kern="1200">
                          <a:solidFill>
                            <a:srgbClr val="0C0C0C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>BASELINE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kern="1200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>No Data</a:t>
                      </a:r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 b="0" i="0" kern="1200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>No Data</a:t>
                      </a:r>
                      <a:endParaRPr lang="en-GB" sz="1600" b="0" i="0" kern="1200">
                        <a:solidFill>
                          <a:schemeClr val="tx1"/>
                        </a:solidFill>
                        <a:effectLst/>
                        <a:latin typeface="Aptos Display"/>
                        <a:ea typeface="+mn-ea"/>
                        <a:cs typeface="+mn-cs"/>
                      </a:endParaRPr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kern="1200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>No Data</a:t>
                      </a:r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kern="1200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>No Data</a:t>
                      </a:r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GB" sz="1600" b="0" i="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No Data</a:t>
                      </a:r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GB" sz="1600" b="0" i="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No Data</a:t>
                      </a:r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600" b="0" i="0" kern="1200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>No Data</a:t>
                      </a:r>
                      <a:endParaRPr lang="en-US"/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5802209"/>
                  </a:ext>
                </a:extLst>
              </a:tr>
              <a:tr h="247425"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TARGET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 Display"/>
                          <a:ea typeface="+mn-ea"/>
                          <a:cs typeface="+mn-cs"/>
                        </a:rPr>
                        <a:t>95.00%</a:t>
                      </a:r>
                      <a:endParaRPr kumimoji="0" lang="en-GB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ptos Display"/>
                        <a:ea typeface="+mn-ea"/>
                        <a:cs typeface="+mn-cs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 Display"/>
                          <a:ea typeface="+mn-ea"/>
                          <a:cs typeface="+mn-cs"/>
                        </a:rPr>
                        <a:t>95%–105%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 Display"/>
                          <a:ea typeface="+mn-ea"/>
                          <a:cs typeface="+mn-cs"/>
                        </a:rPr>
                        <a:t>≥86% (6:1)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 Display"/>
                          <a:ea typeface="+mn-ea"/>
                          <a:cs typeface="+mn-cs"/>
                        </a:rPr>
                        <a:t>≥60% (1.5:1)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 Display"/>
                          <a:ea typeface="+mn-ea"/>
                          <a:cs typeface="+mn-cs"/>
                        </a:rPr>
                        <a:t>DOWNWARD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 Display"/>
                          <a:ea typeface="+mn-ea"/>
                          <a:cs typeface="+mn-cs"/>
                        </a:rPr>
                        <a:t>=100%</a:t>
                      </a: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 Display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 Display"/>
                          <a:ea typeface="+mn-ea"/>
                          <a:cs typeface="+mn-cs"/>
                        </a:rPr>
                        <a:t>No Data</a:t>
                      </a:r>
                      <a:endParaRPr kumimoji="0" lang="en-US"/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925866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FC1E0100-9773-CFF7-1FD4-AE6753318FC1}"/>
              </a:ext>
            </a:extLst>
          </p:cNvPr>
          <p:cNvSpPr txBox="1"/>
          <p:nvPr/>
        </p:nvSpPr>
        <p:spPr>
          <a:xfrm>
            <a:off x="283243" y="4178240"/>
            <a:ext cx="11555932" cy="181588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endParaRPr lang="en-GB" sz="1600"/>
          </a:p>
          <a:p>
            <a:pPr marL="285750" lvl="1" indent="-285750">
              <a:buFont typeface="Arial"/>
              <a:buChar char="•"/>
            </a:pPr>
            <a:r>
              <a:rPr lang="en-GB" sz="1600"/>
              <a:t>KPI table continued for Jun–Oct 2026.</a:t>
            </a:r>
            <a:endParaRPr lang="en-US" sz="1600"/>
          </a:p>
          <a:p>
            <a:pPr marL="285750" lvl="1" indent="-285750">
              <a:buFont typeface="Arial"/>
              <a:buChar char="•"/>
            </a:pPr>
            <a:r>
              <a:rPr lang="en-GB" sz="1600"/>
              <a:t>No additional KPI highlights were recorded for this continuation page.</a:t>
            </a:r>
            <a:endParaRPr lang="en-GB"/>
          </a:p>
          <a:p>
            <a:pPr marL="285750" indent="-285750">
              <a:buFont typeface="Arial,Sans-Serif"/>
              <a:buChar char="•"/>
            </a:pPr>
            <a:r>
              <a:rPr lang="en-GB" sz="1600"/>
              <a:t>No additional major wins were recorded for this continuation page.</a:t>
            </a:r>
            <a:endParaRPr lang="en-GB"/>
          </a:p>
          <a:p>
            <a:pPr marL="285750" indent="-285750">
              <a:buFont typeface="Arial"/>
              <a:buChar char="•"/>
            </a:pPr>
            <a:r>
              <a:rPr lang="en-US" sz="1600"/>
              <a:t>No additional major risks were recorded for this continuation page.</a:t>
            </a:r>
          </a:p>
          <a:p>
            <a:pPr marL="285750" indent="-285750">
              <a:buFont typeface="Arial"/>
              <a:buChar char="•"/>
            </a:pPr>
            <a:r>
              <a:rPr lang="en-GB" sz="1600"/>
              <a:t>No additional follow-up actions were recorded for this continuation page.</a:t>
            </a:r>
            <a:r>
              <a:rPr lang="en-GB" sz="1600" err="1"/>
              <a:t/>
            </a:r>
            <a:r>
              <a:rPr lang="en-GB" sz="1600"/>
              <a:t/>
            </a:r>
            <a:endParaRPr lang="en-US" sz="160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49168F3-27F3-744B-1540-62EA368203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6233815"/>
            <a:ext cx="7772400" cy="333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0733197"/>
      </p:ext>
    </p:extLst>
  </p:cSld>
  <p:clrMapOvr>
    <a:masterClrMapping/>
  </p:clrMapOvr>
  <p:extLst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DA75D3-3BD3-4147-D81F-14DDEF5F2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9BED444-522A-AD3D-63BA-532E2EE00D8C}"/>
              </a:ext>
            </a:extLst>
          </p:cNvPr>
          <p:cNvSpPr txBox="1"/>
          <p:nvPr/>
        </p:nvSpPr>
        <p:spPr>
          <a:xfrm>
            <a:off x="0" y="86315"/>
            <a:ext cx="6096000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n-US" sz="2800" b="1">
                <a:solidFill>
                  <a:srgbClr val="0070C0"/>
                </a:solidFill>
                <a:latin typeface="Calibri" panose="020F0502020204030204"/>
                <a:ea typeface="MS PGothic"/>
                <a:cs typeface="Arial"/>
              </a:rPr>
              <a:t>AMD-EZ KPI – Nov–Dec 2026 (3/3)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AA0A0FB-43D3-EE28-C91D-E46FAD5C84CE}"/>
              </a:ext>
            </a:extLst>
          </p:cNvPr>
          <p:cNvGraphicFramePr>
            <a:graphicFrameLocks noGrp="1"/>
          </p:cNvGraphicFramePr>
          <p:nvPr/>
        </p:nvGraphicFramePr>
        <p:xfrm>
          <a:off x="284310" y="788615"/>
          <a:ext cx="11578108" cy="347455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327260">
                  <a:extLst>
                    <a:ext uri="{9D8B030D-6E8A-4147-A177-3AD203B41FA5}">
                      <a16:colId xmlns:a16="http://schemas.microsoft.com/office/drawing/2014/main" val="1734682953"/>
                    </a:ext>
                  </a:extLst>
                </a:gridCol>
                <a:gridCol w="1452966">
                  <a:extLst>
                    <a:ext uri="{9D8B030D-6E8A-4147-A177-3AD203B41FA5}">
                      <a16:colId xmlns:a16="http://schemas.microsoft.com/office/drawing/2014/main" val="1340370668"/>
                    </a:ext>
                  </a:extLst>
                </a:gridCol>
                <a:gridCol w="1530456">
                  <a:extLst>
                    <a:ext uri="{9D8B030D-6E8A-4147-A177-3AD203B41FA5}">
                      <a16:colId xmlns:a16="http://schemas.microsoft.com/office/drawing/2014/main" val="3195347621"/>
                    </a:ext>
                  </a:extLst>
                </a:gridCol>
                <a:gridCol w="1821050">
                  <a:extLst>
                    <a:ext uri="{9D8B030D-6E8A-4147-A177-3AD203B41FA5}">
                      <a16:colId xmlns:a16="http://schemas.microsoft.com/office/drawing/2014/main" val="274928465"/>
                    </a:ext>
                  </a:extLst>
                </a:gridCol>
                <a:gridCol w="1801677">
                  <a:extLst>
                    <a:ext uri="{9D8B030D-6E8A-4147-A177-3AD203B41FA5}">
                      <a16:colId xmlns:a16="http://schemas.microsoft.com/office/drawing/2014/main" val="87360769"/>
                    </a:ext>
                  </a:extLst>
                </a:gridCol>
                <a:gridCol w="1259226">
                  <a:extLst>
                    <a:ext uri="{9D8B030D-6E8A-4147-A177-3AD203B41FA5}">
                      <a16:colId xmlns:a16="http://schemas.microsoft.com/office/drawing/2014/main" val="2588546732"/>
                    </a:ext>
                  </a:extLst>
                </a:gridCol>
                <a:gridCol w="1073462">
                  <a:extLst>
                    <a:ext uri="{9D8B030D-6E8A-4147-A177-3AD203B41FA5}">
                      <a16:colId xmlns:a16="http://schemas.microsoft.com/office/drawing/2014/main" val="4106390431"/>
                    </a:ext>
                  </a:extLst>
                </a:gridCol>
                <a:gridCol w="1312011">
                  <a:extLst>
                    <a:ext uri="{9D8B030D-6E8A-4147-A177-3AD203B41FA5}">
                      <a16:colId xmlns:a16="http://schemas.microsoft.com/office/drawing/2014/main" val="3650363018"/>
                    </a:ext>
                  </a:extLst>
                </a:gridCol>
              </a:tblGrid>
              <a:tr h="512524"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 b="1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Month</a:t>
                      </a:r>
                      <a:endParaRPr lang="en-GB" sz="1600">
                        <a:solidFill>
                          <a:schemeClr val="tx1"/>
                        </a:solidFill>
                        <a:effectLst/>
                        <a:latin typeface="Aptos Display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 b="1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PM</a:t>
                      </a:r>
                      <a:endParaRPr lang="en-US"/>
                    </a:p>
                    <a:p>
                      <a:pPr marL="0" lvl="0" indent="0" algn="ctr">
                        <a:buNone/>
                      </a:pPr>
                      <a:r>
                        <a:rPr lang="en-GB" sz="1600" b="1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Compliance</a:t>
                      </a:r>
                      <a:endParaRPr lang="en-GB"/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 b="1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Budget</a:t>
                      </a:r>
                      <a:endParaRPr lang="en-US"/>
                    </a:p>
                    <a:p>
                      <a:pPr marL="0" lvl="0" indent="0" algn="ctr">
                        <a:buNone/>
                      </a:pPr>
                      <a:r>
                        <a:rPr lang="en-GB" sz="1600" b="1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Spend</a:t>
                      </a:r>
                      <a:endParaRPr lang="en-GB"/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 b="1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PM:CM Ratio</a:t>
                      </a:r>
                      <a:endParaRPr lang="en-US"/>
                    </a:p>
                    <a:p>
                      <a:pPr marL="0" lvl="0" indent="0" algn="ctr">
                        <a:buNone/>
                      </a:pPr>
                      <a:r>
                        <a:rPr lang="en-GB" sz="1600" b="1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(# of WO's)</a:t>
                      </a:r>
                      <a:endParaRPr lang="en-GB"/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 b="1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PM:CM Ratio </a:t>
                      </a:r>
                      <a:endParaRPr lang="en-GB" sz="1600">
                        <a:solidFill>
                          <a:schemeClr val="tx1"/>
                        </a:solidFill>
                        <a:effectLst/>
                        <a:latin typeface="Aptos Display"/>
                      </a:endParaRPr>
                    </a:p>
                    <a:p>
                      <a:pPr marL="0" lvl="0" indent="0" algn="ctr">
                        <a:buNone/>
                      </a:pPr>
                      <a:r>
                        <a:rPr lang="en-GB" sz="1600" b="1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(Cost)</a:t>
                      </a:r>
                      <a:endParaRPr lang="en-GB" sz="1600">
                        <a:solidFill>
                          <a:schemeClr val="tx1"/>
                        </a:solidFill>
                        <a:effectLst/>
                        <a:latin typeface="Aptos Display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 b="1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MTTR</a:t>
                      </a:r>
                      <a:endParaRPr lang="en-GB" sz="1600">
                        <a:solidFill>
                          <a:schemeClr val="tx1"/>
                        </a:solidFill>
                        <a:effectLst/>
                        <a:latin typeface="Aptos Display"/>
                      </a:endParaRPr>
                    </a:p>
                    <a:p>
                      <a:pPr marL="0" lvl="0" indent="0" algn="ctr">
                        <a:buNone/>
                      </a:pPr>
                      <a:r>
                        <a:rPr lang="en-GB" sz="1600" b="1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(days)</a:t>
                      </a:r>
                      <a:endParaRPr lang="en-GB" sz="1600">
                        <a:solidFill>
                          <a:schemeClr val="tx1"/>
                        </a:solidFill>
                        <a:effectLst/>
                        <a:latin typeface="Aptos Display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 b="1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Facility Uptime</a:t>
                      </a:r>
                      <a:endParaRPr lang="en-GB" sz="1600">
                        <a:solidFill>
                          <a:schemeClr val="tx1"/>
                        </a:solidFill>
                        <a:effectLst/>
                        <a:latin typeface="Aptos Display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buNone/>
                      </a:pPr>
                      <a:r>
                        <a:rPr lang="en-GB" sz="1600" b="1" kern="1200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>Notifications</a:t>
                      </a:r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4787731"/>
                  </a:ext>
                </a:extLst>
              </a:tr>
              <a:tr h="335791"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 b="1">
                          <a:solidFill>
                            <a:srgbClr val="0C0C0C"/>
                          </a:solidFill>
                          <a:effectLst/>
                          <a:latin typeface="Aptos Display"/>
                        </a:rPr>
                        <a:t>Nov</a:t>
                      </a:r>
                      <a:endParaRPr lang="en-GB" sz="1600">
                        <a:solidFill>
                          <a:srgbClr val="000000"/>
                        </a:solidFill>
                        <a:effectLst/>
                        <a:latin typeface="Aptos Display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93.00%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105.00%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91.00% (10.1:1)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66.00% (1.9:1)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5.20 days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99.96%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buNone/>
                      </a:pPr>
                      <a:r>
                        <a:rPr lang="en-GB" sz="1600" kern="1200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>No Data</a:t>
                      </a:r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5660358"/>
                  </a:ext>
                </a:extLst>
              </a:tr>
              <a:tr h="335791"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 b="1">
                          <a:solidFill>
                            <a:srgbClr val="0C0C0C"/>
                          </a:solidFill>
                          <a:effectLst/>
                          <a:latin typeface="Aptos Display"/>
                        </a:rPr>
                        <a:t>Dec</a:t>
                      </a:r>
                      <a:endParaRPr lang="en-GB" sz="1600">
                        <a:solidFill>
                          <a:srgbClr val="000000"/>
                        </a:solidFill>
                        <a:effectLst/>
                        <a:latin typeface="Aptos Display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94.00%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106.00%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92.00% (11.5:1)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67.00% (2.0:1)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5.50 days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100.00%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buNone/>
                      </a:pPr>
                      <a:r>
                        <a:rPr lang="en-GB" sz="1600" kern="1200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>No Data</a:t>
                      </a:r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7243782"/>
                  </a:ext>
                </a:extLst>
              </a:tr>
              <a:tr h="406484"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 b="1">
                          <a:solidFill>
                            <a:srgbClr val="0C0C0C"/>
                          </a:solidFill>
                          <a:effectLst/>
                          <a:latin typeface="Aptos Display"/>
                        </a:rPr>
                        <a:t/>
                      </a:r>
                      <a:endParaRPr lang="en-GB" sz="1600">
                        <a:solidFill>
                          <a:srgbClr val="000000"/>
                        </a:solidFill>
                        <a:effectLst/>
                        <a:latin typeface="Aptos Display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buNone/>
                      </a:pPr>
                      <a:r>
                        <a:rPr lang="en-GB" sz="1600" kern="1200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/>
                      </a:r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6528731"/>
                  </a:ext>
                </a:extLst>
              </a:tr>
              <a:tr h="335791"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 b="1">
                          <a:solidFill>
                            <a:srgbClr val="0C0C0C"/>
                          </a:solidFill>
                          <a:effectLst/>
                          <a:latin typeface="Aptos Display"/>
                        </a:rPr>
                        <a:t/>
                      </a:r>
                      <a:endParaRPr lang="en-GB" sz="1600">
                        <a:solidFill>
                          <a:srgbClr val="000000"/>
                        </a:solidFill>
                        <a:effectLst/>
                        <a:latin typeface="Aptos Display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buNone/>
                      </a:pPr>
                      <a:r>
                        <a:rPr lang="en-GB" sz="1600" kern="1200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/>
                      </a:r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4020321"/>
                  </a:ext>
                </a:extLst>
              </a:tr>
              <a:tr h="335791"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 b="1">
                          <a:solidFill>
                            <a:srgbClr val="0C0C0C"/>
                          </a:solidFill>
                          <a:effectLst/>
                          <a:latin typeface="Aptos Display"/>
                        </a:rPr>
                        <a:t/>
                      </a:r>
                      <a:endParaRPr lang="en-GB" sz="1600">
                        <a:solidFill>
                          <a:srgbClr val="000000"/>
                        </a:solidFill>
                        <a:effectLst/>
                        <a:latin typeface="Aptos Display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buNone/>
                      </a:pPr>
                      <a:r>
                        <a:rPr lang="en-GB" sz="1600" kern="1200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/>
                      </a:r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8110779"/>
                  </a:ext>
                </a:extLst>
              </a:tr>
              <a:tr h="441830"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GB" sz="1600" b="1" kern="1200">
                          <a:solidFill>
                            <a:srgbClr val="0C0C0C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>YTD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GB" sz="1600" b="0" i="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94.50%</a:t>
                      </a:r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GB" sz="1600" b="0" i="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100.50%</a:t>
                      </a:r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GB" sz="1600" b="0" i="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86.50% (6.4:1)</a:t>
                      </a:r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GB" sz="1600" b="0" i="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61.50% (1.6:1)</a:t>
                      </a:r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GB" sz="1600" b="0" i="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3.67 days</a:t>
                      </a:r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GB" sz="1600" b="0" i="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99.95%</a:t>
                      </a:r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ctr" rtl="0">
                        <a:buNone/>
                      </a:pPr>
                      <a:r>
                        <a:rPr lang="en-GB" sz="1600" b="0" i="0" kern="1200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>No Data</a:t>
                      </a:r>
                      <a:endParaRPr lang="en-US"/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4250208"/>
                  </a:ext>
                </a:extLst>
              </a:tr>
              <a:tr h="441830"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GB" sz="1600" b="1" kern="1200">
                          <a:solidFill>
                            <a:srgbClr val="0C0C0C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>BASELINE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kern="1200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>No Data</a:t>
                      </a:r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 b="0" i="0" kern="1200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>No Data</a:t>
                      </a:r>
                      <a:endParaRPr lang="en-GB" sz="1600" b="0" i="0" kern="1200">
                        <a:solidFill>
                          <a:schemeClr val="tx1"/>
                        </a:solidFill>
                        <a:effectLst/>
                        <a:latin typeface="Aptos Display"/>
                        <a:ea typeface="+mn-ea"/>
                        <a:cs typeface="+mn-cs"/>
                      </a:endParaRPr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kern="1200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>No Data</a:t>
                      </a:r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kern="1200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>No Data</a:t>
                      </a:r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GB" sz="1600" b="0" i="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No Data</a:t>
                      </a:r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GB" sz="1600" b="0" i="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No Data</a:t>
                      </a:r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600" b="0" i="0" kern="1200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>No Data</a:t>
                      </a:r>
                      <a:endParaRPr lang="en-US"/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5802209"/>
                  </a:ext>
                </a:extLst>
              </a:tr>
              <a:tr h="247425"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TARGET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 Display"/>
                          <a:ea typeface="+mn-ea"/>
                          <a:cs typeface="+mn-cs"/>
                        </a:rPr>
                        <a:t>95.00%</a:t>
                      </a:r>
                      <a:endParaRPr kumimoji="0" lang="en-GB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ptos Display"/>
                        <a:ea typeface="+mn-ea"/>
                        <a:cs typeface="+mn-cs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 Display"/>
                          <a:ea typeface="+mn-ea"/>
                          <a:cs typeface="+mn-cs"/>
                        </a:rPr>
                        <a:t>95%–105%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 Display"/>
                          <a:ea typeface="+mn-ea"/>
                          <a:cs typeface="+mn-cs"/>
                        </a:rPr>
                        <a:t>≥86% (6:1)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 Display"/>
                          <a:ea typeface="+mn-ea"/>
                          <a:cs typeface="+mn-cs"/>
                        </a:rPr>
                        <a:t>≥60% (1.5:1)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 Display"/>
                          <a:ea typeface="+mn-ea"/>
                          <a:cs typeface="+mn-cs"/>
                        </a:rPr>
                        <a:t>DOWNWARD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 Display"/>
                          <a:ea typeface="+mn-ea"/>
                          <a:cs typeface="+mn-cs"/>
                        </a:rPr>
                        <a:t>=100%</a:t>
                      </a: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 Display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 Display"/>
                          <a:ea typeface="+mn-ea"/>
                          <a:cs typeface="+mn-cs"/>
                        </a:rPr>
                        <a:t>No Data</a:t>
                      </a:r>
                      <a:endParaRPr kumimoji="0" lang="en-US"/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925866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FC1E0100-9773-CFF7-1FD4-AE6753318FC1}"/>
              </a:ext>
            </a:extLst>
          </p:cNvPr>
          <p:cNvSpPr txBox="1"/>
          <p:nvPr/>
        </p:nvSpPr>
        <p:spPr>
          <a:xfrm>
            <a:off x="283243" y="4178240"/>
            <a:ext cx="11555932" cy="181588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endParaRPr lang="en-GB" sz="1600"/>
          </a:p>
          <a:p>
            <a:pPr marL="285750" lvl="1" indent="-285750">
              <a:buFont typeface="Arial"/>
              <a:buChar char="•"/>
            </a:pPr>
            <a:r>
              <a:rPr lang="en-GB" sz="1600"/>
              <a:t>KPI table continued for Nov–Dec 2026.</a:t>
            </a:r>
            <a:endParaRPr lang="en-US" sz="1600"/>
          </a:p>
          <a:p>
            <a:pPr marL="285750" lvl="1" indent="-285750">
              <a:buFont typeface="Arial"/>
              <a:buChar char="•"/>
            </a:pPr>
            <a:r>
              <a:rPr lang="en-GB" sz="1600"/>
              <a:t>No additional KPI highlights were recorded for this continuation page.</a:t>
            </a:r>
            <a:endParaRPr lang="en-GB"/>
          </a:p>
          <a:p>
            <a:pPr marL="285750" indent="-285750">
              <a:buFont typeface="Arial,Sans-Serif"/>
              <a:buChar char="•"/>
            </a:pPr>
            <a:r>
              <a:rPr lang="en-GB" sz="1600"/>
              <a:t>No additional major wins were recorded for this continuation page.</a:t>
            </a:r>
            <a:endParaRPr lang="en-GB"/>
          </a:p>
          <a:p>
            <a:pPr marL="285750" indent="-285750">
              <a:buFont typeface="Arial"/>
              <a:buChar char="•"/>
            </a:pPr>
            <a:r>
              <a:rPr lang="en-US" sz="1600"/>
              <a:t>No additional major risks were recorded for this continuation page.</a:t>
            </a:r>
          </a:p>
          <a:p>
            <a:pPr marL="285750" indent="-285750">
              <a:buFont typeface="Arial"/>
              <a:buChar char="•"/>
            </a:pPr>
            <a:r>
              <a:rPr lang="en-GB" sz="1600"/>
              <a:t>No additional follow-up actions were recorded for this continuation page.</a:t>
            </a:r>
            <a:r>
              <a:rPr lang="en-GB" sz="1600" err="1"/>
              <a:t/>
            </a:r>
            <a:r>
              <a:rPr lang="en-GB" sz="1600"/>
              <a:t/>
            </a:r>
            <a:endParaRPr lang="en-US" sz="160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49168F3-27F3-744B-1540-62EA368203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6233815"/>
            <a:ext cx="7772400" cy="333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0733197"/>
      </p:ext>
    </p:extLst>
  </p:cSld>
  <p:clrMapOvr>
    <a:masterClrMapping/>
  </p:clrMapOvr>
  <p:extLst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corecard template" id="{DA736920-3AB9-2C4D-8382-13E1D0162CFB}" vid="{A7DEB196-B8FF-D949-9525-5A339A986F9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478</Words>
  <Application>Microsoft Macintosh PowerPoint</Application>
  <PresentationFormat>Widescreen</PresentationFormat>
  <Paragraphs>146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Aptos</vt:lpstr>
      <vt:lpstr>Aptos Display</vt:lpstr>
      <vt:lpstr>Arial</vt:lpstr>
      <vt:lpstr>Arial,Sans-Serif</vt:lpstr>
      <vt:lpstr>Calibri</vt:lpstr>
      <vt:lpstr>Segoe UI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Gerald Balucan</dc:creator>
  <cp:lastModifiedBy>Gerald Balucan</cp:lastModifiedBy>
  <cp:revision>1</cp:revision>
  <dcterms:created xsi:type="dcterms:W3CDTF">2026-07-14T06:28:58Z</dcterms:created>
  <dcterms:modified xsi:type="dcterms:W3CDTF">2026-07-14T06:29:52Z</dcterms:modified>
</cp:coreProperties>
</file>