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A75D3-3BD3-4147-D81F-14DDEF5F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BED444-522A-AD3D-63BA-532E2EE00D8C}"/>
              </a:ext>
            </a:extLst>
          </p:cNvPr>
          <p:cNvSpPr txBox="1"/>
          <p:nvPr/>
        </p:nvSpPr>
        <p:spPr>
          <a:xfrm>
            <a:off x="0" y="86315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AMD-EZ KPI – May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A0A0FB-43D3-EE28-C91D-E46FAD5C84CE}"/>
              </a:ext>
            </a:extLst>
          </p:cNvPr>
          <p:cNvGraphicFramePr>
            <a:graphicFrameLocks noGrp="1"/>
          </p:cNvGraphicFramePr>
          <p:nvPr/>
        </p:nvGraphicFramePr>
        <p:xfrm>
          <a:off x="284310" y="788615"/>
          <a:ext cx="11578108" cy="34745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7260">
                  <a:extLst>
                    <a:ext uri="{9D8B030D-6E8A-4147-A177-3AD203B41FA5}">
                      <a16:colId xmlns:a16="http://schemas.microsoft.com/office/drawing/2014/main" val="1734682953"/>
                    </a:ext>
                  </a:extLst>
                </a:gridCol>
                <a:gridCol w="1452966">
                  <a:extLst>
                    <a:ext uri="{9D8B030D-6E8A-4147-A177-3AD203B41FA5}">
                      <a16:colId xmlns:a16="http://schemas.microsoft.com/office/drawing/2014/main" val="1340370668"/>
                    </a:ext>
                  </a:extLst>
                </a:gridCol>
                <a:gridCol w="1530456">
                  <a:extLst>
                    <a:ext uri="{9D8B030D-6E8A-4147-A177-3AD203B41FA5}">
                      <a16:colId xmlns:a16="http://schemas.microsoft.com/office/drawing/2014/main" val="3195347621"/>
                    </a:ext>
                  </a:extLst>
                </a:gridCol>
                <a:gridCol w="1821050">
                  <a:extLst>
                    <a:ext uri="{9D8B030D-6E8A-4147-A177-3AD203B41FA5}">
                      <a16:colId xmlns:a16="http://schemas.microsoft.com/office/drawing/2014/main" val="274928465"/>
                    </a:ext>
                  </a:extLst>
                </a:gridCol>
                <a:gridCol w="1801677">
                  <a:extLst>
                    <a:ext uri="{9D8B030D-6E8A-4147-A177-3AD203B41FA5}">
                      <a16:colId xmlns:a16="http://schemas.microsoft.com/office/drawing/2014/main" val="87360769"/>
                    </a:ext>
                  </a:extLst>
                </a:gridCol>
                <a:gridCol w="1259226">
                  <a:extLst>
                    <a:ext uri="{9D8B030D-6E8A-4147-A177-3AD203B41FA5}">
                      <a16:colId xmlns:a16="http://schemas.microsoft.com/office/drawing/2014/main" val="2588546732"/>
                    </a:ext>
                  </a:extLst>
                </a:gridCol>
                <a:gridCol w="1073462">
                  <a:extLst>
                    <a:ext uri="{9D8B030D-6E8A-4147-A177-3AD203B41FA5}">
                      <a16:colId xmlns:a16="http://schemas.microsoft.com/office/drawing/2014/main" val="4106390431"/>
                    </a:ext>
                  </a:extLst>
                </a:gridCol>
                <a:gridCol w="1312011">
                  <a:extLst>
                    <a:ext uri="{9D8B030D-6E8A-4147-A177-3AD203B41FA5}">
                      <a16:colId xmlns:a16="http://schemas.microsoft.com/office/drawing/2014/main" val="3650363018"/>
                    </a:ext>
                  </a:extLst>
                </a:gridCol>
              </a:tblGrid>
              <a:tr h="51252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Month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Compliance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Budget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Spend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</a:t>
                      </a:r>
                      <a:endParaRPr lang="en-US"/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(# of WO's)</a:t>
                      </a:r>
                      <a:endParaRPr lang="en-GB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PM:CM Ratio 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(Cost)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MTTR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(days)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Facility Uptime</a:t>
                      </a:r>
                      <a:endParaRPr lang="en-GB" sz="1600">
                        <a:solidFill>
                          <a:schemeClr val="tx1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b="1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Notifications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787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Jan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92.00%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81.00% (4.3:1)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56.00%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99.93%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660358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Feb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93.00%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82.00% (4.6:1)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57.00% (1.3:1)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243782"/>
                  </a:ext>
                </a:extLst>
              </a:tr>
              <a:tr h="406484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52873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Apr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95.00%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98.00%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84.00% (5.3:1)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59.00% (1.4:1)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2.80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100.00%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20321"/>
                  </a:ext>
                </a:extLst>
              </a:tr>
              <a:tr h="335791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 b="1">
                          <a:solidFill>
                            <a:srgbClr val="0C0C0C"/>
                          </a:solidFill>
                          <a:effectLst/>
                          <a:latin typeface="Aptos Display"/>
                        </a:rPr>
                        <a:t>May</a:t>
                      </a:r>
                      <a:endParaRPr lang="en-GB" sz="1600">
                        <a:solidFill>
                          <a:srgbClr val="000000"/>
                        </a:solidFill>
                        <a:effectLst/>
                        <a:latin typeface="Aptos Display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96.00%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85.00% (5.7:1)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60.00%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3.20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99.96%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buNone/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0779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YTD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94.00%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97.00%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83.00% (4.9:1)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58.00% (1.4:1)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2.50 days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99.95%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rtl="0">
                        <a:buNone/>
                      </a:pPr>
                      <a:r>
                        <a:rPr lang="en-GB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50208"/>
                  </a:ext>
                </a:extLst>
              </a:tr>
              <a:tr h="441830"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GB" sz="1600" b="1" kern="1200">
                          <a:solidFill>
                            <a:srgbClr val="0C0C0C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BASELINE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GB" sz="1600" b="0" i="0" kern="1200">
                        <a:solidFill>
                          <a:schemeClr val="tx1"/>
                        </a:solidFill>
                        <a:effectLst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No Data</a:t>
                      </a:r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lang="en-US"/>
                    </a:p>
                  </a:txBody>
                  <a:tcPr marL="76200" marR="76200" marT="95250" marB="952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02209"/>
                  </a:ext>
                </a:extLst>
              </a:tr>
              <a:tr h="247425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endParaRPr kumimoji="0" lang="en-GB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 Display"/>
                        <a:ea typeface="+mn-ea"/>
                        <a:cs typeface="+mn-cs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No Data</a:t>
                      </a:r>
                      <a:endParaRPr kumimoji="0" lang="en-US"/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2586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1E0100-9773-CFF7-1FD4-AE6753318FC1}"/>
              </a:ext>
            </a:extLst>
          </p:cNvPr>
          <p:cNvSpPr txBox="1"/>
          <p:nvPr/>
        </p:nvSpPr>
        <p:spPr>
          <a:xfrm>
            <a:off x="283243" y="4178240"/>
            <a:ext cx="1155593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endParaRPr lang="en-GB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1 of 1 business units are meeting PM compliance target.</a:t>
            </a:r>
            <a:endParaRPr lang="en-US" sz="1600"/>
          </a:p>
          <a:p>
            <a:pPr marL="285750" lvl="1" indent="-285750">
              <a:buFont typeface="Arial"/>
              <a:buChar char="•"/>
            </a:pPr>
            <a:r>
              <a:rPr lang="en-GB" sz="1600"/>
              <a:t>0 of 1 business units are meeting facility uptime target.</a:t>
            </a:r>
            <a:endParaRPr lang="en-GB"/>
          </a:p>
          <a:p>
            <a:pPr marL="285750" indent="-285750">
              <a:buFont typeface="Arial,Sans-Serif"/>
              <a:buChar char="•"/>
            </a:pPr>
            <a:r>
              <a:rPr lang="en-GB" sz="1600"/>
              <a:t>AMD-EZ May 2026 acceptance fixture commentary.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US" sz="1600"/>
              <a:t>No additional KPI highlights were recorded for this period.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additional major wins were recorded for this period.</a:t>
            </a:r>
            <a:r>
              <a:rPr lang="en-GB" sz="1600" err="1"/>
              <a:t/>
            </a:r>
            <a:r>
              <a:rPr lang="en-GB" sz="1600"/>
              <a:t/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68F3-27F3-744B-1540-62EA36820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33197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