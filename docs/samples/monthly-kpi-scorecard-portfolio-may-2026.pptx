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147483000" r:id="rId10"/>
    <p:sldId id="214748300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30"/>
  </p:normalViewPr>
  <p:slideViewPr>
    <p:cSldViewPr snapToGrid="0">
      <p:cViewPr varScale="1">
        <p:scale>
          <a:sx n="95" d="100"/>
          <a:sy n="95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18AEC-2E91-194C-84C3-A7E53F402E8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E0DF2D-5C71-6D48-AB13-E369A011B0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174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05A9-0D43-D7F4-FB0A-BEF24E3A9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8FB538-9647-8571-6C2D-C71238175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795CA-BF6E-07DF-60D2-42CE4280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8AD73-96BF-9735-764F-7AC9E8C16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B8D92-8EF8-3F92-4CEA-CF9FFF5F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3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FD8E-F86F-344C-CC37-7CFDF767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00A0F-1E81-DB51-343F-2C1D203D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927F8-468D-78D9-06B6-C5327A81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3D6FB-F5F3-770A-3C2F-DC05EA1C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FCA4D-4158-A52F-C6B5-BB40B9CE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2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38BD-3C1B-B2E3-EF61-4EF226FE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902CB0-47DC-173E-E6EE-BDB6B5891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933812-2589-4108-7AF4-40391B25E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BD04-591E-9B4B-8C0D-D9453A2F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06657-6763-A068-3D48-6CC7EBF7D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5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7DA9-23D6-5C97-B554-9264602B6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9717-FC05-4ACB-AD45-5ADF1A643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7CBB2E-CFD8-9575-890F-BE3B8AECB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5AF31-282B-CC2C-2B23-D28AAC4C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0D5212-6C3F-5499-0E60-990468E2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A1AB3-5B04-5DED-741E-931C4146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939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F7395-CD83-44C1-A73E-22A1C32D9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D2CA1-CCF4-EA5B-5E3B-06B3715A21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940173-F84F-D172-6973-44A7BCFBA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1E70F6-6FAF-6220-3641-C27C6398C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55E0A4-B8E6-C25C-7924-B4A569D58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0CD5C-6ABF-57F0-6537-A74958462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5DC1A-F765-8DDB-9188-A0C22B26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06453-2551-3BE2-FE54-00031AEE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9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8232D-8586-C381-6D8A-F4A3B9207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6AA713-276D-8CBC-DA72-273FEF384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C28CB-96E2-152D-3312-004DF408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913D3-AF36-8D40-4D67-6033EF25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8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511A74-ACBD-DDAB-7346-E1A4730FF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4D594-5B40-20D0-8589-4CA25E04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7B713-CB0D-C584-A0BB-4E741B03C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F754-B12B-FA45-8496-90F3070D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83374-205B-CDD7-F65A-32FAE910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476DE-26C1-7E9C-6431-D0B76E519F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B4C8D8-0CB3-730A-444D-74C119BA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6468C7-DBE4-06DA-3913-6440F2C0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2FB83-590E-0F60-B1A6-373F47F3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1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2FEA-962E-B770-46DC-9B745D4A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FE68A8-5E60-33E8-6923-44AF5C33DD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561BC-B3F1-CEFE-55B7-F41CF27F4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94AEC-FDBE-3AE9-A7F3-05E7EDDC7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4B50A-404D-8864-C9D8-2CABD8140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92768-9F70-8AF0-9025-A1BC6655B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8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630B-A3ED-3F06-40BC-3FE1E9E9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46E20-F366-30F5-5263-C978189FF6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4D268-F14A-DEB8-3E2E-CC9692E02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38CD9-4AD8-A22E-BC85-2B0C965D8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35304-9B86-5A6D-28BB-7453BBD5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8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5A7CAA-7512-0D24-61A5-2ED075A81A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C2AE8-AEAC-B140-C1F2-F48EEA5BC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52C1A-F512-F3F0-C320-5DA8AC29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4E2C-1F39-75FD-AF96-1973FDCF9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38695-433B-9DE9-C848-3E56F049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4639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0E5B45-CD0C-061C-41C0-22D11504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627"/>
            <a:ext cx="10515600" cy="526798"/>
          </a:xfrm>
          <a:prstGeom prst="rect">
            <a:avLst/>
          </a:prstGeom>
        </p:spPr>
        <p:txBody>
          <a:bodyPr/>
          <a:lstStyle>
            <a:lvl1pPr>
              <a:defRPr lang="en-US" sz="3000" b="1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F701D1E2-8DE3-A499-494A-81699DC9AE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905425"/>
            <a:ext cx="10515599" cy="3929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595959"/>
                </a:solidFill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  <a:endParaRPr lang="en-PH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6CD71BD1-F316-79C2-C63D-1B9BD13241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766662"/>
            <a:ext cx="10515600" cy="145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1600" smtClean="0">
                <a:solidFill>
                  <a:srgbClr val="595959"/>
                </a:solidFill>
                <a:latin typeface="+mn-lt"/>
              </a:defRPr>
            </a:lvl1pPr>
            <a:lvl2pPr>
              <a:defRPr lang="en-US" sz="1600" smtClean="0">
                <a:solidFill>
                  <a:srgbClr val="595959"/>
                </a:solidFill>
                <a:latin typeface="+mn-lt"/>
              </a:defRPr>
            </a:lvl2pPr>
            <a:lvl3pPr>
              <a:defRPr lang="en-US" sz="1600" smtClean="0">
                <a:solidFill>
                  <a:srgbClr val="595959"/>
                </a:solidFill>
                <a:latin typeface="+mn-lt"/>
              </a:defRPr>
            </a:lvl3pPr>
            <a:lvl4pPr>
              <a:defRPr lang="en-US" sz="1600" smtClean="0">
                <a:solidFill>
                  <a:srgbClr val="595959"/>
                </a:solidFill>
                <a:latin typeface="+mn-lt"/>
              </a:defRPr>
            </a:lvl4pPr>
            <a:lvl5pPr>
              <a:defRPr lang="en-PH" sz="1600">
                <a:solidFill>
                  <a:srgbClr val="595959"/>
                </a:solidFill>
                <a:latin typeface="+mn-lt"/>
              </a:defRPr>
            </a:lvl5pPr>
          </a:lstStyle>
          <a:p>
            <a:pPr marL="0" lvl="0" algn="just"/>
            <a:r>
              <a:rPr lang="en-US"/>
              <a:t>Click to edit Master text styles</a:t>
            </a:r>
          </a:p>
          <a:p>
            <a:pPr marL="457200" lvl="1"/>
            <a:r>
              <a:rPr lang="en-US"/>
              <a:t>Second level</a:t>
            </a:r>
          </a:p>
          <a:p>
            <a:pPr marL="914400" lvl="2"/>
            <a:r>
              <a:rPr lang="en-US"/>
              <a:t>Third level</a:t>
            </a:r>
          </a:p>
          <a:p>
            <a:pPr marL="1371600" lvl="3"/>
            <a:r>
              <a:rPr lang="en-US"/>
              <a:t>Fourth level</a:t>
            </a:r>
          </a:p>
          <a:p>
            <a:pPr marL="1828800"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54106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FC612-74C9-9176-1BDC-C8D4F5967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75549-38B2-3191-0912-CAAF070F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6DE7D-27B2-DDA1-030E-705B1712F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5EAAFE-CC61-794B-B699-700AC055E6D2}" type="datetimeFigureOut">
              <a:rPr lang="en-US" smtClean="0"/>
              <a:t>7/14/26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EA58-A8CC-E952-349D-A287F5DFCB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31077-3E38-D366-0712-207913BB10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A28E43-8BEF-C24F-B7B6-5BEBD6678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54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7F1A-1226-7918-8368-365C6AF3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CDADE3-BAB7-D052-C582-9EFF25009655}"/>
              </a:ext>
            </a:extLst>
          </p:cNvPr>
          <p:cNvSpPr txBox="1"/>
          <p:nvPr/>
        </p:nvSpPr>
        <p:spPr>
          <a:xfrm>
            <a:off x="9224" y="75180"/>
            <a:ext cx="683532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All BUs KPI Scorecard – May 2026 (1/2)</a:t>
            </a: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63751899-7E82-A2E4-95ED-5588EB0A5AE0}"/>
              </a:ext>
            </a:extLst>
          </p:cNvPr>
          <p:cNvGraphicFramePr>
            <a:graphicFrameLocks noGrp="1"/>
          </p:cNvGraphicFramePr>
          <p:nvPr/>
        </p:nvGraphicFramePr>
        <p:xfrm>
          <a:off x="411480" y="766356"/>
          <a:ext cx="11384262" cy="3550686"/>
        </p:xfrm>
        <a:graphic>
          <a:graphicData uri="http://schemas.openxmlformats.org/drawingml/2006/table">
            <a:tbl>
              <a:tblPr/>
              <a:tblGrid>
                <a:gridCol w="19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35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7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9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Business Unit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PM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Compliance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Budget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Spend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(# of WO's)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(Cost)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MTTR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(days)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Facility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Uptime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AMD-EZ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96.00%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101.00%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88.00% (7.3:1)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64.00% (1.8:1)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3.20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99.98%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Laguna Water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109.00%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44.50%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89.00% (8.1:1)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No Data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1.22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99.95%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Clark Water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149.00%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88.00% (7.3:1)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31.00% (0.4:1)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0.61 days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93.80%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Tagum Water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54.00%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87.00%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75.00% (3.0:1)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58.00% (1.4:1)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No Data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Estate Water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16.50%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No Data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75.00% (3.0:1)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No Data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12.00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99.96%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997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1393924-6A44-A95B-E44A-9D8F44017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72703"/>
      </p:ext>
    </p:extLst>
  </p:cSld>
  <p:clrMapOvr>
    <a:masterClrMapping/>
  </p:clrMapOvr>
  <p:extLst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67F1A-1226-7918-8368-365C6AF35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CDADE3-BAB7-D052-C582-9EFF25009655}"/>
              </a:ext>
            </a:extLst>
          </p:cNvPr>
          <p:cNvSpPr txBox="1"/>
          <p:nvPr/>
        </p:nvSpPr>
        <p:spPr>
          <a:xfrm>
            <a:off x="9224" y="75180"/>
            <a:ext cx="6835329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n-US" sz="2800" b="1">
                <a:solidFill>
                  <a:srgbClr val="0070C0"/>
                </a:solidFill>
                <a:latin typeface="Calibri" panose="020F0502020204030204"/>
                <a:ea typeface="MS PGothic"/>
                <a:cs typeface="Arial"/>
              </a:rPr>
              <a:t>All BUs KPI Scorecard – May 2026 (2/2)</a:t>
            </a:r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63751899-7E82-A2E4-95ED-5588EB0A5AE0}"/>
              </a:ext>
            </a:extLst>
          </p:cNvPr>
          <p:cNvGraphicFramePr>
            <a:graphicFrameLocks noGrp="1"/>
          </p:cNvGraphicFramePr>
          <p:nvPr/>
        </p:nvGraphicFramePr>
        <p:xfrm>
          <a:off x="411480" y="766356"/>
          <a:ext cx="11384262" cy="3550686"/>
        </p:xfrm>
        <a:graphic>
          <a:graphicData uri="http://schemas.openxmlformats.org/drawingml/2006/table">
            <a:tbl>
              <a:tblPr/>
              <a:tblGrid>
                <a:gridCol w="1995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35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07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194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Business Unit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PM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Compliance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Budget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Spend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(# of WO's)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PM:CM Ratio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(Cost)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MTTR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pitchFamily="34" charset="-122"/>
                        <a:cs typeface="Aptos" pitchFamily="34" charset="-12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(days)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Facility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  <a:p>
                      <a:pPr marL="0" lvl="0" indent="0" algn="ctr">
                        <a:buNone/>
                      </a:pPr>
                      <a:r>
                        <a:rPr lang="en-US" sz="1600" b="1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>Uptime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6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LARC</a:t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98.00%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92.00% (11.5:1)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70.00% (2.3:1)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2.40 days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>100.00%</a:t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65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0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81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0C0C0C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charset="0"/>
                          <a:cs typeface="Aptos" charset="0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>
                          <a:solidFill>
                            <a:schemeClr val="tx1"/>
                          </a:solidFill>
                          <a:latin typeface="Aptos Display"/>
                          <a:ea typeface="Aptos" pitchFamily="34" charset="-122"/>
                          <a:cs typeface="Aptos" pitchFamily="34" charset="-120"/>
                        </a:rPr>
                        <a:t/>
                      </a:r>
                      <a:endParaRPr lang="en-US" sz="1600">
                        <a:solidFill>
                          <a:schemeClr val="tx1"/>
                        </a:solidFill>
                        <a:latin typeface="Aptos Display"/>
                        <a:ea typeface="Aptos" charset="0"/>
                        <a:cs typeface="Aptos" charset="0"/>
                      </a:endParaRP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997">
                <a:tc>
                  <a:txBody>
                    <a:bodyPr/>
                    <a:lstStyle/>
                    <a:p>
                      <a:pPr marL="0" indent="0" algn="ctr" rtl="0" fontAlgn="ctr" latinLnBrk="0">
                        <a:buNone/>
                      </a:pPr>
                      <a:r>
                        <a:rPr lang="en-GB" sz="1600">
                          <a:solidFill>
                            <a:schemeClr val="tx1"/>
                          </a:solidFill>
                          <a:effectLst/>
                          <a:latin typeface="Aptos Display"/>
                        </a:rPr>
                        <a:t>TARGET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95.00%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95%–105%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≥86% (6:1)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≥60% (1.5:1)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DOWNWARD</a:t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>=100%</a:t>
                      </a:r>
                      <a:r>
                        <a:rPr kumimoji="0" lang="en-GB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ptos Display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marL="36576" marR="36576" marT="27432" marB="2743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41393924-6A44-A95B-E44A-9D8F44017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6233815"/>
            <a:ext cx="7772400" cy="33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72703"/>
      </p:ext>
    </p:extLst>
  </p:cSld>
  <p:clrMapOvr>
    <a:masterClrMapping/>
  </p:clrMapOvr>
  <p:extLst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orecard template" id="{DA736920-3AB9-2C4D-8382-13E1D0162CFB}" vid="{A7DEB196-B8FF-D949-9525-5A339A986F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478</Words>
  <Application>Microsoft Macintosh PowerPoint</Application>
  <PresentationFormat>Widescreen</PresentationFormat>
  <Paragraphs>146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Arial,Sans-Serif</vt:lpstr>
      <vt:lpstr>Calibri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Gerald Balucan</dc:creator>
  <cp:lastModifiedBy>Gerald Balucan</cp:lastModifiedBy>
  <cp:revision>1</cp:revision>
  <dcterms:created xsi:type="dcterms:W3CDTF">2026-07-14T06:28:58Z</dcterms:created>
  <dcterms:modified xsi:type="dcterms:W3CDTF">2026-07-14T06:29:52Z</dcterms:modified>
</cp:coreProperties>
</file>